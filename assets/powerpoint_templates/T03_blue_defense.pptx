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5" userDrawn="1">
          <p15:clr>
            <a:srgbClr val="000000"/>
          </p15:clr>
        </p15:guide>
        <p15:guide id="2" pos="291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6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5"/>
        <p:guide pos="291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7" name="Google Shape;107;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7" name="Google Shape;157;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8" name="Google Shape;178;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1" name="Google Shape;231;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4" name="Shape 254"/>
        <p:cNvGrpSpPr/>
        <p:nvPr/>
      </p:nvGrpSpPr>
      <p:grpSpPr>
        <a:xfrm>
          <a:off x="0" y="0"/>
          <a:ext cx="0" cy="0"/>
          <a:chOff x="0" y="0"/>
          <a:chExt cx="0" cy="0"/>
        </a:xfrm>
      </p:grpSpPr>
      <p:sp>
        <p:nvSpPr>
          <p:cNvPr id="255" name="Google Shape;255;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6" name="Google Shape;256;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 name="Shape 297"/>
        <p:cNvGrpSpPr/>
        <p:nvPr/>
      </p:nvGrpSpPr>
      <p:grpSpPr>
        <a:xfrm>
          <a:off x="0" y="0"/>
          <a:ext cx="0" cy="0"/>
          <a:chOff x="0" y="0"/>
          <a:chExt cx="0" cy="0"/>
        </a:xfrm>
      </p:grpSpPr>
      <p:sp>
        <p:nvSpPr>
          <p:cNvPr id="298" name="Google Shape;298;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9" name="Google Shape;299;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2" name="Google Shape;312;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6" name="Shape 336"/>
        <p:cNvGrpSpPr/>
        <p:nvPr/>
      </p:nvGrpSpPr>
      <p:grpSpPr>
        <a:xfrm>
          <a:off x="0" y="0"/>
          <a:ext cx="0" cy="0"/>
          <a:chOff x="0" y="0"/>
          <a:chExt cx="0" cy="0"/>
        </a:xfrm>
      </p:grpSpPr>
      <p:sp>
        <p:nvSpPr>
          <p:cNvPr id="337" name="Google Shape;337;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8" name="Google Shape;338;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3" name="Shape 373"/>
        <p:cNvGrpSpPr/>
        <p:nvPr/>
      </p:nvGrpSpPr>
      <p:grpSpPr>
        <a:xfrm>
          <a:off x="0" y="0"/>
          <a:ext cx="0" cy="0"/>
          <a:chOff x="0" y="0"/>
          <a:chExt cx="0" cy="0"/>
        </a:xfrm>
      </p:grpSpPr>
      <p:sp>
        <p:nvSpPr>
          <p:cNvPr id="374" name="Google Shape;374;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5" name="Google Shape;375;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4.png"/><Relationship Id="rId3" Type="http://schemas.openxmlformats.org/officeDocument/2006/relationships/image" Target="../media/image3.png"/><Relationship Id="rId26" Type="http://schemas.openxmlformats.org/officeDocument/2006/relationships/notesSlide" Target="../notesSlides/notesSlide2.xml"/><Relationship Id="rId25" Type="http://schemas.openxmlformats.org/officeDocument/2006/relationships/slideLayout" Target="../slideLayouts/slideLayout1.xml"/><Relationship Id="rId24" Type="http://schemas.openxmlformats.org/officeDocument/2006/relationships/image" Target="../media/image12.png"/><Relationship Id="rId23" Type="http://schemas.openxmlformats.org/officeDocument/2006/relationships/tags" Target="../tags/tag15.xml"/><Relationship Id="rId22" Type="http://schemas.openxmlformats.org/officeDocument/2006/relationships/image" Target="../media/image11.png"/><Relationship Id="rId21" Type="http://schemas.openxmlformats.org/officeDocument/2006/relationships/tags" Target="../tags/tag14.xml"/><Relationship Id="rId20" Type="http://schemas.openxmlformats.org/officeDocument/2006/relationships/image" Target="../media/image10.png"/><Relationship Id="rId2" Type="http://schemas.openxmlformats.org/officeDocument/2006/relationships/image" Target="../media/image7.png"/><Relationship Id="rId19" Type="http://schemas.openxmlformats.org/officeDocument/2006/relationships/tags" Target="../tags/tag13.xml"/><Relationship Id="rId18" Type="http://schemas.openxmlformats.org/officeDocument/2006/relationships/image" Target="../media/image9.png"/><Relationship Id="rId17" Type="http://schemas.openxmlformats.org/officeDocument/2006/relationships/tags" Target="../tags/tag12.xml"/><Relationship Id="rId16" Type="http://schemas.openxmlformats.org/officeDocument/2006/relationships/image" Target="../media/image8.png"/><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image" Target="../media/image1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4.png"/><Relationship Id="rId12" Type="http://schemas.openxmlformats.org/officeDocument/2006/relationships/notesSlide" Target="../notesSlides/notesSlide3.xml"/><Relationship Id="rId11" Type="http://schemas.openxmlformats.org/officeDocument/2006/relationships/slideLayout" Target="../slideLayouts/slideLayout1.xml"/><Relationship Id="rId10" Type="http://schemas.openxmlformats.org/officeDocument/2006/relationships/tags" Target="../tags/tag20.xml"/><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image" Target="../media/image18.png"/><Relationship Id="rId5" Type="http://schemas.openxmlformats.org/officeDocument/2006/relationships/tags" Target="../tags/tag2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7.png"/><Relationship Id="rId13" Type="http://schemas.openxmlformats.org/officeDocument/2006/relationships/notesSlide" Target="../notesSlides/notesSlide4.xml"/><Relationship Id="rId12" Type="http://schemas.openxmlformats.org/officeDocument/2006/relationships/slideLayout" Target="../slideLayouts/slideLayout1.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2" Type="http://schemas.openxmlformats.org/officeDocument/2006/relationships/notesSlide" Target="../notesSlides/notesSlide5.xml"/><Relationship Id="rId11" Type="http://schemas.openxmlformats.org/officeDocument/2006/relationships/slideLayout" Target="../slideLayouts/slideLayout1.xml"/><Relationship Id="rId10" Type="http://schemas.openxmlformats.org/officeDocument/2006/relationships/tags" Target="../tags/tag26.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tags" Target="../tags/tag2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7.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tags" Target="../tags/tag31.xml"/><Relationship Id="rId7" Type="http://schemas.openxmlformats.org/officeDocument/2006/relationships/image" Target="../media/image32.png"/><Relationship Id="rId6" Type="http://schemas.openxmlformats.org/officeDocument/2006/relationships/tags" Target="../tags/tag30.xml"/><Relationship Id="rId53" Type="http://schemas.openxmlformats.org/officeDocument/2006/relationships/notesSlide" Target="../notesSlides/notesSlide7.xml"/><Relationship Id="rId52" Type="http://schemas.openxmlformats.org/officeDocument/2006/relationships/slideLayout" Target="../slideLayouts/slideLayout1.xml"/><Relationship Id="rId51" Type="http://schemas.openxmlformats.org/officeDocument/2006/relationships/image" Target="../media/image47.png"/><Relationship Id="rId50" Type="http://schemas.openxmlformats.org/officeDocument/2006/relationships/image" Target="../media/image46.png"/><Relationship Id="rId5" Type="http://schemas.openxmlformats.org/officeDocument/2006/relationships/image" Target="../media/image31.png"/><Relationship Id="rId49" Type="http://schemas.openxmlformats.org/officeDocument/2006/relationships/image" Target="../media/image45.png"/><Relationship Id="rId48" Type="http://schemas.openxmlformats.org/officeDocument/2006/relationships/image" Target="../media/image44.png"/><Relationship Id="rId47" Type="http://schemas.openxmlformats.org/officeDocument/2006/relationships/image" Target="../media/image43.png"/><Relationship Id="rId46" Type="http://schemas.openxmlformats.org/officeDocument/2006/relationships/tags" Target="../tags/tag57.xml"/><Relationship Id="rId45" Type="http://schemas.openxmlformats.org/officeDocument/2006/relationships/tags" Target="../tags/tag56.xml"/><Relationship Id="rId44" Type="http://schemas.openxmlformats.org/officeDocument/2006/relationships/tags" Target="../tags/tag55.xml"/><Relationship Id="rId43" Type="http://schemas.openxmlformats.org/officeDocument/2006/relationships/tags" Target="../tags/tag54.xml"/><Relationship Id="rId42" Type="http://schemas.openxmlformats.org/officeDocument/2006/relationships/image" Target="../media/image42.png"/><Relationship Id="rId41" Type="http://schemas.openxmlformats.org/officeDocument/2006/relationships/tags" Target="../tags/tag53.xml"/><Relationship Id="rId40" Type="http://schemas.openxmlformats.org/officeDocument/2006/relationships/tags" Target="../tags/tag52.xml"/><Relationship Id="rId4" Type="http://schemas.openxmlformats.org/officeDocument/2006/relationships/tags" Target="../tags/tag29.xml"/><Relationship Id="rId39" Type="http://schemas.openxmlformats.org/officeDocument/2006/relationships/tags" Target="../tags/tag51.xml"/><Relationship Id="rId38" Type="http://schemas.openxmlformats.org/officeDocument/2006/relationships/tags" Target="../tags/tag50.xml"/><Relationship Id="rId37" Type="http://schemas.openxmlformats.org/officeDocument/2006/relationships/image" Target="../media/image41.png"/><Relationship Id="rId36" Type="http://schemas.openxmlformats.org/officeDocument/2006/relationships/tags" Target="../tags/tag49.xml"/><Relationship Id="rId35" Type="http://schemas.openxmlformats.org/officeDocument/2006/relationships/image" Target="../media/image40.png"/><Relationship Id="rId34" Type="http://schemas.openxmlformats.org/officeDocument/2006/relationships/tags" Target="../tags/tag48.xml"/><Relationship Id="rId33" Type="http://schemas.openxmlformats.org/officeDocument/2006/relationships/tags" Target="../tags/tag47.xml"/><Relationship Id="rId32" Type="http://schemas.openxmlformats.org/officeDocument/2006/relationships/tags" Target="../tags/tag46.xml"/><Relationship Id="rId31" Type="http://schemas.openxmlformats.org/officeDocument/2006/relationships/image" Target="../media/image39.png"/><Relationship Id="rId30" Type="http://schemas.openxmlformats.org/officeDocument/2006/relationships/tags" Target="../tags/tag45.xml"/><Relationship Id="rId3" Type="http://schemas.openxmlformats.org/officeDocument/2006/relationships/image" Target="../media/image30.png"/><Relationship Id="rId29" Type="http://schemas.openxmlformats.org/officeDocument/2006/relationships/tags" Target="../tags/tag44.xml"/><Relationship Id="rId28" Type="http://schemas.openxmlformats.org/officeDocument/2006/relationships/tags" Target="../tags/tag43.xml"/><Relationship Id="rId27" Type="http://schemas.openxmlformats.org/officeDocument/2006/relationships/image" Target="../media/image38.png"/><Relationship Id="rId26" Type="http://schemas.openxmlformats.org/officeDocument/2006/relationships/tags" Target="../tags/tag42.xml"/><Relationship Id="rId25" Type="http://schemas.openxmlformats.org/officeDocument/2006/relationships/tags" Target="../tags/tag41.xml"/><Relationship Id="rId24" Type="http://schemas.openxmlformats.org/officeDocument/2006/relationships/tags" Target="../tags/tag40.xml"/><Relationship Id="rId23" Type="http://schemas.openxmlformats.org/officeDocument/2006/relationships/image" Target="../media/image37.png"/><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28.xml"/><Relationship Id="rId19" Type="http://schemas.openxmlformats.org/officeDocument/2006/relationships/image" Target="../media/image36.png"/><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image" Target="../media/image35.png"/><Relationship Id="rId14" Type="http://schemas.openxmlformats.org/officeDocument/2006/relationships/tags" Target="../tags/tag33.xml"/><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image" Target="../media/image34.png"/><Relationship Id="rId10" Type="http://schemas.openxmlformats.org/officeDocument/2006/relationships/tags" Target="../tags/tag32.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image" Target="../media/image50.png"/><Relationship Id="rId5" Type="http://schemas.openxmlformats.org/officeDocument/2006/relationships/tags" Target="../tags/tag60.xml"/><Relationship Id="rId4" Type="http://schemas.openxmlformats.org/officeDocument/2006/relationships/image" Target="../media/image49.png"/><Relationship Id="rId3" Type="http://schemas.openxmlformats.org/officeDocument/2006/relationships/image" Target="../media/image4.png"/><Relationship Id="rId20" Type="http://schemas.openxmlformats.org/officeDocument/2006/relationships/notesSlide" Target="../notesSlides/notesSlide9.xml"/><Relationship Id="rId2" Type="http://schemas.openxmlformats.org/officeDocument/2006/relationships/image" Target="../media/image3.png"/><Relationship Id="rId19" Type="http://schemas.openxmlformats.org/officeDocument/2006/relationships/slideLayout" Target="../slideLayouts/slideLayout1.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image" Target="../media/image54.png"/><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image" Target="../media/image53.png"/><Relationship Id="rId12" Type="http://schemas.openxmlformats.org/officeDocument/2006/relationships/tags" Target="../tags/tag64.xml"/><Relationship Id="rId11" Type="http://schemas.openxmlformats.org/officeDocument/2006/relationships/image" Target="../media/image52.png"/><Relationship Id="rId10" Type="http://schemas.openxmlformats.org/officeDocument/2006/relationships/tags" Target="../tags/tag63.xml"/><Relationship Id="rId1" Type="http://schemas.openxmlformats.org/officeDocument/2006/relationships/image" Target="../media/image48.png"/></Relationships>
</file>

<file path=ppt/slides/_rels/slide10.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image" Target="../media/image60.png"/><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57.png"/><Relationship Id="rId2" Type="http://schemas.openxmlformats.org/officeDocument/2006/relationships/image" Target="../media/image56.png"/><Relationship Id="rId14" Type="http://schemas.openxmlformats.org/officeDocument/2006/relationships/notesSlide" Target="../notesSlides/notesSlide10.xml"/><Relationship Id="rId13" Type="http://schemas.openxmlformats.org/officeDocument/2006/relationships/slideLayout" Target="../slideLayouts/slideLayout1.xml"/><Relationship Id="rId12" Type="http://schemas.openxmlformats.org/officeDocument/2006/relationships/tags" Target="../tags/tag69.xml"/><Relationship Id="rId11" Type="http://schemas.openxmlformats.org/officeDocument/2006/relationships/image" Target="../media/image63.png"/><Relationship Id="rId10" Type="http://schemas.openxmlformats.org/officeDocument/2006/relationships/image" Target="../media/image62.png"/><Relationship Id="rId1" Type="http://schemas.openxmlformats.org/officeDocument/2006/relationships/image" Target="../media/image55.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2"/>
          <a:srcRect/>
          <a:stretch>
            <a:fillRect/>
          </a:stretch>
        </p:blipFill>
        <p:spPr>
          <a:xfrm>
            <a:off x="2276475" y="3564135"/>
            <a:ext cx="7639050" cy="2114550"/>
          </a:xfrm>
          <a:prstGeom prst="rect">
            <a:avLst/>
          </a:prstGeom>
          <a:noFill/>
          <a:ln>
            <a:noFill/>
          </a:ln>
        </p:spPr>
      </p:pic>
      <p:pic>
        <p:nvPicPr>
          <p:cNvPr id="86" name="Google Shape;86;p13" descr="image.png"/>
          <p:cNvPicPr preferRelativeResize="0"/>
          <p:nvPr/>
        </p:nvPicPr>
        <p:blipFill rotWithShape="1">
          <a:blip r:embed="rId3"/>
          <a:srcRect/>
          <a:stretch>
            <a:fillRect/>
          </a:stretch>
        </p:blipFill>
        <p:spPr>
          <a:xfrm>
            <a:off x="10287000" y="190500"/>
            <a:ext cx="1524000" cy="428625"/>
          </a:xfrm>
          <a:prstGeom prst="rect">
            <a:avLst/>
          </a:prstGeom>
          <a:noFill/>
          <a:ln>
            <a:noFill/>
          </a:ln>
        </p:spPr>
      </p:pic>
      <p:sp>
        <p:nvSpPr>
          <p:cNvPr id="87" name="Google Shape;87;p13"/>
          <p:cNvSpPr txBox="1"/>
          <p:nvPr/>
        </p:nvSpPr>
        <p:spPr>
          <a:xfrm>
            <a:off x="1872108" y="1179165"/>
            <a:ext cx="8870171" cy="784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5100" b="0"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a:rPr>
              <a:t>开题答辩/毕业答辩通用模版</a:t>
            </a:r>
            <a:endParaRPr lang="en-US" sz="5100" b="0"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a:endParaRPr>
          </a:p>
        </p:txBody>
      </p:sp>
      <p:sp>
        <p:nvSpPr>
          <p:cNvPr id="88" name="Google Shape;88;p13"/>
          <p:cNvSpPr txBox="1"/>
          <p:nvPr/>
        </p:nvSpPr>
        <p:spPr>
          <a:xfrm>
            <a:off x="1219200" y="2284065"/>
            <a:ext cx="9753600" cy="37519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rPr>
              <a:t>Thesis Proposal / Defense Presentation Template</a:t>
            </a:r>
            <a:endParaRPr lang="en-US" sz="180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89" name="Google Shape;89;p13"/>
          <p:cNvSpPr/>
          <p:nvPr/>
        </p:nvSpPr>
        <p:spPr>
          <a:xfrm>
            <a:off x="1219200" y="2887860"/>
            <a:ext cx="975360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pic>
        <p:nvPicPr>
          <p:cNvPr id="90" name="Google Shape;90;p13" descr="image.png"/>
          <p:cNvPicPr preferRelativeResize="0"/>
          <p:nvPr/>
        </p:nvPicPr>
        <p:blipFill rotWithShape="1">
          <a:blip r:embed="rId4"/>
          <a:srcRect/>
          <a:stretch>
            <a:fillRect/>
          </a:stretch>
        </p:blipFill>
        <p:spPr>
          <a:xfrm>
            <a:off x="10555932" y="319087"/>
            <a:ext cx="171450" cy="171450"/>
          </a:xfrm>
          <a:prstGeom prst="rect">
            <a:avLst/>
          </a:prstGeom>
          <a:noFill/>
          <a:ln>
            <a:noFill/>
          </a:ln>
        </p:spPr>
      </p:pic>
      <p:pic>
        <p:nvPicPr>
          <p:cNvPr id="91" name="Google Shape;91;p13" descr="image.png"/>
          <p:cNvPicPr preferRelativeResize="0"/>
          <p:nvPr/>
        </p:nvPicPr>
        <p:blipFill rotWithShape="1">
          <a:blip r:embed="rId5"/>
          <a:srcRect/>
          <a:stretch>
            <a:fillRect/>
          </a:stretch>
        </p:blipFill>
        <p:spPr>
          <a:xfrm>
            <a:off x="476250" y="423862"/>
            <a:ext cx="314325" cy="247650"/>
          </a:xfrm>
          <a:prstGeom prst="rect">
            <a:avLst/>
          </a:prstGeom>
          <a:noFill/>
          <a:ln>
            <a:noFill/>
          </a:ln>
        </p:spPr>
      </p:pic>
      <p:sp>
        <p:nvSpPr>
          <p:cNvPr id="92" name="Google Shape;92;p13"/>
          <p:cNvSpPr txBox="1"/>
          <p:nvPr/>
        </p:nvSpPr>
        <p:spPr>
          <a:xfrm>
            <a:off x="933450" y="381000"/>
            <a:ext cx="3630930"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New Roman" panose="02020603050405020304"/>
              </a:rPr>
              <a:t>XX大学 / XX University</a:t>
            </a:r>
            <a:endParaRPr lang="en-US" sz="1950" b="1"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93" name="Google Shape;93;p13"/>
          <p:cNvSpPr txBox="1"/>
          <p:nvPr/>
        </p:nvSpPr>
        <p:spPr>
          <a:xfrm>
            <a:off x="2857500" y="3954660"/>
            <a:ext cx="1143000" cy="2857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rPr>
              <a:t>指导教师:</a:t>
            </a:r>
            <a:endPar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94" name="Google Shape;94;p13"/>
          <p:cNvSpPr txBox="1"/>
          <p:nvPr/>
        </p:nvSpPr>
        <p:spPr>
          <a:xfrm>
            <a:off x="4143375" y="3954780"/>
            <a:ext cx="1229995"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XXX 教授</a:t>
            </a:r>
            <a:endPar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95" name="Google Shape;95;p13"/>
          <p:cNvSpPr txBox="1"/>
          <p:nvPr/>
        </p:nvSpPr>
        <p:spPr>
          <a:xfrm>
            <a:off x="6581775" y="3954660"/>
            <a:ext cx="1143000" cy="2857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rPr>
              <a:t>课题小组:</a:t>
            </a:r>
            <a:endPar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96" name="Google Shape;96;p13"/>
          <p:cNvSpPr txBox="1"/>
          <p:nvPr/>
        </p:nvSpPr>
        <p:spPr>
          <a:xfrm>
            <a:off x="7867650" y="3954780"/>
            <a:ext cx="1835150"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a:sym typeface="Times New Roman" panose="02020603050405020304"/>
              </a:rPr>
              <a:t>生物医学工程组</a:t>
            </a:r>
            <a:endPar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97" name="Google Shape;97;p13"/>
          <p:cNvSpPr txBox="1"/>
          <p:nvPr/>
        </p:nvSpPr>
        <p:spPr>
          <a:xfrm>
            <a:off x="2857500" y="4478535"/>
            <a:ext cx="1143000" cy="2857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rPr>
              <a:t>专业:</a:t>
            </a:r>
            <a:endPar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98" name="Google Shape;98;p13"/>
          <p:cNvSpPr txBox="1"/>
          <p:nvPr/>
        </p:nvSpPr>
        <p:spPr>
          <a:xfrm>
            <a:off x="4143375" y="4478655"/>
            <a:ext cx="1416685"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a:sym typeface="Times New Roman" panose="02020603050405020304"/>
              </a:rPr>
              <a:t>细胞生物学</a:t>
            </a:r>
            <a:endPar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99" name="Google Shape;99;p13"/>
          <p:cNvSpPr txBox="1"/>
          <p:nvPr/>
        </p:nvSpPr>
        <p:spPr>
          <a:xfrm>
            <a:off x="6581775" y="4478535"/>
            <a:ext cx="1143000" cy="2857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rPr>
              <a:t>答辩人:</a:t>
            </a:r>
            <a:endPar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00" name="Google Shape;100;p13"/>
          <p:cNvSpPr txBox="1"/>
          <p:nvPr/>
        </p:nvSpPr>
        <p:spPr>
          <a:xfrm>
            <a:off x="7867650" y="4478535"/>
            <a:ext cx="454074"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XXX</a:t>
            </a:r>
            <a:endPar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01" name="Google Shape;101;p13"/>
          <p:cNvSpPr txBox="1"/>
          <p:nvPr/>
        </p:nvSpPr>
        <p:spPr>
          <a:xfrm>
            <a:off x="2857500" y="5002410"/>
            <a:ext cx="1143000" cy="2857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rPr>
              <a:t>研究方向:</a:t>
            </a:r>
            <a:endPar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02" name="Google Shape;102;p13"/>
          <p:cNvSpPr txBox="1"/>
          <p:nvPr/>
        </p:nvSpPr>
        <p:spPr>
          <a:xfrm>
            <a:off x="4143375" y="5002530"/>
            <a:ext cx="2279650"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a:sym typeface="Times New Roman" panose="02020603050405020304"/>
              </a:rPr>
              <a:t>靶向药物治疗研究</a:t>
            </a:r>
            <a:endPar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03" name="Google Shape;103;p13"/>
          <p:cNvSpPr txBox="1"/>
          <p:nvPr/>
        </p:nvSpPr>
        <p:spPr>
          <a:xfrm>
            <a:off x="6581775" y="5002410"/>
            <a:ext cx="1143000" cy="2857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rPr>
              <a:t>答辩日期:</a:t>
            </a:r>
            <a:endParaRPr lang="en-US" sz="1650" b="0" i="0" u="none" strike="noStrike" cap="none">
              <a:solidFill>
                <a:srgbClr val="718096"/>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04" name="Google Shape;104;p13"/>
          <p:cNvSpPr txBox="1"/>
          <p:nvPr/>
        </p:nvSpPr>
        <p:spPr>
          <a:xfrm>
            <a:off x="7867650" y="5002530"/>
            <a:ext cx="1059180"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2026.X.X</a:t>
            </a:r>
            <a:endParaRPr lang="en-US" sz="165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08" name="Shape 108"/>
        <p:cNvGrpSpPr/>
        <p:nvPr/>
      </p:nvGrpSpPr>
      <p:grpSpPr>
        <a:xfrm>
          <a:off x="0" y="0"/>
          <a:ext cx="0" cy="0"/>
          <a:chOff x="0" y="0"/>
          <a:chExt cx="0" cy="0"/>
        </a:xfrm>
      </p:grpSpPr>
      <p:pic>
        <p:nvPicPr>
          <p:cNvPr id="109" name="Google Shape;109;p14" descr="image.png"/>
          <p:cNvPicPr preferRelativeResize="0"/>
          <p:nvPr/>
        </p:nvPicPr>
        <p:blipFill rotWithShape="1">
          <a:blip r:embed="rId1"/>
          <a:srcRect/>
          <a:stretch>
            <a:fillRect/>
          </a:stretch>
        </p:blipFill>
        <p:spPr>
          <a:xfrm>
            <a:off x="0" y="0"/>
            <a:ext cx="4267200" cy="6858000"/>
          </a:xfrm>
          <a:prstGeom prst="rect">
            <a:avLst/>
          </a:prstGeom>
          <a:noFill/>
          <a:ln>
            <a:noFill/>
          </a:ln>
        </p:spPr>
      </p:pic>
      <p:pic>
        <p:nvPicPr>
          <p:cNvPr id="110" name="Google Shape;110;p14" descr="image.png"/>
          <p:cNvPicPr preferRelativeResize="0"/>
          <p:nvPr/>
        </p:nvPicPr>
        <p:blipFill rotWithShape="1">
          <a:blip r:embed="rId2"/>
          <a:srcRect/>
          <a:stretch>
            <a:fillRect/>
          </a:stretch>
        </p:blipFill>
        <p:spPr>
          <a:xfrm>
            <a:off x="4267200" y="0"/>
            <a:ext cx="7924800" cy="6858000"/>
          </a:xfrm>
          <a:prstGeom prst="rect">
            <a:avLst/>
          </a:prstGeom>
          <a:noFill/>
          <a:ln>
            <a:noFill/>
          </a:ln>
        </p:spPr>
      </p:pic>
      <p:pic>
        <p:nvPicPr>
          <p:cNvPr id="111" name="Google Shape;111;p14" descr="image.png"/>
          <p:cNvPicPr preferRelativeResize="0"/>
          <p:nvPr/>
        </p:nvPicPr>
        <p:blipFill rotWithShape="1">
          <a:blip r:embed="rId3"/>
          <a:srcRect/>
          <a:stretch>
            <a:fillRect/>
          </a:stretch>
        </p:blipFill>
        <p:spPr>
          <a:xfrm>
            <a:off x="10287000" y="190500"/>
            <a:ext cx="1524000" cy="428625"/>
          </a:xfrm>
          <a:prstGeom prst="rect">
            <a:avLst/>
          </a:prstGeom>
          <a:noFill/>
          <a:ln>
            <a:noFill/>
          </a:ln>
        </p:spPr>
      </p:pic>
      <p:pic>
        <p:nvPicPr>
          <p:cNvPr id="112" name="Google Shape;112;p14" descr="image.png"/>
          <p:cNvPicPr preferRelativeResize="0"/>
          <p:nvPr/>
        </p:nvPicPr>
        <p:blipFill rotWithShape="1">
          <a:blip r:embed="rId4"/>
          <a:srcRect/>
          <a:stretch>
            <a:fillRect/>
          </a:stretch>
        </p:blipFill>
        <p:spPr>
          <a:xfrm>
            <a:off x="10555932" y="319087"/>
            <a:ext cx="171450" cy="171450"/>
          </a:xfrm>
          <a:prstGeom prst="rect">
            <a:avLst/>
          </a:prstGeom>
          <a:noFill/>
          <a:ln>
            <a:noFill/>
          </a:ln>
        </p:spPr>
      </p:pic>
      <p:sp>
        <p:nvSpPr>
          <p:cNvPr id="113" name="Google Shape;113;p14"/>
          <p:cNvSpPr txBox="1"/>
          <p:nvPr/>
        </p:nvSpPr>
        <p:spPr>
          <a:xfrm>
            <a:off x="1257300" y="2933700"/>
            <a:ext cx="1760220" cy="8305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5400" b="1" i="0" u="none" strike="noStrike" cap="none">
                <a:solidFill>
                  <a:srgbClr val="FFFFFF"/>
                </a:solidFill>
                <a:latin typeface="Times New Roman" panose="02020603050405020304" charset="0"/>
                <a:ea typeface="微软雅黑" panose="020B0503020204020204" charset="-122"/>
                <a:cs typeface="Times New Roman" panose="02020603050405020304"/>
                <a:sym typeface="Times New Roman" panose="02020603050405020304"/>
              </a:rPr>
              <a:t>目录</a:t>
            </a:r>
            <a:endParaRPr lang="en-US" sz="5400" b="1" i="0" u="none" strike="noStrike" cap="none">
              <a:solidFill>
                <a:srgbClr val="FFFFFF"/>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14" name="Google Shape;114;p14"/>
          <p:cNvSpPr txBox="1"/>
          <p:nvPr>
            <p:custDataLst>
              <p:tags r:id="rId5"/>
            </p:custDataLst>
          </p:nvPr>
        </p:nvSpPr>
        <p:spPr>
          <a:xfrm>
            <a:off x="5219700" y="1001395"/>
            <a:ext cx="6019800" cy="36893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研究背景及现状</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15" name="Google Shape;115;p14"/>
          <p:cNvSpPr/>
          <p:nvPr>
            <p:custDataLst>
              <p:tags r:id="rId6"/>
            </p:custDataLst>
          </p:nvPr>
        </p:nvSpPr>
        <p:spPr>
          <a:xfrm>
            <a:off x="5219700" y="1600200"/>
            <a:ext cx="601980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116" name="Google Shape;116;p14"/>
          <p:cNvSpPr txBox="1"/>
          <p:nvPr>
            <p:custDataLst>
              <p:tags r:id="rId7"/>
            </p:custDataLst>
          </p:nvPr>
        </p:nvSpPr>
        <p:spPr>
          <a:xfrm>
            <a:off x="5219700" y="2087245"/>
            <a:ext cx="6019800" cy="36893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研究目标和内容</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17" name="Google Shape;117;p14"/>
          <p:cNvSpPr/>
          <p:nvPr>
            <p:custDataLst>
              <p:tags r:id="rId8"/>
            </p:custDataLst>
          </p:nvPr>
        </p:nvSpPr>
        <p:spPr>
          <a:xfrm>
            <a:off x="5219700" y="2686050"/>
            <a:ext cx="601980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118" name="Google Shape;118;p14"/>
          <p:cNvSpPr txBox="1"/>
          <p:nvPr>
            <p:custDataLst>
              <p:tags r:id="rId9"/>
            </p:custDataLst>
          </p:nvPr>
        </p:nvSpPr>
        <p:spPr>
          <a:xfrm>
            <a:off x="5219700" y="3173095"/>
            <a:ext cx="6019800" cy="36893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研究方法与思路</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19" name="Google Shape;119;p14"/>
          <p:cNvSpPr/>
          <p:nvPr>
            <p:custDataLst>
              <p:tags r:id="rId10"/>
            </p:custDataLst>
          </p:nvPr>
        </p:nvSpPr>
        <p:spPr>
          <a:xfrm>
            <a:off x="5219700" y="3771900"/>
            <a:ext cx="601980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120" name="Google Shape;120;p14"/>
          <p:cNvSpPr txBox="1"/>
          <p:nvPr>
            <p:custDataLst>
              <p:tags r:id="rId11"/>
            </p:custDataLst>
          </p:nvPr>
        </p:nvSpPr>
        <p:spPr>
          <a:xfrm>
            <a:off x="5219700" y="4258945"/>
            <a:ext cx="6019800" cy="36893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已开展工作与分析</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21" name="Google Shape;121;p14"/>
          <p:cNvSpPr/>
          <p:nvPr>
            <p:custDataLst>
              <p:tags r:id="rId12"/>
            </p:custDataLst>
          </p:nvPr>
        </p:nvSpPr>
        <p:spPr>
          <a:xfrm>
            <a:off x="5219700" y="4857750"/>
            <a:ext cx="601980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122" name="Google Shape;122;p14"/>
          <p:cNvSpPr txBox="1"/>
          <p:nvPr>
            <p:custDataLst>
              <p:tags r:id="rId13"/>
            </p:custDataLst>
          </p:nvPr>
        </p:nvSpPr>
        <p:spPr>
          <a:xfrm>
            <a:off x="5219700" y="5344795"/>
            <a:ext cx="6019800" cy="36893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预期成果与总结</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23" name="Google Shape;123;p14"/>
          <p:cNvSpPr/>
          <p:nvPr>
            <p:custDataLst>
              <p:tags r:id="rId14"/>
            </p:custDataLst>
          </p:nvPr>
        </p:nvSpPr>
        <p:spPr>
          <a:xfrm>
            <a:off x="5219700" y="5943600"/>
            <a:ext cx="601980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pic>
        <p:nvPicPr>
          <p:cNvPr id="124" name="Google Shape;124;p14" descr="image.png"/>
          <p:cNvPicPr preferRelativeResize="0"/>
          <p:nvPr>
            <p:custDataLst>
              <p:tags r:id="rId15"/>
            </p:custDataLst>
          </p:nvPr>
        </p:nvPicPr>
        <p:blipFill rotWithShape="1">
          <a:blip r:embed="rId16"/>
          <a:srcRect/>
          <a:stretch>
            <a:fillRect/>
          </a:stretch>
        </p:blipFill>
        <p:spPr>
          <a:xfrm>
            <a:off x="5219700" y="904875"/>
            <a:ext cx="685800" cy="552450"/>
          </a:xfrm>
          <a:prstGeom prst="rect">
            <a:avLst/>
          </a:prstGeom>
          <a:noFill/>
          <a:ln>
            <a:noFill/>
          </a:ln>
        </p:spPr>
      </p:pic>
      <p:pic>
        <p:nvPicPr>
          <p:cNvPr id="125" name="Google Shape;125;p14" descr="image.png"/>
          <p:cNvPicPr preferRelativeResize="0"/>
          <p:nvPr>
            <p:custDataLst>
              <p:tags r:id="rId17"/>
            </p:custDataLst>
          </p:nvPr>
        </p:nvPicPr>
        <p:blipFill rotWithShape="1">
          <a:blip r:embed="rId18"/>
          <a:srcRect/>
          <a:stretch>
            <a:fillRect/>
          </a:stretch>
        </p:blipFill>
        <p:spPr>
          <a:xfrm>
            <a:off x="5219700" y="1990725"/>
            <a:ext cx="685800" cy="552450"/>
          </a:xfrm>
          <a:prstGeom prst="rect">
            <a:avLst/>
          </a:prstGeom>
          <a:noFill/>
          <a:ln>
            <a:noFill/>
          </a:ln>
        </p:spPr>
      </p:pic>
      <p:pic>
        <p:nvPicPr>
          <p:cNvPr id="126" name="Google Shape;126;p14" descr="image.png"/>
          <p:cNvPicPr preferRelativeResize="0"/>
          <p:nvPr>
            <p:custDataLst>
              <p:tags r:id="rId19"/>
            </p:custDataLst>
          </p:nvPr>
        </p:nvPicPr>
        <p:blipFill rotWithShape="1">
          <a:blip r:embed="rId20"/>
          <a:srcRect/>
          <a:stretch>
            <a:fillRect/>
          </a:stretch>
        </p:blipFill>
        <p:spPr>
          <a:xfrm>
            <a:off x="5219700" y="3076575"/>
            <a:ext cx="685800" cy="552450"/>
          </a:xfrm>
          <a:prstGeom prst="rect">
            <a:avLst/>
          </a:prstGeom>
          <a:noFill/>
          <a:ln>
            <a:noFill/>
          </a:ln>
        </p:spPr>
      </p:pic>
      <p:pic>
        <p:nvPicPr>
          <p:cNvPr id="127" name="Google Shape;127;p14" descr="image.png"/>
          <p:cNvPicPr preferRelativeResize="0"/>
          <p:nvPr>
            <p:custDataLst>
              <p:tags r:id="rId21"/>
            </p:custDataLst>
          </p:nvPr>
        </p:nvPicPr>
        <p:blipFill rotWithShape="1">
          <a:blip r:embed="rId22"/>
          <a:srcRect/>
          <a:stretch>
            <a:fillRect/>
          </a:stretch>
        </p:blipFill>
        <p:spPr>
          <a:xfrm>
            <a:off x="5219700" y="4162425"/>
            <a:ext cx="685800" cy="552450"/>
          </a:xfrm>
          <a:prstGeom prst="rect">
            <a:avLst/>
          </a:prstGeom>
          <a:noFill/>
          <a:ln>
            <a:noFill/>
          </a:ln>
        </p:spPr>
      </p:pic>
      <p:pic>
        <p:nvPicPr>
          <p:cNvPr id="128" name="Google Shape;128;p14" descr="image.png"/>
          <p:cNvPicPr preferRelativeResize="0"/>
          <p:nvPr>
            <p:custDataLst>
              <p:tags r:id="rId23"/>
            </p:custDataLst>
          </p:nvPr>
        </p:nvPicPr>
        <p:blipFill rotWithShape="1">
          <a:blip r:embed="rId24"/>
          <a:srcRect/>
          <a:stretch>
            <a:fillRect/>
          </a:stretch>
        </p:blipFill>
        <p:spPr>
          <a:xfrm>
            <a:off x="5219700" y="5248275"/>
            <a:ext cx="685800" cy="552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32" name="Shape 132"/>
        <p:cNvGrpSpPr/>
        <p:nvPr/>
      </p:nvGrpSpPr>
      <p:grpSpPr>
        <a:xfrm>
          <a:off x="0" y="0"/>
          <a:ext cx="0" cy="0"/>
          <a:chOff x="0" y="0"/>
          <a:chExt cx="0" cy="0"/>
        </a:xfrm>
      </p:grpSpPr>
      <p:pic>
        <p:nvPicPr>
          <p:cNvPr id="133" name="Google Shape;133;p15" descr="image.png"/>
          <p:cNvPicPr preferRelativeResize="0"/>
          <p:nvPr/>
        </p:nvPicPr>
        <p:blipFill rotWithShape="1">
          <a:blip r:embed="rId1"/>
          <a:srcRect/>
          <a:stretch>
            <a:fillRect/>
          </a:stretch>
        </p:blipFill>
        <p:spPr>
          <a:xfrm>
            <a:off x="476250" y="1533525"/>
            <a:ext cx="11239500" cy="4943475"/>
          </a:xfrm>
          <a:prstGeom prst="rect">
            <a:avLst/>
          </a:prstGeom>
          <a:noFill/>
          <a:ln>
            <a:noFill/>
          </a:ln>
        </p:spPr>
      </p:pic>
      <p:pic>
        <p:nvPicPr>
          <p:cNvPr id="136" name="Google Shape;136;p15" descr="image.png"/>
          <p:cNvPicPr preferRelativeResize="0"/>
          <p:nvPr/>
        </p:nvPicPr>
        <p:blipFill rotWithShape="1">
          <a:blip r:embed="rId2"/>
          <a:srcRect/>
          <a:stretch>
            <a:fillRect/>
          </a:stretch>
        </p:blipFill>
        <p:spPr>
          <a:xfrm>
            <a:off x="6286500" y="1885950"/>
            <a:ext cx="5124450" cy="3429000"/>
          </a:xfrm>
          <a:prstGeom prst="rect">
            <a:avLst/>
          </a:prstGeom>
          <a:noFill/>
          <a:ln>
            <a:noFill/>
          </a:ln>
        </p:spPr>
      </p:pic>
      <p:pic>
        <p:nvPicPr>
          <p:cNvPr id="137" name="Google Shape;137;p15" descr="image.png"/>
          <p:cNvPicPr preferRelativeResize="0"/>
          <p:nvPr/>
        </p:nvPicPr>
        <p:blipFill rotWithShape="1">
          <a:blip r:embed="rId3"/>
          <a:srcRect/>
          <a:stretch>
            <a:fillRect/>
          </a:stretch>
        </p:blipFill>
        <p:spPr>
          <a:xfrm>
            <a:off x="10287000" y="190500"/>
            <a:ext cx="1524000" cy="428625"/>
          </a:xfrm>
          <a:prstGeom prst="rect">
            <a:avLst/>
          </a:prstGeom>
          <a:noFill/>
          <a:ln>
            <a:noFill/>
          </a:ln>
        </p:spPr>
      </p:pic>
      <p:pic>
        <p:nvPicPr>
          <p:cNvPr id="138" name="Google Shape;138;p15" descr="image.png"/>
          <p:cNvPicPr preferRelativeResize="0"/>
          <p:nvPr/>
        </p:nvPicPr>
        <p:blipFill rotWithShape="1">
          <a:blip r:embed="rId4"/>
          <a:srcRect/>
          <a:stretch>
            <a:fillRect/>
          </a:stretch>
        </p:blipFill>
        <p:spPr>
          <a:xfrm>
            <a:off x="10555932" y="319087"/>
            <a:ext cx="171450" cy="171450"/>
          </a:xfrm>
          <a:prstGeom prst="rect">
            <a:avLst/>
          </a:prstGeom>
          <a:noFill/>
          <a:ln>
            <a:noFill/>
          </a:ln>
        </p:spPr>
      </p:pic>
      <p:sp>
        <p:nvSpPr>
          <p:cNvPr id="139" name="Google Shape;139;p15"/>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行业现状与挑战 (两栏左右结构)</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40" name="Google Shape;140;p15"/>
          <p:cNvSpPr txBox="1"/>
          <p:nvPr/>
        </p:nvSpPr>
        <p:spPr>
          <a:xfrm>
            <a:off x="24669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研究目标和内容</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41" name="Google Shape;141;p15"/>
          <p:cNvSpPr txBox="1"/>
          <p:nvPr/>
        </p:nvSpPr>
        <p:spPr>
          <a:xfrm>
            <a:off x="44100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研究方法与思路</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42" name="Google Shape;142;p15"/>
          <p:cNvSpPr txBox="1"/>
          <p:nvPr/>
        </p:nvSpPr>
        <p:spPr>
          <a:xfrm>
            <a:off x="63531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已开展工作</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43" name="Google Shape;143;p15"/>
          <p:cNvSpPr txBox="1"/>
          <p:nvPr/>
        </p:nvSpPr>
        <p:spPr>
          <a:xfrm>
            <a:off x="82962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预期成果与总结</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44" name="Google Shape;144;p15"/>
          <p:cNvSpPr txBox="1"/>
          <p:nvPr/>
        </p:nvSpPr>
        <p:spPr>
          <a:xfrm>
            <a:off x="781050" y="1885950"/>
            <a:ext cx="5380672"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6365C"/>
                </a:solidFill>
                <a:latin typeface="Times New Roman" panose="02020603050405020304" charset="0"/>
                <a:ea typeface="微软雅黑" panose="020B0503020204020204" charset="-122"/>
                <a:cs typeface="Times New Roman" panose="02020603050405020304"/>
                <a:sym typeface="Times New Roman" panose="02020603050405020304"/>
              </a:rPr>
              <a:t>当前领域面临的主要瓶颈：</a:t>
            </a:r>
            <a:endParaRPr lang="en-US" sz="1800" b="1" i="0" u="none" strike="noStrike" cap="none">
              <a:solidFill>
                <a:srgbClr val="16365C"/>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45" name="Google Shape;145;p15"/>
          <p:cNvSpPr/>
          <p:nvPr/>
        </p:nvSpPr>
        <p:spPr>
          <a:xfrm>
            <a:off x="781050" y="4350841"/>
            <a:ext cx="5124450" cy="834330"/>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146" name="Google Shape;146;p15"/>
          <p:cNvSpPr txBox="1"/>
          <p:nvPr/>
        </p:nvSpPr>
        <p:spPr>
          <a:xfrm>
            <a:off x="923925" y="4397831"/>
            <a:ext cx="4838700" cy="787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需求总结：</a:t>
            </a:r>
            <a:r>
              <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亟需引入新型计算框架，提升数据处理效率并降低误差率。</a:t>
            </a:r>
            <a:endPar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47" name="Google Shape;147;p15"/>
          <p:cNvSpPr/>
          <p:nvPr/>
        </p:nvSpPr>
        <p:spPr>
          <a:xfrm>
            <a:off x="781050" y="4350841"/>
            <a:ext cx="38100" cy="834330"/>
          </a:xfrm>
          <a:prstGeom prst="rect">
            <a:avLst/>
          </a:prstGeom>
          <a:solidFill>
            <a:srgbClr val="1636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pic>
        <p:nvPicPr>
          <p:cNvPr id="148" name="Google Shape;148;p15" descr="image.png"/>
          <p:cNvPicPr preferRelativeResize="0"/>
          <p:nvPr/>
        </p:nvPicPr>
        <p:blipFill rotWithShape="1">
          <a:blip r:embed="rId5"/>
          <a:srcRect/>
          <a:stretch>
            <a:fillRect/>
          </a:stretch>
        </p:blipFill>
        <p:spPr>
          <a:xfrm>
            <a:off x="6391275" y="2218729"/>
            <a:ext cx="4914900" cy="2763440"/>
          </a:xfrm>
          <a:prstGeom prst="rect">
            <a:avLst/>
          </a:prstGeom>
          <a:noFill/>
          <a:ln>
            <a:noFill/>
          </a:ln>
        </p:spPr>
      </p:pic>
      <p:sp>
        <p:nvSpPr>
          <p:cNvPr id="150" name="Google Shape;150;p15"/>
          <p:cNvSpPr txBox="1"/>
          <p:nvPr>
            <p:custDataLst>
              <p:tags r:id="rId6"/>
            </p:custDataLst>
          </p:nvPr>
        </p:nvSpPr>
        <p:spPr>
          <a:xfrm>
            <a:off x="781050" y="2276475"/>
            <a:ext cx="5124450" cy="7874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1"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Times New Roman" panose="02020603050405020304"/>
              </a:rPr>
              <a:t>效率低下：</a:t>
            </a:r>
            <a:r>
              <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传统实验手段筛选周期长，效率难以满足现代临床需求。</a:t>
            </a:r>
            <a:endPar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52" name="Google Shape;152;p15"/>
          <p:cNvSpPr txBox="1"/>
          <p:nvPr>
            <p:custDataLst>
              <p:tags r:id="rId7"/>
            </p:custDataLst>
          </p:nvPr>
        </p:nvSpPr>
        <p:spPr>
          <a:xfrm>
            <a:off x="781050" y="2920305"/>
            <a:ext cx="5124450" cy="7874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1"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Times New Roman" panose="02020603050405020304"/>
              </a:rPr>
              <a:t>数据缺失：</a:t>
            </a:r>
            <a:r>
              <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在多模态融合模型构建中，往往缺乏高质量的标注数据进行支撑。</a:t>
            </a:r>
            <a:endPar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53" name="Google Shape;153;p15"/>
          <p:cNvSpPr txBox="1"/>
          <p:nvPr>
            <p:custDataLst>
              <p:tags r:id="rId8"/>
            </p:custDataLst>
          </p:nvPr>
        </p:nvSpPr>
        <p:spPr>
          <a:xfrm>
            <a:off x="723900" y="3563183"/>
            <a:ext cx="57150"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54" name="Google Shape;154;p15"/>
          <p:cNvSpPr txBox="1"/>
          <p:nvPr>
            <p:custDataLst>
              <p:tags r:id="rId9"/>
            </p:custDataLst>
          </p:nvPr>
        </p:nvSpPr>
        <p:spPr>
          <a:xfrm>
            <a:off x="781050" y="3564135"/>
            <a:ext cx="5124450" cy="7874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1"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Times New Roman" panose="02020603050405020304"/>
              </a:rPr>
              <a:t>准确率瓶颈：</a:t>
            </a:r>
            <a:r>
              <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 现有预测模型在面对复杂病理样本时，假阳性率依然偏高。</a:t>
            </a:r>
            <a:endPar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15" name="Google Shape;115;p14"/>
          <p:cNvSpPr/>
          <p:nvPr>
            <p:custDataLst>
              <p:tags r:id="rId10"/>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1" name="圆角矩形 0"/>
          <p:cNvSpPr/>
          <p:nvPr/>
        </p:nvSpPr>
        <p:spPr>
          <a:xfrm>
            <a:off x="901700" y="1418590"/>
            <a:ext cx="101028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rPr>
              <a:t>痛点分析</a:t>
            </a:r>
            <a:endParaRPr lang="zh-CN" altLang="en-US" b="1">
              <a:latin typeface="微软雅黑" panose="020B0503020204020204" charset="-122"/>
              <a:ea typeface="微软雅黑" panose="020B0503020204020204" charset="-122"/>
            </a:endParaRPr>
          </a:p>
        </p:txBody>
      </p:sp>
      <p:sp>
        <p:nvSpPr>
          <p:cNvPr id="2" name="圆角矩形 1"/>
          <p:cNvSpPr/>
          <p:nvPr/>
        </p:nvSpPr>
        <p:spPr>
          <a:xfrm>
            <a:off x="588010" y="315595"/>
            <a:ext cx="187896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微软雅黑" panose="020B0503020204020204" charset="-122"/>
                <a:ea typeface="微软雅黑" panose="020B0503020204020204" charset="-122"/>
              </a:rPr>
              <a:t>研究背景及现状</a:t>
            </a:r>
            <a:endParaRPr lang="zh-CN" altLang="en-US" sz="1600" b="1">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58" name="Shape 158"/>
        <p:cNvGrpSpPr/>
        <p:nvPr/>
      </p:nvGrpSpPr>
      <p:grpSpPr>
        <a:xfrm>
          <a:off x="0" y="0"/>
          <a:ext cx="0" cy="0"/>
          <a:chOff x="0" y="0"/>
          <a:chExt cx="0" cy="0"/>
        </a:xfrm>
      </p:grpSpPr>
      <p:pic>
        <p:nvPicPr>
          <p:cNvPr id="159" name="Google Shape;159;p16" descr="image.png"/>
          <p:cNvPicPr preferRelativeResize="0"/>
          <p:nvPr/>
        </p:nvPicPr>
        <p:blipFill rotWithShape="1">
          <a:blip r:embed="rId1"/>
          <a:srcRect/>
          <a:stretch>
            <a:fillRect/>
          </a:stretch>
        </p:blipFill>
        <p:spPr>
          <a:xfrm>
            <a:off x="476250" y="1533525"/>
            <a:ext cx="11239500" cy="4943475"/>
          </a:xfrm>
          <a:prstGeom prst="rect">
            <a:avLst/>
          </a:prstGeom>
          <a:noFill/>
          <a:ln>
            <a:noFill/>
          </a:ln>
        </p:spPr>
      </p:pic>
      <p:pic>
        <p:nvPicPr>
          <p:cNvPr id="162" name="Google Shape;162;p16" descr="image.png"/>
          <p:cNvPicPr preferRelativeResize="0"/>
          <p:nvPr/>
        </p:nvPicPr>
        <p:blipFill rotWithShape="1">
          <a:blip r:embed="rId2"/>
          <a:srcRect/>
          <a:stretch>
            <a:fillRect/>
          </a:stretch>
        </p:blipFill>
        <p:spPr>
          <a:xfrm>
            <a:off x="781050" y="1885950"/>
            <a:ext cx="10629900" cy="1367730"/>
          </a:xfrm>
          <a:prstGeom prst="rect">
            <a:avLst/>
          </a:prstGeom>
          <a:noFill/>
          <a:ln>
            <a:noFill/>
          </a:ln>
        </p:spPr>
      </p:pic>
      <p:pic>
        <p:nvPicPr>
          <p:cNvPr id="163" name="Google Shape;163;p16" descr="image.png"/>
          <p:cNvPicPr preferRelativeResize="0"/>
          <p:nvPr/>
        </p:nvPicPr>
        <p:blipFill rotWithShape="1">
          <a:blip r:embed="rId3"/>
          <a:srcRect/>
          <a:stretch>
            <a:fillRect/>
          </a:stretch>
        </p:blipFill>
        <p:spPr>
          <a:xfrm>
            <a:off x="10287000" y="190500"/>
            <a:ext cx="1524000" cy="428625"/>
          </a:xfrm>
          <a:prstGeom prst="rect">
            <a:avLst/>
          </a:prstGeom>
          <a:noFill/>
          <a:ln>
            <a:noFill/>
          </a:ln>
        </p:spPr>
      </p:pic>
      <p:pic>
        <p:nvPicPr>
          <p:cNvPr id="164" name="Google Shape;164;p16" descr="image.png"/>
          <p:cNvPicPr preferRelativeResize="0"/>
          <p:nvPr/>
        </p:nvPicPr>
        <p:blipFill rotWithShape="1">
          <a:blip r:embed="rId4"/>
          <a:srcRect/>
          <a:stretch>
            <a:fillRect/>
          </a:stretch>
        </p:blipFill>
        <p:spPr>
          <a:xfrm>
            <a:off x="10555932" y="319087"/>
            <a:ext cx="171450" cy="171450"/>
          </a:xfrm>
          <a:prstGeom prst="rect">
            <a:avLst/>
          </a:prstGeom>
          <a:noFill/>
          <a:ln>
            <a:noFill/>
          </a:ln>
        </p:spPr>
      </p:pic>
      <p:sp>
        <p:nvSpPr>
          <p:cNvPr id="165" name="Google Shape;165;p16"/>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研究内容模块一 (两栏上下结构)</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66" name="Google Shape;166;p16"/>
          <p:cNvSpPr txBox="1"/>
          <p:nvPr/>
        </p:nvSpPr>
        <p:spPr>
          <a:xfrm>
            <a:off x="5238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研究背景及现状</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67" name="Google Shape;167;p16"/>
          <p:cNvSpPr txBox="1"/>
          <p:nvPr/>
        </p:nvSpPr>
        <p:spPr>
          <a:xfrm>
            <a:off x="44100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研究方法与思路</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68" name="Google Shape;168;p16"/>
          <p:cNvSpPr txBox="1"/>
          <p:nvPr/>
        </p:nvSpPr>
        <p:spPr>
          <a:xfrm>
            <a:off x="63531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已开展工作</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69" name="Google Shape;169;p16"/>
          <p:cNvSpPr txBox="1"/>
          <p:nvPr/>
        </p:nvSpPr>
        <p:spPr>
          <a:xfrm>
            <a:off x="82962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预期成果与总结</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70" name="Google Shape;170;p16"/>
          <p:cNvSpPr txBox="1"/>
          <p:nvPr/>
        </p:nvSpPr>
        <p:spPr>
          <a:xfrm>
            <a:off x="1019175" y="2076450"/>
            <a:ext cx="10711338"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6365C"/>
                </a:solidFill>
                <a:latin typeface="Times New Roman" panose="02020603050405020304" charset="0"/>
                <a:ea typeface="微软雅黑" panose="020B0503020204020204" charset="-122"/>
                <a:cs typeface="Times New Roman" panose="02020603050405020304"/>
                <a:sym typeface="Times New Roman" panose="02020603050405020304"/>
              </a:rPr>
              <a:t>理论假设与算法设计</a:t>
            </a:r>
            <a:endParaRPr lang="en-US" sz="1800" b="1" i="0" u="none" strike="noStrike" cap="none">
              <a:solidFill>
                <a:srgbClr val="16365C"/>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171" name="Google Shape;171;p16"/>
          <p:cNvSpPr txBox="1"/>
          <p:nvPr/>
        </p:nvSpPr>
        <p:spPr>
          <a:xfrm>
            <a:off x="1019175" y="2419350"/>
            <a:ext cx="10201275" cy="787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通过构建多层级卷积神经网络 (CNN)，结合注意力机制 (Attention Mechanism)，我们对收集到的时序数据进行深度特征提取。上下结构的排版非常适合上方进行理论和文本概述，下方并列展示多组对比验证的图表结果。</a:t>
            </a:r>
            <a:endParaRPr lang="en-US" sz="1600" b="0"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pic>
        <p:nvPicPr>
          <p:cNvPr id="172" name="Google Shape;172;p16" descr="image.png"/>
          <p:cNvPicPr preferRelativeResize="0"/>
          <p:nvPr>
            <p:custDataLst>
              <p:tags r:id="rId5"/>
            </p:custDataLst>
          </p:nvPr>
        </p:nvPicPr>
        <p:blipFill rotWithShape="1">
          <a:blip r:embed="rId6"/>
          <a:srcRect/>
          <a:stretch>
            <a:fillRect/>
          </a:stretch>
        </p:blipFill>
        <p:spPr>
          <a:xfrm>
            <a:off x="933450" y="3644205"/>
            <a:ext cx="4867275" cy="1905000"/>
          </a:xfrm>
          <a:prstGeom prst="rect">
            <a:avLst/>
          </a:prstGeom>
          <a:noFill/>
          <a:ln>
            <a:noFill/>
          </a:ln>
        </p:spPr>
      </p:pic>
      <p:sp>
        <p:nvSpPr>
          <p:cNvPr id="173" name="Google Shape;173;p16"/>
          <p:cNvSpPr txBox="1"/>
          <p:nvPr>
            <p:custDataLst>
              <p:tags r:id="rId7"/>
            </p:custDataLst>
          </p:nvPr>
        </p:nvSpPr>
        <p:spPr>
          <a:xfrm>
            <a:off x="2410460" y="5644515"/>
            <a:ext cx="2945130"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New Roman" panose="02020603050405020304"/>
              </a:rPr>
              <a:t>图 A: 算法收敛趋势对比分析</a:t>
            </a:r>
            <a:endParaRPr lang="en-US" sz="1600" b="1"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pic>
        <p:nvPicPr>
          <p:cNvPr id="174" name="Google Shape;174;p16" descr="image.png"/>
          <p:cNvPicPr preferRelativeResize="0"/>
          <p:nvPr>
            <p:custDataLst>
              <p:tags r:id="rId8"/>
            </p:custDataLst>
          </p:nvPr>
        </p:nvPicPr>
        <p:blipFill rotWithShape="1">
          <a:blip r:embed="rId9"/>
          <a:srcRect/>
          <a:stretch>
            <a:fillRect/>
          </a:stretch>
        </p:blipFill>
        <p:spPr>
          <a:xfrm>
            <a:off x="6391275" y="3644205"/>
            <a:ext cx="4867275" cy="1905000"/>
          </a:xfrm>
          <a:prstGeom prst="rect">
            <a:avLst/>
          </a:prstGeom>
          <a:noFill/>
          <a:ln>
            <a:noFill/>
          </a:ln>
        </p:spPr>
      </p:pic>
      <p:sp>
        <p:nvSpPr>
          <p:cNvPr id="175" name="Google Shape;175;p16"/>
          <p:cNvSpPr txBox="1"/>
          <p:nvPr>
            <p:custDataLst>
              <p:tags r:id="rId10"/>
            </p:custDataLst>
          </p:nvPr>
        </p:nvSpPr>
        <p:spPr>
          <a:xfrm>
            <a:off x="7872095" y="5644515"/>
            <a:ext cx="2855595" cy="1841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New Roman" panose="02020603050405020304"/>
              </a:rPr>
              <a:t>图 B: 特征分布散点与热力图</a:t>
            </a:r>
            <a:endParaRPr lang="en-US" sz="1600" b="1" i="0" u="none" strike="noStrike" cap="none">
              <a:solidFill>
                <a:srgbClr val="16365C"/>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15" name="Google Shape;115;p14"/>
          <p:cNvSpPr/>
          <p:nvPr>
            <p:custDataLst>
              <p:tags r:id="rId11"/>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2" name="圆角矩形 1"/>
          <p:cNvSpPr/>
          <p:nvPr/>
        </p:nvSpPr>
        <p:spPr>
          <a:xfrm>
            <a:off x="2390775" y="315595"/>
            <a:ext cx="191833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Times New Roman" panose="02020603050405020304" charset="0"/>
                <a:ea typeface="微软雅黑" panose="020B0503020204020204" charset="-122"/>
              </a:rPr>
              <a:t>研究目标和内容</a:t>
            </a:r>
            <a:endParaRPr lang="zh-CN" altLang="en-US" sz="1600" b="1">
              <a:latin typeface="Times New Roman" panose="02020603050405020304" charset="0"/>
              <a:ea typeface="微软雅黑" panose="020B0503020204020204" charset="-122"/>
            </a:endParaRPr>
          </a:p>
        </p:txBody>
      </p:sp>
      <p:sp>
        <p:nvSpPr>
          <p:cNvPr id="1" name="圆角矩形 0"/>
          <p:cNvSpPr/>
          <p:nvPr/>
        </p:nvSpPr>
        <p:spPr>
          <a:xfrm>
            <a:off x="901700" y="1418590"/>
            <a:ext cx="1374140"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rPr>
              <a:t>核心模型构建</a:t>
            </a:r>
            <a:endParaRPr lang="zh-CN" altLang="en-US" b="1">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79" name="Shape 179"/>
        <p:cNvGrpSpPr/>
        <p:nvPr/>
      </p:nvGrpSpPr>
      <p:grpSpPr>
        <a:xfrm>
          <a:off x="0" y="0"/>
          <a:ext cx="0" cy="0"/>
          <a:chOff x="0" y="0"/>
          <a:chExt cx="0" cy="0"/>
        </a:xfrm>
      </p:grpSpPr>
      <p:pic>
        <p:nvPicPr>
          <p:cNvPr id="180" name="Google Shape;180;p17" descr="image.png"/>
          <p:cNvPicPr preferRelativeResize="0"/>
          <p:nvPr/>
        </p:nvPicPr>
        <p:blipFill rotWithShape="1">
          <a:blip r:embed="rId1"/>
          <a:srcRect/>
          <a:stretch>
            <a:fillRect/>
          </a:stretch>
        </p:blipFill>
        <p:spPr>
          <a:xfrm>
            <a:off x="476250" y="1533525"/>
            <a:ext cx="11239500" cy="4943475"/>
          </a:xfrm>
          <a:prstGeom prst="rect">
            <a:avLst/>
          </a:prstGeom>
          <a:noFill/>
          <a:ln>
            <a:noFill/>
          </a:ln>
        </p:spPr>
      </p:pic>
      <p:pic>
        <p:nvPicPr>
          <p:cNvPr id="183" name="Google Shape;183;p17" descr="image.png"/>
          <p:cNvPicPr preferRelativeResize="0"/>
          <p:nvPr/>
        </p:nvPicPr>
        <p:blipFill rotWithShape="1">
          <a:blip r:embed="rId2"/>
          <a:srcRect/>
          <a:stretch>
            <a:fillRect/>
          </a:stretch>
        </p:blipFill>
        <p:spPr>
          <a:xfrm>
            <a:off x="781050" y="1885950"/>
            <a:ext cx="3352800" cy="4333875"/>
          </a:xfrm>
          <a:prstGeom prst="rect">
            <a:avLst/>
          </a:prstGeom>
          <a:noFill/>
          <a:ln>
            <a:noFill/>
          </a:ln>
        </p:spPr>
      </p:pic>
      <p:pic>
        <p:nvPicPr>
          <p:cNvPr id="184" name="Google Shape;184;p17" descr="image.png"/>
          <p:cNvPicPr preferRelativeResize="0"/>
          <p:nvPr/>
        </p:nvPicPr>
        <p:blipFill rotWithShape="1">
          <a:blip r:embed="rId3"/>
          <a:srcRect/>
          <a:stretch>
            <a:fillRect/>
          </a:stretch>
        </p:blipFill>
        <p:spPr>
          <a:xfrm>
            <a:off x="4419600" y="1885950"/>
            <a:ext cx="3352800" cy="4333875"/>
          </a:xfrm>
          <a:prstGeom prst="rect">
            <a:avLst/>
          </a:prstGeom>
          <a:noFill/>
          <a:ln>
            <a:noFill/>
          </a:ln>
        </p:spPr>
      </p:pic>
      <p:pic>
        <p:nvPicPr>
          <p:cNvPr id="185" name="Google Shape;185;p17" descr="image.png"/>
          <p:cNvPicPr preferRelativeResize="0"/>
          <p:nvPr/>
        </p:nvPicPr>
        <p:blipFill rotWithShape="1">
          <a:blip r:embed="rId4"/>
          <a:srcRect/>
          <a:stretch>
            <a:fillRect/>
          </a:stretch>
        </p:blipFill>
        <p:spPr>
          <a:xfrm>
            <a:off x="8058150" y="1885950"/>
            <a:ext cx="3352800" cy="4333875"/>
          </a:xfrm>
          <a:prstGeom prst="rect">
            <a:avLst/>
          </a:prstGeom>
          <a:noFill/>
          <a:ln>
            <a:noFill/>
          </a:ln>
        </p:spPr>
      </p:pic>
      <p:pic>
        <p:nvPicPr>
          <p:cNvPr id="186" name="Google Shape;186;p17" descr="image.png"/>
          <p:cNvPicPr preferRelativeResize="0"/>
          <p:nvPr/>
        </p:nvPicPr>
        <p:blipFill rotWithShape="1">
          <a:blip r:embed="rId5"/>
          <a:srcRect/>
          <a:stretch>
            <a:fillRect/>
          </a:stretch>
        </p:blipFill>
        <p:spPr>
          <a:xfrm>
            <a:off x="10287000" y="190500"/>
            <a:ext cx="1524000" cy="428625"/>
          </a:xfrm>
          <a:prstGeom prst="rect">
            <a:avLst/>
          </a:prstGeom>
          <a:noFill/>
          <a:ln>
            <a:noFill/>
          </a:ln>
        </p:spPr>
      </p:pic>
      <p:pic>
        <p:nvPicPr>
          <p:cNvPr id="187" name="Google Shape;187;p17" descr="image.png"/>
          <p:cNvPicPr preferRelativeResize="0"/>
          <p:nvPr/>
        </p:nvPicPr>
        <p:blipFill rotWithShape="1">
          <a:blip r:embed="rId6"/>
          <a:srcRect/>
          <a:stretch>
            <a:fillRect/>
          </a:stretch>
        </p:blipFill>
        <p:spPr>
          <a:xfrm>
            <a:off x="10555932" y="319087"/>
            <a:ext cx="171450" cy="171450"/>
          </a:xfrm>
          <a:prstGeom prst="rect">
            <a:avLst/>
          </a:prstGeom>
          <a:noFill/>
          <a:ln>
            <a:noFill/>
          </a:ln>
        </p:spPr>
      </p:pic>
      <p:sp>
        <p:nvSpPr>
          <p:cNvPr id="188" name="Google Shape;188;p17"/>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整体技术路线图 (三栏结构)</a:t>
            </a:r>
            <a:endPar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189" name="Google Shape;189;p17"/>
          <p:cNvSpPr txBox="1"/>
          <p:nvPr/>
        </p:nvSpPr>
        <p:spPr>
          <a:xfrm>
            <a:off x="5238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研究背景及现状</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0" name="Google Shape;190;p17"/>
          <p:cNvSpPr txBox="1"/>
          <p:nvPr/>
        </p:nvSpPr>
        <p:spPr>
          <a:xfrm>
            <a:off x="24669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研究目标和内容</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1" name="Google Shape;191;p17"/>
          <p:cNvSpPr txBox="1"/>
          <p:nvPr/>
        </p:nvSpPr>
        <p:spPr>
          <a:xfrm>
            <a:off x="63531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已开展工作</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2" name="Google Shape;192;p17"/>
          <p:cNvSpPr txBox="1"/>
          <p:nvPr/>
        </p:nvSpPr>
        <p:spPr>
          <a:xfrm>
            <a:off x="82962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预期成果与总结</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3" name="Google Shape;193;p17"/>
          <p:cNvSpPr txBox="1"/>
          <p:nvPr/>
        </p:nvSpPr>
        <p:spPr>
          <a:xfrm>
            <a:off x="907256" y="2171700"/>
            <a:ext cx="3100387" cy="307340"/>
          </a:xfrm>
          <a:prstGeom prst="rect">
            <a:avLst/>
          </a:prstGeom>
          <a:noFill/>
          <a:ln>
            <a:noFill/>
          </a:ln>
        </p:spPr>
        <p:txBody>
          <a:bodyPr spcFirstLastPara="1" wrap="square" lIns="257175" tIns="0" rIns="0" bIns="0" anchor="t" anchorCtr="0">
            <a:spAutoFit/>
          </a:bodyPr>
          <a:lstStyle/>
          <a:p>
            <a:pPr marL="0" marR="0" lvl="0" indent="0" algn="ctr" rtl="0">
              <a:spcBef>
                <a:spcPts val="0"/>
              </a:spcBef>
              <a:spcAft>
                <a:spcPts val="0"/>
              </a:spcAft>
              <a:buNone/>
            </a:pPr>
            <a:r>
              <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数据采集与处理</a:t>
            </a:r>
            <a:endPar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4" name="Google Shape;194;p17"/>
          <p:cNvSpPr/>
          <p:nvPr/>
        </p:nvSpPr>
        <p:spPr>
          <a:xfrm>
            <a:off x="981075" y="2552700"/>
            <a:ext cx="295275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sp>
        <p:nvSpPr>
          <p:cNvPr id="195" name="Google Shape;195;p17"/>
          <p:cNvSpPr txBox="1"/>
          <p:nvPr/>
        </p:nvSpPr>
        <p:spPr>
          <a:xfrm>
            <a:off x="981075" y="5459184"/>
            <a:ext cx="2952750" cy="688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为后续模型提供高质量、低噪音的数据输入保障。</a:t>
            </a:r>
            <a:endParaRPr lang="en-US" b="0"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6" name="Google Shape;196;p17"/>
          <p:cNvSpPr txBox="1"/>
          <p:nvPr/>
        </p:nvSpPr>
        <p:spPr>
          <a:xfrm>
            <a:off x="4545806" y="2171700"/>
            <a:ext cx="3100387" cy="307340"/>
          </a:xfrm>
          <a:prstGeom prst="rect">
            <a:avLst/>
          </a:prstGeom>
          <a:noFill/>
          <a:ln>
            <a:noFill/>
          </a:ln>
        </p:spPr>
        <p:txBody>
          <a:bodyPr spcFirstLastPara="1" wrap="square" lIns="342900" tIns="0" rIns="0" bIns="0" anchor="t" anchorCtr="0">
            <a:spAutoFit/>
          </a:bodyPr>
          <a:lstStyle/>
          <a:p>
            <a:pPr marL="0" marR="0" lvl="0" indent="0" algn="ctr" rtl="0">
              <a:spcBef>
                <a:spcPts val="0"/>
              </a:spcBef>
              <a:spcAft>
                <a:spcPts val="0"/>
              </a:spcAft>
              <a:buNone/>
            </a:pPr>
            <a:r>
              <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预测模型构建</a:t>
            </a:r>
            <a:endPar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7" name="Google Shape;197;p17"/>
          <p:cNvSpPr/>
          <p:nvPr/>
        </p:nvSpPr>
        <p:spPr>
          <a:xfrm>
            <a:off x="4619625" y="2552700"/>
            <a:ext cx="295275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sp>
        <p:nvSpPr>
          <p:cNvPr id="198" name="Google Shape;198;p17"/>
          <p:cNvSpPr txBox="1"/>
          <p:nvPr/>
        </p:nvSpPr>
        <p:spPr>
          <a:xfrm>
            <a:off x="4682490" y="5459184"/>
            <a:ext cx="2952750" cy="688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实现从输入到特征输出的高效映射关系建立。</a:t>
            </a:r>
            <a:endParaRPr lang="en-US" b="0"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9" name="Google Shape;199;p17"/>
          <p:cNvSpPr txBox="1"/>
          <p:nvPr/>
        </p:nvSpPr>
        <p:spPr>
          <a:xfrm>
            <a:off x="8184356" y="2171700"/>
            <a:ext cx="3100387" cy="307340"/>
          </a:xfrm>
          <a:prstGeom prst="rect">
            <a:avLst/>
          </a:prstGeom>
          <a:noFill/>
          <a:ln>
            <a:noFill/>
          </a:ln>
        </p:spPr>
        <p:txBody>
          <a:bodyPr spcFirstLastPara="1" wrap="square" lIns="285750" tIns="0" rIns="0" bIns="0" anchor="t" anchorCtr="0">
            <a:spAutoFit/>
          </a:bodyPr>
          <a:lstStyle/>
          <a:p>
            <a:pPr marL="0" marR="0" lvl="0" indent="0" algn="ctr" rtl="0">
              <a:spcBef>
                <a:spcPts val="0"/>
              </a:spcBef>
              <a:spcAft>
                <a:spcPts val="0"/>
              </a:spcAft>
              <a:buNone/>
            </a:pPr>
            <a:r>
              <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临床转化与验证</a:t>
            </a:r>
            <a:endPar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00" name="Google Shape;200;p17"/>
          <p:cNvSpPr/>
          <p:nvPr/>
        </p:nvSpPr>
        <p:spPr>
          <a:xfrm>
            <a:off x="8258175" y="2552700"/>
            <a:ext cx="295275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sp>
        <p:nvSpPr>
          <p:cNvPr id="201" name="Google Shape;201;p17"/>
          <p:cNvSpPr txBox="1"/>
          <p:nvPr/>
        </p:nvSpPr>
        <p:spPr>
          <a:xfrm>
            <a:off x="8184515" y="5459184"/>
            <a:ext cx="2952750" cy="688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打通从基础研究到临床应用的最后一步闭环。</a:t>
            </a:r>
            <a:endParaRPr lang="en-US" b="0"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pic>
        <p:nvPicPr>
          <p:cNvPr id="202" name="Google Shape;202;p17" descr="image.png"/>
          <p:cNvPicPr preferRelativeResize="0"/>
          <p:nvPr/>
        </p:nvPicPr>
        <p:blipFill rotWithShape="1">
          <a:blip r:embed="rId7"/>
          <a:srcRect/>
          <a:stretch>
            <a:fillRect/>
          </a:stretch>
        </p:blipFill>
        <p:spPr>
          <a:xfrm>
            <a:off x="1388268" y="2200275"/>
            <a:ext cx="180975" cy="209550"/>
          </a:xfrm>
          <a:prstGeom prst="rect">
            <a:avLst/>
          </a:prstGeom>
          <a:noFill/>
          <a:ln>
            <a:noFill/>
          </a:ln>
        </p:spPr>
      </p:pic>
      <p:sp>
        <p:nvSpPr>
          <p:cNvPr id="204" name="Google Shape;204;p17"/>
          <p:cNvSpPr txBox="1"/>
          <p:nvPr/>
        </p:nvSpPr>
        <p:spPr>
          <a:xfrm>
            <a:off x="981075" y="270510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建立标准化样本库</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06" name="Google Shape;206;p17"/>
          <p:cNvSpPr txBox="1"/>
          <p:nvPr/>
        </p:nvSpPr>
        <p:spPr>
          <a:xfrm>
            <a:off x="981075" y="307464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高通量测序数据清洗</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08" name="Google Shape;208;p17"/>
          <p:cNvSpPr txBox="1"/>
          <p:nvPr/>
        </p:nvSpPr>
        <p:spPr>
          <a:xfrm>
            <a:off x="981075" y="344418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去除批次效应及归一化</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10" name="Google Shape;210;p17"/>
          <p:cNvSpPr txBox="1"/>
          <p:nvPr/>
        </p:nvSpPr>
        <p:spPr>
          <a:xfrm>
            <a:off x="981075" y="381372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多组学数据对其与整合</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pic>
        <p:nvPicPr>
          <p:cNvPr id="211" name="Google Shape;211;p17" descr="image.png"/>
          <p:cNvPicPr preferRelativeResize="0"/>
          <p:nvPr/>
        </p:nvPicPr>
        <p:blipFill rotWithShape="1">
          <a:blip r:embed="rId8"/>
          <a:srcRect/>
          <a:stretch>
            <a:fillRect/>
          </a:stretch>
        </p:blipFill>
        <p:spPr>
          <a:xfrm>
            <a:off x="5003006" y="2171700"/>
            <a:ext cx="266700" cy="209550"/>
          </a:xfrm>
          <a:prstGeom prst="rect">
            <a:avLst/>
          </a:prstGeom>
          <a:noFill/>
          <a:ln>
            <a:noFill/>
          </a:ln>
        </p:spPr>
      </p:pic>
      <p:sp>
        <p:nvSpPr>
          <p:cNvPr id="213" name="Google Shape;213;p17"/>
          <p:cNvSpPr txBox="1"/>
          <p:nvPr/>
        </p:nvSpPr>
        <p:spPr>
          <a:xfrm>
            <a:off x="4619625" y="270510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深度学习网络架构搭建</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15" name="Google Shape;215;p17"/>
          <p:cNvSpPr txBox="1"/>
          <p:nvPr/>
        </p:nvSpPr>
        <p:spPr>
          <a:xfrm>
            <a:off x="4619625" y="307464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超参数自动搜索与调优</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17" name="Google Shape;217;p17"/>
          <p:cNvSpPr txBox="1"/>
          <p:nvPr/>
        </p:nvSpPr>
        <p:spPr>
          <a:xfrm>
            <a:off x="4619625" y="344418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模型可解释性(SHAP)分析</a:t>
            </a:r>
            <a:endPar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219" name="Google Shape;219;p17"/>
          <p:cNvSpPr txBox="1"/>
          <p:nvPr/>
        </p:nvSpPr>
        <p:spPr>
          <a:xfrm>
            <a:off x="4619625" y="381372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十折交叉验证降低过拟合</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pic>
        <p:nvPicPr>
          <p:cNvPr id="220" name="Google Shape;220;p17" descr="image.png"/>
          <p:cNvPicPr preferRelativeResize="0"/>
          <p:nvPr/>
        </p:nvPicPr>
        <p:blipFill rotWithShape="1">
          <a:blip r:embed="rId9"/>
          <a:srcRect/>
          <a:stretch>
            <a:fillRect/>
          </a:stretch>
        </p:blipFill>
        <p:spPr>
          <a:xfrm>
            <a:off x="8622506" y="2200275"/>
            <a:ext cx="209550" cy="209550"/>
          </a:xfrm>
          <a:prstGeom prst="rect">
            <a:avLst/>
          </a:prstGeom>
          <a:noFill/>
          <a:ln>
            <a:noFill/>
          </a:ln>
        </p:spPr>
      </p:pic>
      <p:sp>
        <p:nvSpPr>
          <p:cNvPr id="222" name="Google Shape;222;p17"/>
          <p:cNvSpPr txBox="1"/>
          <p:nvPr/>
        </p:nvSpPr>
        <p:spPr>
          <a:xfrm>
            <a:off x="8258175" y="270510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独立外部队列测试</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24" name="Google Shape;224;p17"/>
          <p:cNvSpPr txBox="1"/>
          <p:nvPr/>
        </p:nvSpPr>
        <p:spPr>
          <a:xfrm>
            <a:off x="8258175" y="307464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体外细胞功能学验证</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26" name="Google Shape;226;p17"/>
          <p:cNvSpPr txBox="1"/>
          <p:nvPr/>
        </p:nvSpPr>
        <p:spPr>
          <a:xfrm>
            <a:off x="8258175" y="344418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动物体内模型实验确认</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28" name="Google Shape;228;p17"/>
          <p:cNvSpPr txBox="1"/>
          <p:nvPr/>
        </p:nvSpPr>
        <p:spPr>
          <a:xfrm>
            <a:off x="8258175" y="3813720"/>
            <a:ext cx="2952750" cy="3937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临床指导意义与报告输出</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15" name="Google Shape;115;p14"/>
          <p:cNvSpPr/>
          <p:nvPr>
            <p:custDataLst>
              <p:tags r:id="rId10"/>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sp>
        <p:nvSpPr>
          <p:cNvPr id="1" name="圆角矩形 0"/>
          <p:cNvSpPr/>
          <p:nvPr/>
        </p:nvSpPr>
        <p:spPr>
          <a:xfrm>
            <a:off x="901700" y="1418590"/>
            <a:ext cx="1657350"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rPr>
              <a:t>三大核心公关方向</a:t>
            </a:r>
            <a:endParaRPr lang="zh-CN" altLang="en-US" b="1">
              <a:latin typeface="微软雅黑" panose="020B0503020204020204" charset="-122"/>
              <a:ea typeface="微软雅黑" panose="020B0503020204020204" charset="-122"/>
            </a:endParaRPr>
          </a:p>
        </p:txBody>
      </p:sp>
      <p:sp>
        <p:nvSpPr>
          <p:cNvPr id="2" name="圆角矩形 1"/>
          <p:cNvSpPr/>
          <p:nvPr/>
        </p:nvSpPr>
        <p:spPr>
          <a:xfrm>
            <a:off x="4448175" y="294005"/>
            <a:ext cx="191833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Times New Roman" panose="02020603050405020304" charset="0"/>
                <a:ea typeface="微软雅黑" panose="020B0503020204020204" charset="-122"/>
              </a:rPr>
              <a:t>研究方法与思路</a:t>
            </a:r>
            <a:endParaRPr lang="zh-CN" altLang="en-US" sz="1600" b="1">
              <a:latin typeface="Times New Roman" panose="02020603050405020304" charset="0"/>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32" name="Shape 232"/>
        <p:cNvGrpSpPr/>
        <p:nvPr/>
      </p:nvGrpSpPr>
      <p:grpSpPr>
        <a:xfrm>
          <a:off x="0" y="0"/>
          <a:ext cx="0" cy="0"/>
          <a:chOff x="0" y="0"/>
          <a:chExt cx="0" cy="0"/>
        </a:xfrm>
      </p:grpSpPr>
      <p:pic>
        <p:nvPicPr>
          <p:cNvPr id="234" name="Google Shape;234;p18" descr="image.png"/>
          <p:cNvPicPr preferRelativeResize="0"/>
          <p:nvPr/>
        </p:nvPicPr>
        <p:blipFill rotWithShape="1">
          <a:blip r:embed="rId1"/>
          <a:srcRect/>
          <a:stretch>
            <a:fillRect/>
          </a:stretch>
        </p:blipFill>
        <p:spPr>
          <a:xfrm>
            <a:off x="762000" y="1676400"/>
            <a:ext cx="5048250" cy="2233612"/>
          </a:xfrm>
          <a:prstGeom prst="rect">
            <a:avLst/>
          </a:prstGeom>
          <a:noFill/>
          <a:ln>
            <a:noFill/>
          </a:ln>
        </p:spPr>
      </p:pic>
      <p:pic>
        <p:nvPicPr>
          <p:cNvPr id="235" name="Google Shape;235;p18" descr="image.png"/>
          <p:cNvPicPr preferRelativeResize="0"/>
          <p:nvPr/>
        </p:nvPicPr>
        <p:blipFill rotWithShape="1">
          <a:blip r:embed="rId2"/>
          <a:srcRect/>
          <a:stretch>
            <a:fillRect/>
          </a:stretch>
        </p:blipFill>
        <p:spPr>
          <a:xfrm>
            <a:off x="6381750" y="1676400"/>
            <a:ext cx="5048250" cy="2233612"/>
          </a:xfrm>
          <a:prstGeom prst="rect">
            <a:avLst/>
          </a:prstGeom>
          <a:noFill/>
          <a:ln>
            <a:noFill/>
          </a:ln>
        </p:spPr>
      </p:pic>
      <p:pic>
        <p:nvPicPr>
          <p:cNvPr id="236" name="Google Shape;236;p18" descr="image.png"/>
          <p:cNvPicPr preferRelativeResize="0"/>
          <p:nvPr/>
        </p:nvPicPr>
        <p:blipFill rotWithShape="1">
          <a:blip r:embed="rId3"/>
          <a:srcRect/>
          <a:stretch>
            <a:fillRect/>
          </a:stretch>
        </p:blipFill>
        <p:spPr>
          <a:xfrm>
            <a:off x="762000" y="4291012"/>
            <a:ext cx="5048250" cy="2233612"/>
          </a:xfrm>
          <a:prstGeom prst="rect">
            <a:avLst/>
          </a:prstGeom>
          <a:noFill/>
          <a:ln>
            <a:noFill/>
          </a:ln>
        </p:spPr>
      </p:pic>
      <p:pic>
        <p:nvPicPr>
          <p:cNvPr id="237" name="Google Shape;237;p18" descr="image.png"/>
          <p:cNvPicPr preferRelativeResize="0"/>
          <p:nvPr/>
        </p:nvPicPr>
        <p:blipFill rotWithShape="1">
          <a:blip r:embed="rId4"/>
          <a:srcRect/>
          <a:stretch>
            <a:fillRect/>
          </a:stretch>
        </p:blipFill>
        <p:spPr>
          <a:xfrm>
            <a:off x="6381750" y="4291012"/>
            <a:ext cx="5048250" cy="2233612"/>
          </a:xfrm>
          <a:prstGeom prst="rect">
            <a:avLst/>
          </a:prstGeom>
          <a:noFill/>
          <a:ln>
            <a:noFill/>
          </a:ln>
        </p:spPr>
      </p:pic>
      <p:pic>
        <p:nvPicPr>
          <p:cNvPr id="243" name="Google Shape;243;p18" descr="image.png"/>
          <p:cNvPicPr preferRelativeResize="0"/>
          <p:nvPr/>
        </p:nvPicPr>
        <p:blipFill rotWithShape="1">
          <a:blip r:embed="rId5"/>
          <a:srcRect/>
          <a:stretch>
            <a:fillRect/>
          </a:stretch>
        </p:blipFill>
        <p:spPr>
          <a:xfrm>
            <a:off x="10287000" y="190500"/>
            <a:ext cx="1524000" cy="428625"/>
          </a:xfrm>
          <a:prstGeom prst="rect">
            <a:avLst/>
          </a:prstGeom>
          <a:noFill/>
          <a:ln>
            <a:noFill/>
          </a:ln>
        </p:spPr>
      </p:pic>
      <p:pic>
        <p:nvPicPr>
          <p:cNvPr id="244" name="Google Shape;244;p18" descr="image.png"/>
          <p:cNvPicPr preferRelativeResize="0"/>
          <p:nvPr/>
        </p:nvPicPr>
        <p:blipFill rotWithShape="1">
          <a:blip r:embed="rId6"/>
          <a:srcRect/>
          <a:stretch>
            <a:fillRect/>
          </a:stretch>
        </p:blipFill>
        <p:spPr>
          <a:xfrm>
            <a:off x="10555932" y="319087"/>
            <a:ext cx="171450" cy="171450"/>
          </a:xfrm>
          <a:prstGeom prst="rect">
            <a:avLst/>
          </a:prstGeom>
          <a:noFill/>
          <a:ln>
            <a:noFill/>
          </a:ln>
        </p:spPr>
      </p:pic>
      <p:sp>
        <p:nvSpPr>
          <p:cNvPr id="245" name="Google Shape;245;p18"/>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实验设计与分组 (四栏网格结构)</a:t>
            </a:r>
            <a:endPar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246" name="Google Shape;246;p18"/>
          <p:cNvSpPr txBox="1"/>
          <p:nvPr/>
        </p:nvSpPr>
        <p:spPr>
          <a:xfrm>
            <a:off x="5238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研究背景及现状</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47" name="Google Shape;247;p18"/>
          <p:cNvSpPr txBox="1"/>
          <p:nvPr/>
        </p:nvSpPr>
        <p:spPr>
          <a:xfrm>
            <a:off x="24669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研究目标和内容</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48" name="Google Shape;248;p18"/>
          <p:cNvSpPr txBox="1"/>
          <p:nvPr/>
        </p:nvSpPr>
        <p:spPr>
          <a:xfrm>
            <a:off x="63531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已开展工作</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49" name="Google Shape;249;p18"/>
          <p:cNvSpPr txBox="1"/>
          <p:nvPr/>
        </p:nvSpPr>
        <p:spPr>
          <a:xfrm>
            <a:off x="82962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预期成果与总结</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50" name="Google Shape;250;p18"/>
          <p:cNvSpPr txBox="1"/>
          <p:nvPr/>
        </p:nvSpPr>
        <p:spPr>
          <a:xfrm>
            <a:off x="971550" y="1981200"/>
            <a:ext cx="4629150" cy="118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构建特定药物耐药细胞株 (HepG2/OxR)，采用CCK-8法检测IC50验证耐药性，Western blot检测关键蛋白表达水平。</a:t>
            </a:r>
            <a:endPar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251" name="Google Shape;251;p18"/>
          <p:cNvSpPr txBox="1"/>
          <p:nvPr/>
        </p:nvSpPr>
        <p:spPr>
          <a:xfrm>
            <a:off x="6591300" y="1981200"/>
            <a:ext cx="4629150" cy="118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采用Co-IP实验验证二者体内相互作用；免疫荧光共定位检测细胞内结合位置与表达分布，明确蛋白互作关系。</a:t>
            </a:r>
            <a:endPar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252" name="Google Shape;252;p18"/>
          <p:cNvSpPr txBox="1"/>
          <p:nvPr/>
        </p:nvSpPr>
        <p:spPr>
          <a:xfrm>
            <a:off x="971550" y="4595812"/>
            <a:ext cx="4629150" cy="118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体外甲基化实验验证特异性位点的修饰情况；EdU、Transwell实验检测沉默靶基因对耐药细胞增殖、迁移的影响。</a:t>
            </a:r>
            <a:endPar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253" name="Google Shape;253;p18"/>
          <p:cNvSpPr txBox="1"/>
          <p:nvPr/>
        </p:nvSpPr>
        <p:spPr>
          <a:xfrm>
            <a:off x="6591300" y="4595812"/>
            <a:ext cx="4629150" cy="118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建立裸鼠移植瘤模型，验证靶点对体内耐药性的影响；免疫组化检测临床样本中二者表达与耐药相关性。</a:t>
            </a:r>
            <a:endParaRPr lang="en-US" sz="1600"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15" name="Google Shape;115;p14"/>
          <p:cNvSpPr/>
          <p:nvPr>
            <p:custDataLst>
              <p:tags r:id="rId7"/>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sp>
        <p:nvSpPr>
          <p:cNvPr id="3" name="圆角矩形 2"/>
          <p:cNvSpPr/>
          <p:nvPr/>
        </p:nvSpPr>
        <p:spPr>
          <a:xfrm>
            <a:off x="4448175" y="294005"/>
            <a:ext cx="191833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微软雅黑" panose="020B0503020204020204" charset="-122"/>
                <a:ea typeface="微软雅黑" panose="020B0503020204020204" charset="-122"/>
              </a:rPr>
              <a:t>研究方法与思路</a:t>
            </a:r>
            <a:endParaRPr lang="zh-CN" altLang="en-US" sz="1600" b="1">
              <a:latin typeface="微软雅黑" panose="020B0503020204020204" charset="-122"/>
              <a:ea typeface="微软雅黑" panose="020B0503020204020204" charset="-122"/>
            </a:endParaRPr>
          </a:p>
        </p:txBody>
      </p:sp>
      <p:sp>
        <p:nvSpPr>
          <p:cNvPr id="4" name="椭圆 3"/>
          <p:cNvSpPr/>
          <p:nvPr/>
        </p:nvSpPr>
        <p:spPr>
          <a:xfrm>
            <a:off x="5416550" y="3515360"/>
            <a:ext cx="1358265" cy="1369060"/>
          </a:xfrm>
          <a:prstGeom prst="ellipse">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rPr>
              <a:t>实验</a:t>
            </a:r>
            <a:endParaRPr lang="zh-CN" altLang="en-US" sz="2000" b="1">
              <a:latin typeface="微软雅黑" panose="020B0503020204020204" charset="-122"/>
              <a:ea typeface="微软雅黑" panose="020B0503020204020204" charset="-122"/>
            </a:endParaRPr>
          </a:p>
          <a:p>
            <a:pPr algn="ctr"/>
            <a:r>
              <a:rPr lang="zh-CN" altLang="en-US" sz="2000" b="1">
                <a:latin typeface="微软雅黑" panose="020B0503020204020204" charset="-122"/>
                <a:ea typeface="微软雅黑" panose="020B0503020204020204" charset="-122"/>
              </a:rPr>
              <a:t>设计</a:t>
            </a:r>
            <a:endParaRPr lang="zh-CN" altLang="en-US" sz="2000" b="1">
              <a:latin typeface="微软雅黑" panose="020B0503020204020204" charset="-122"/>
              <a:ea typeface="微软雅黑" panose="020B0503020204020204" charset="-122"/>
            </a:endParaRPr>
          </a:p>
        </p:txBody>
      </p:sp>
      <p:sp>
        <p:nvSpPr>
          <p:cNvPr id="5" name="圆角矩形 4"/>
          <p:cNvSpPr/>
          <p:nvPr/>
        </p:nvSpPr>
        <p:spPr>
          <a:xfrm>
            <a:off x="2042795" y="1511300"/>
            <a:ext cx="1945005" cy="27178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latin typeface="微软雅黑" panose="020B0503020204020204" charset="-122"/>
                <a:ea typeface="微软雅黑" panose="020B0503020204020204" charset="-122"/>
                <a:cs typeface="微软雅黑" panose="020B0503020204020204" charset="-122"/>
              </a:rPr>
              <a:t>01 </a:t>
            </a:r>
            <a:r>
              <a:rPr lang="zh-CN" altLang="en-US" b="1">
                <a:latin typeface="微软雅黑" panose="020B0503020204020204" charset="-122"/>
                <a:ea typeface="微软雅黑" panose="020B0503020204020204" charset="-122"/>
                <a:cs typeface="微软雅黑" panose="020B0503020204020204" charset="-122"/>
              </a:rPr>
              <a:t>细胞模型组</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6" name="圆角矩形 5"/>
          <p:cNvSpPr/>
          <p:nvPr/>
        </p:nvSpPr>
        <p:spPr>
          <a:xfrm>
            <a:off x="8086725" y="1534795"/>
            <a:ext cx="1945005" cy="27178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latin typeface="微软雅黑" panose="020B0503020204020204" charset="-122"/>
                <a:ea typeface="微软雅黑" panose="020B0503020204020204" charset="-122"/>
                <a:cs typeface="微软雅黑" panose="020B0503020204020204" charset="-122"/>
              </a:rPr>
              <a:t>02 </a:t>
            </a:r>
            <a:r>
              <a:rPr lang="zh-CN" altLang="en-US" b="1">
                <a:latin typeface="微软雅黑" panose="020B0503020204020204" charset="-122"/>
                <a:ea typeface="微软雅黑" panose="020B0503020204020204" charset="-122"/>
                <a:cs typeface="微软雅黑" panose="020B0503020204020204" charset="-122"/>
              </a:rPr>
              <a:t>分子互作验证组</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7" name="圆角矩形 6"/>
          <p:cNvSpPr/>
          <p:nvPr/>
        </p:nvSpPr>
        <p:spPr>
          <a:xfrm>
            <a:off x="8009890" y="4157345"/>
            <a:ext cx="1945005" cy="27178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latin typeface="微软雅黑" panose="020B0503020204020204" charset="-122"/>
                <a:ea typeface="微软雅黑" panose="020B0503020204020204" charset="-122"/>
                <a:cs typeface="微软雅黑" panose="020B0503020204020204" charset="-122"/>
              </a:rPr>
              <a:t>04 </a:t>
            </a:r>
            <a:r>
              <a:rPr lang="zh-CN" altLang="en-US" b="1">
                <a:latin typeface="微软雅黑" panose="020B0503020204020204" charset="-122"/>
                <a:ea typeface="微软雅黑" panose="020B0503020204020204" charset="-122"/>
                <a:cs typeface="微软雅黑" panose="020B0503020204020204" charset="-122"/>
              </a:rPr>
              <a:t>动物与临床组</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2042795" y="4157345"/>
            <a:ext cx="1945005" cy="27178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latin typeface="微软雅黑" panose="020B0503020204020204" charset="-122"/>
                <a:ea typeface="微软雅黑" panose="020B0503020204020204" charset="-122"/>
                <a:cs typeface="微软雅黑" panose="020B0503020204020204" charset="-122"/>
              </a:rPr>
              <a:t>03 </a:t>
            </a:r>
            <a:r>
              <a:rPr lang="zh-CN" altLang="en-US" b="1">
                <a:latin typeface="微软雅黑" panose="020B0503020204020204" charset="-122"/>
                <a:ea typeface="微软雅黑" panose="020B0503020204020204" charset="-122"/>
                <a:cs typeface="微软雅黑" panose="020B0503020204020204" charset="-122"/>
              </a:rPr>
              <a:t>机制表型验证组</a:t>
            </a:r>
            <a:endParaRPr lang="zh-CN" altLang="en-US" b="1">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57" name="Shape 257"/>
        <p:cNvGrpSpPr/>
        <p:nvPr/>
      </p:nvGrpSpPr>
      <p:grpSpPr>
        <a:xfrm>
          <a:off x="0" y="0"/>
          <a:ext cx="0" cy="0"/>
          <a:chOff x="0" y="0"/>
          <a:chExt cx="0" cy="0"/>
        </a:xfrm>
      </p:grpSpPr>
      <p:pic>
        <p:nvPicPr>
          <p:cNvPr id="258" name="Google Shape;258;p19" descr="image.png"/>
          <p:cNvPicPr preferRelativeResize="0"/>
          <p:nvPr/>
        </p:nvPicPr>
        <p:blipFill rotWithShape="1">
          <a:blip r:embed="rId1"/>
          <a:srcRect/>
          <a:stretch>
            <a:fillRect/>
          </a:stretch>
        </p:blipFill>
        <p:spPr>
          <a:xfrm>
            <a:off x="476250" y="1533525"/>
            <a:ext cx="11239500" cy="4943475"/>
          </a:xfrm>
          <a:prstGeom prst="rect">
            <a:avLst/>
          </a:prstGeom>
          <a:noFill/>
          <a:ln>
            <a:noFill/>
          </a:ln>
        </p:spPr>
      </p:pic>
      <p:pic>
        <p:nvPicPr>
          <p:cNvPr id="261" name="Google Shape;261;p19" descr="image.png"/>
          <p:cNvPicPr preferRelativeResize="0"/>
          <p:nvPr>
            <p:custDataLst>
              <p:tags r:id="rId2"/>
            </p:custDataLst>
          </p:nvPr>
        </p:nvPicPr>
        <p:blipFill rotWithShape="1">
          <a:blip r:embed="rId3"/>
          <a:srcRect/>
          <a:stretch>
            <a:fillRect/>
          </a:stretch>
        </p:blipFill>
        <p:spPr>
          <a:xfrm>
            <a:off x="781050" y="2933700"/>
            <a:ext cx="2011709" cy="3286125"/>
          </a:xfrm>
          <a:prstGeom prst="rect">
            <a:avLst/>
          </a:prstGeom>
          <a:noFill/>
          <a:ln>
            <a:noFill/>
          </a:ln>
        </p:spPr>
      </p:pic>
      <p:pic>
        <p:nvPicPr>
          <p:cNvPr id="262" name="Google Shape;262;p19" descr="image.png"/>
          <p:cNvPicPr preferRelativeResize="0"/>
          <p:nvPr>
            <p:custDataLst>
              <p:tags r:id="rId4"/>
            </p:custDataLst>
          </p:nvPr>
        </p:nvPicPr>
        <p:blipFill rotWithShape="1">
          <a:blip r:embed="rId5"/>
          <a:srcRect/>
          <a:stretch>
            <a:fillRect/>
          </a:stretch>
        </p:blipFill>
        <p:spPr>
          <a:xfrm>
            <a:off x="2935634" y="2933700"/>
            <a:ext cx="2011709" cy="3286125"/>
          </a:xfrm>
          <a:prstGeom prst="rect">
            <a:avLst/>
          </a:prstGeom>
          <a:noFill/>
          <a:ln>
            <a:noFill/>
          </a:ln>
        </p:spPr>
      </p:pic>
      <p:pic>
        <p:nvPicPr>
          <p:cNvPr id="263" name="Google Shape;263;p19" descr="image.png"/>
          <p:cNvPicPr preferRelativeResize="0"/>
          <p:nvPr>
            <p:custDataLst>
              <p:tags r:id="rId6"/>
            </p:custDataLst>
          </p:nvPr>
        </p:nvPicPr>
        <p:blipFill rotWithShape="1">
          <a:blip r:embed="rId7"/>
          <a:srcRect/>
          <a:stretch>
            <a:fillRect/>
          </a:stretch>
        </p:blipFill>
        <p:spPr>
          <a:xfrm>
            <a:off x="5090219" y="2933700"/>
            <a:ext cx="2011709" cy="3286125"/>
          </a:xfrm>
          <a:prstGeom prst="rect">
            <a:avLst/>
          </a:prstGeom>
          <a:noFill/>
          <a:ln>
            <a:noFill/>
          </a:ln>
        </p:spPr>
      </p:pic>
      <p:pic>
        <p:nvPicPr>
          <p:cNvPr id="264" name="Google Shape;264;p19" descr="image.png"/>
          <p:cNvPicPr preferRelativeResize="0"/>
          <p:nvPr>
            <p:custDataLst>
              <p:tags r:id="rId8"/>
            </p:custDataLst>
          </p:nvPr>
        </p:nvPicPr>
        <p:blipFill rotWithShape="1">
          <a:blip r:embed="rId9"/>
          <a:srcRect/>
          <a:stretch>
            <a:fillRect/>
          </a:stretch>
        </p:blipFill>
        <p:spPr>
          <a:xfrm>
            <a:off x="7244804" y="2933700"/>
            <a:ext cx="2011709" cy="3286125"/>
          </a:xfrm>
          <a:prstGeom prst="rect">
            <a:avLst/>
          </a:prstGeom>
          <a:noFill/>
          <a:ln>
            <a:noFill/>
          </a:ln>
        </p:spPr>
      </p:pic>
      <p:pic>
        <p:nvPicPr>
          <p:cNvPr id="265" name="Google Shape;265;p19" descr="image.png"/>
          <p:cNvPicPr preferRelativeResize="0"/>
          <p:nvPr>
            <p:custDataLst>
              <p:tags r:id="rId10"/>
            </p:custDataLst>
          </p:nvPr>
        </p:nvPicPr>
        <p:blipFill rotWithShape="1">
          <a:blip r:embed="rId11"/>
          <a:srcRect/>
          <a:stretch>
            <a:fillRect/>
          </a:stretch>
        </p:blipFill>
        <p:spPr>
          <a:xfrm>
            <a:off x="9399389" y="2933700"/>
            <a:ext cx="2011709" cy="3286125"/>
          </a:xfrm>
          <a:prstGeom prst="rect">
            <a:avLst/>
          </a:prstGeom>
          <a:noFill/>
          <a:ln>
            <a:noFill/>
          </a:ln>
        </p:spPr>
      </p:pic>
      <p:pic>
        <p:nvPicPr>
          <p:cNvPr id="266" name="Google Shape;266;p19" descr="image.png"/>
          <p:cNvPicPr preferRelativeResize="0"/>
          <p:nvPr/>
        </p:nvPicPr>
        <p:blipFill rotWithShape="1">
          <a:blip r:embed="rId12"/>
          <a:srcRect/>
          <a:stretch>
            <a:fillRect/>
          </a:stretch>
        </p:blipFill>
        <p:spPr>
          <a:xfrm>
            <a:off x="10287000" y="190500"/>
            <a:ext cx="1524000" cy="428625"/>
          </a:xfrm>
          <a:prstGeom prst="rect">
            <a:avLst/>
          </a:prstGeom>
          <a:noFill/>
          <a:ln>
            <a:noFill/>
          </a:ln>
        </p:spPr>
      </p:pic>
      <p:pic>
        <p:nvPicPr>
          <p:cNvPr id="267" name="Google Shape;267;p19" descr="image.png"/>
          <p:cNvPicPr preferRelativeResize="0"/>
          <p:nvPr/>
        </p:nvPicPr>
        <p:blipFill rotWithShape="1">
          <a:blip r:embed="rId13"/>
          <a:srcRect/>
          <a:stretch>
            <a:fillRect/>
          </a:stretch>
        </p:blipFill>
        <p:spPr>
          <a:xfrm>
            <a:off x="10555932" y="319087"/>
            <a:ext cx="171450" cy="171450"/>
          </a:xfrm>
          <a:prstGeom prst="rect">
            <a:avLst/>
          </a:prstGeom>
          <a:noFill/>
          <a:ln>
            <a:noFill/>
          </a:ln>
        </p:spPr>
      </p:pic>
      <p:sp>
        <p:nvSpPr>
          <p:cNvPr id="268" name="Google Shape;268;p19"/>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项目执行阶段 (五栏流程结构)</a:t>
            </a:r>
            <a:endPar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269" name="Google Shape;269;p19"/>
          <p:cNvSpPr txBox="1"/>
          <p:nvPr/>
        </p:nvSpPr>
        <p:spPr>
          <a:xfrm>
            <a:off x="5238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研究背景及现状</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70" name="Google Shape;270;p19"/>
          <p:cNvSpPr txBox="1"/>
          <p:nvPr/>
        </p:nvSpPr>
        <p:spPr>
          <a:xfrm>
            <a:off x="24669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研究目标和内容</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71" name="Google Shape;271;p19"/>
          <p:cNvSpPr txBox="1"/>
          <p:nvPr/>
        </p:nvSpPr>
        <p:spPr>
          <a:xfrm>
            <a:off x="44100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研究方法与思路</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72" name="Google Shape;272;p19"/>
          <p:cNvSpPr txBox="1"/>
          <p:nvPr/>
        </p:nvSpPr>
        <p:spPr>
          <a:xfrm>
            <a:off x="82962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预期成果与总结</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pic>
        <p:nvPicPr>
          <p:cNvPr id="273" name="Google Shape;273;p19" descr="image.png"/>
          <p:cNvPicPr preferRelativeResize="0"/>
          <p:nvPr>
            <p:custDataLst>
              <p:tags r:id="rId14"/>
            </p:custDataLst>
          </p:nvPr>
        </p:nvPicPr>
        <p:blipFill rotWithShape="1">
          <a:blip r:embed="rId15"/>
          <a:srcRect/>
          <a:stretch>
            <a:fillRect/>
          </a:stretch>
        </p:blipFill>
        <p:spPr>
          <a:xfrm>
            <a:off x="1624905" y="2243137"/>
            <a:ext cx="323850" cy="285750"/>
          </a:xfrm>
          <a:prstGeom prst="rect">
            <a:avLst/>
          </a:prstGeom>
          <a:noFill/>
          <a:ln>
            <a:noFill/>
          </a:ln>
        </p:spPr>
      </p:pic>
      <p:sp>
        <p:nvSpPr>
          <p:cNvPr id="274" name="Google Shape;274;p19"/>
          <p:cNvSpPr txBox="1"/>
          <p:nvPr>
            <p:custDataLst>
              <p:tags r:id="rId16"/>
            </p:custDataLst>
          </p:nvPr>
        </p:nvSpPr>
        <p:spPr>
          <a:xfrm>
            <a:off x="840771" y="3086100"/>
            <a:ext cx="1892267"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文献调研</a:t>
            </a:r>
            <a:endPar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75" name="Google Shape;275;p19"/>
          <p:cNvSpPr txBox="1"/>
          <p:nvPr>
            <p:custDataLst>
              <p:tags r:id="rId17"/>
            </p:custDataLst>
          </p:nvPr>
        </p:nvSpPr>
        <p:spPr>
          <a:xfrm>
            <a:off x="885825" y="3409950"/>
            <a:ext cx="1802159" cy="903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完成200+篇核心文献梳理，确定切入点及假设</a:t>
            </a:r>
            <a:endParaRPr lang="en-US"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pic>
        <p:nvPicPr>
          <p:cNvPr id="276" name="Google Shape;276;p19" descr="image.png"/>
          <p:cNvPicPr preferRelativeResize="0"/>
          <p:nvPr>
            <p:custDataLst>
              <p:tags r:id="rId18"/>
            </p:custDataLst>
          </p:nvPr>
        </p:nvPicPr>
        <p:blipFill rotWithShape="1">
          <a:blip r:embed="rId19"/>
          <a:srcRect/>
          <a:stretch>
            <a:fillRect/>
          </a:stretch>
        </p:blipFill>
        <p:spPr>
          <a:xfrm>
            <a:off x="3817590" y="2243137"/>
            <a:ext cx="247650" cy="285750"/>
          </a:xfrm>
          <a:prstGeom prst="rect">
            <a:avLst/>
          </a:prstGeom>
          <a:noFill/>
          <a:ln>
            <a:noFill/>
          </a:ln>
        </p:spPr>
      </p:pic>
      <p:sp>
        <p:nvSpPr>
          <p:cNvPr id="277" name="Google Shape;277;p19"/>
          <p:cNvSpPr txBox="1"/>
          <p:nvPr>
            <p:custDataLst>
              <p:tags r:id="rId20"/>
            </p:custDataLst>
          </p:nvPr>
        </p:nvSpPr>
        <p:spPr>
          <a:xfrm>
            <a:off x="2995355" y="3086100"/>
            <a:ext cx="1892267"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预实验开展</a:t>
            </a:r>
            <a:endPar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78" name="Google Shape;278;p19"/>
          <p:cNvSpPr txBox="1"/>
          <p:nvPr>
            <p:custDataLst>
              <p:tags r:id="rId21"/>
            </p:custDataLst>
          </p:nvPr>
        </p:nvSpPr>
        <p:spPr>
          <a:xfrm>
            <a:off x="3040409" y="3409950"/>
            <a:ext cx="1802159" cy="6026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完成质粒构建与初步转染，优化实验条件参数</a:t>
            </a:r>
            <a:endParaRPr lang="en-US"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pic>
        <p:nvPicPr>
          <p:cNvPr id="279" name="Google Shape;279;p19" descr="image.png"/>
          <p:cNvPicPr preferRelativeResize="0"/>
          <p:nvPr>
            <p:custDataLst>
              <p:tags r:id="rId22"/>
            </p:custDataLst>
          </p:nvPr>
        </p:nvPicPr>
        <p:blipFill rotWithShape="1">
          <a:blip r:embed="rId23"/>
          <a:srcRect/>
          <a:stretch>
            <a:fillRect/>
          </a:stretch>
        </p:blipFill>
        <p:spPr>
          <a:xfrm>
            <a:off x="5953125" y="2243137"/>
            <a:ext cx="285750" cy="285750"/>
          </a:xfrm>
          <a:prstGeom prst="rect">
            <a:avLst/>
          </a:prstGeom>
          <a:noFill/>
          <a:ln>
            <a:noFill/>
          </a:ln>
        </p:spPr>
      </p:pic>
      <p:sp>
        <p:nvSpPr>
          <p:cNvPr id="280" name="Google Shape;280;p19"/>
          <p:cNvSpPr txBox="1"/>
          <p:nvPr>
            <p:custDataLst>
              <p:tags r:id="rId24"/>
            </p:custDataLst>
          </p:nvPr>
        </p:nvSpPr>
        <p:spPr>
          <a:xfrm>
            <a:off x="5149940" y="3086100"/>
            <a:ext cx="1892267"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核心数据收集</a:t>
            </a:r>
            <a:endPar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81" name="Google Shape;281;p19"/>
          <p:cNvSpPr txBox="1"/>
          <p:nvPr>
            <p:custDataLst>
              <p:tags r:id="rId25"/>
            </p:custDataLst>
          </p:nvPr>
        </p:nvSpPr>
        <p:spPr>
          <a:xfrm>
            <a:off x="5194994" y="3409950"/>
            <a:ext cx="1802159" cy="6026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大批量处理样本，完成转录组测序及数据挖掘</a:t>
            </a:r>
            <a:endParaRPr lang="en-US" b="0"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pic>
        <p:nvPicPr>
          <p:cNvPr id="282" name="Google Shape;282;p19" descr="image.png"/>
          <p:cNvPicPr preferRelativeResize="0"/>
          <p:nvPr>
            <p:custDataLst>
              <p:tags r:id="rId26"/>
            </p:custDataLst>
          </p:nvPr>
        </p:nvPicPr>
        <p:blipFill rotWithShape="1">
          <a:blip r:embed="rId27"/>
          <a:srcRect/>
          <a:stretch>
            <a:fillRect/>
          </a:stretch>
        </p:blipFill>
        <p:spPr>
          <a:xfrm>
            <a:off x="8069609" y="2243137"/>
            <a:ext cx="361950" cy="285750"/>
          </a:xfrm>
          <a:prstGeom prst="rect">
            <a:avLst/>
          </a:prstGeom>
          <a:noFill/>
          <a:ln>
            <a:noFill/>
          </a:ln>
        </p:spPr>
      </p:pic>
      <p:sp>
        <p:nvSpPr>
          <p:cNvPr id="283" name="Google Shape;283;p19"/>
          <p:cNvSpPr txBox="1"/>
          <p:nvPr>
            <p:custDataLst>
              <p:tags r:id="rId28"/>
            </p:custDataLst>
          </p:nvPr>
        </p:nvSpPr>
        <p:spPr>
          <a:xfrm>
            <a:off x="7304525" y="3086100"/>
            <a:ext cx="1892267"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机制深入验证</a:t>
            </a:r>
            <a:endPar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84" name="Google Shape;284;p19"/>
          <p:cNvSpPr txBox="1"/>
          <p:nvPr>
            <p:custDataLst>
              <p:tags r:id="rId29"/>
            </p:custDataLst>
          </p:nvPr>
        </p:nvSpPr>
        <p:spPr>
          <a:xfrm>
            <a:off x="7349579" y="3409950"/>
            <a:ext cx="1802159" cy="6026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进行Co-IP、ChIP等关键分子机制验证实验</a:t>
            </a:r>
            <a:endParaRPr lang="en-US"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pic>
        <p:nvPicPr>
          <p:cNvPr id="285" name="Google Shape;285;p19" descr="image.png"/>
          <p:cNvPicPr preferRelativeResize="0"/>
          <p:nvPr>
            <p:custDataLst>
              <p:tags r:id="rId30"/>
            </p:custDataLst>
          </p:nvPr>
        </p:nvPicPr>
        <p:blipFill rotWithShape="1">
          <a:blip r:embed="rId31"/>
          <a:srcRect/>
          <a:stretch>
            <a:fillRect/>
          </a:stretch>
        </p:blipFill>
        <p:spPr>
          <a:xfrm>
            <a:off x="10243244" y="2243137"/>
            <a:ext cx="323850" cy="285750"/>
          </a:xfrm>
          <a:prstGeom prst="rect">
            <a:avLst/>
          </a:prstGeom>
          <a:noFill/>
          <a:ln>
            <a:noFill/>
          </a:ln>
        </p:spPr>
      </p:pic>
      <p:sp>
        <p:nvSpPr>
          <p:cNvPr id="286" name="Google Shape;286;p19"/>
          <p:cNvSpPr txBox="1"/>
          <p:nvPr>
            <p:custDataLst>
              <p:tags r:id="rId32"/>
            </p:custDataLst>
          </p:nvPr>
        </p:nvSpPr>
        <p:spPr>
          <a:xfrm>
            <a:off x="9459110" y="3086100"/>
            <a:ext cx="1892267"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论文撰写</a:t>
            </a:r>
            <a:endParaRPr lang="en-US" sz="16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287" name="Google Shape;287;p19"/>
          <p:cNvSpPr txBox="1"/>
          <p:nvPr>
            <p:custDataLst>
              <p:tags r:id="rId33"/>
            </p:custDataLst>
          </p:nvPr>
        </p:nvSpPr>
        <p:spPr>
          <a:xfrm>
            <a:off x="9504164" y="3409950"/>
            <a:ext cx="1802159" cy="6026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汇总所有图表结果，准备进行SCI期刊投稿</a:t>
            </a:r>
            <a:endParaRPr lang="en-US"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pic>
        <p:nvPicPr>
          <p:cNvPr id="288" name="Google Shape;288;p19" descr="image.png"/>
          <p:cNvPicPr preferRelativeResize="0"/>
          <p:nvPr>
            <p:custDataLst>
              <p:tags r:id="rId34"/>
            </p:custDataLst>
          </p:nvPr>
        </p:nvPicPr>
        <p:blipFill rotWithShape="1">
          <a:blip r:embed="rId35"/>
          <a:srcRect/>
          <a:stretch>
            <a:fillRect/>
          </a:stretch>
        </p:blipFill>
        <p:spPr>
          <a:xfrm>
            <a:off x="1429642" y="2028825"/>
            <a:ext cx="714375" cy="714375"/>
          </a:xfrm>
          <a:prstGeom prst="rect">
            <a:avLst/>
          </a:prstGeom>
          <a:noFill/>
          <a:ln>
            <a:noFill/>
          </a:ln>
        </p:spPr>
      </p:pic>
      <p:pic>
        <p:nvPicPr>
          <p:cNvPr id="289" name="Google Shape;289;p19" descr="image.png"/>
          <p:cNvPicPr preferRelativeResize="0"/>
          <p:nvPr>
            <p:custDataLst>
              <p:tags r:id="rId36"/>
            </p:custDataLst>
          </p:nvPr>
        </p:nvPicPr>
        <p:blipFill rotWithShape="1">
          <a:blip r:embed="rId37"/>
          <a:srcRect/>
          <a:stretch>
            <a:fillRect/>
          </a:stretch>
        </p:blipFill>
        <p:spPr>
          <a:xfrm>
            <a:off x="3584227" y="2028825"/>
            <a:ext cx="714375" cy="714375"/>
          </a:xfrm>
          <a:prstGeom prst="rect">
            <a:avLst/>
          </a:prstGeom>
          <a:noFill/>
          <a:ln>
            <a:noFill/>
          </a:ln>
        </p:spPr>
      </p:pic>
      <p:pic>
        <p:nvPicPr>
          <p:cNvPr id="290" name="Google Shape;290;p19" descr="image.png"/>
          <p:cNvPicPr preferRelativeResize="0"/>
          <p:nvPr>
            <p:custDataLst>
              <p:tags r:id="rId38"/>
            </p:custDataLst>
          </p:nvPr>
        </p:nvPicPr>
        <p:blipFill rotWithShape="1">
          <a:blip r:embed="rId37"/>
          <a:srcRect/>
          <a:stretch>
            <a:fillRect/>
          </a:stretch>
        </p:blipFill>
        <p:spPr>
          <a:xfrm>
            <a:off x="5738812" y="2028825"/>
            <a:ext cx="714375" cy="714375"/>
          </a:xfrm>
          <a:prstGeom prst="rect">
            <a:avLst/>
          </a:prstGeom>
          <a:noFill/>
          <a:ln>
            <a:noFill/>
          </a:ln>
        </p:spPr>
      </p:pic>
      <p:pic>
        <p:nvPicPr>
          <p:cNvPr id="291" name="Google Shape;291;p19" descr="image.png"/>
          <p:cNvPicPr preferRelativeResize="0"/>
          <p:nvPr>
            <p:custDataLst>
              <p:tags r:id="rId39"/>
            </p:custDataLst>
          </p:nvPr>
        </p:nvPicPr>
        <p:blipFill rotWithShape="1">
          <a:blip r:embed="rId37"/>
          <a:srcRect/>
          <a:stretch>
            <a:fillRect/>
          </a:stretch>
        </p:blipFill>
        <p:spPr>
          <a:xfrm>
            <a:off x="7893397" y="2028825"/>
            <a:ext cx="714375" cy="714375"/>
          </a:xfrm>
          <a:prstGeom prst="rect">
            <a:avLst/>
          </a:prstGeom>
          <a:noFill/>
          <a:ln>
            <a:noFill/>
          </a:ln>
        </p:spPr>
      </p:pic>
      <p:pic>
        <p:nvPicPr>
          <p:cNvPr id="292" name="Google Shape;292;p19" descr="image.png"/>
          <p:cNvPicPr preferRelativeResize="0"/>
          <p:nvPr>
            <p:custDataLst>
              <p:tags r:id="rId40"/>
            </p:custDataLst>
          </p:nvPr>
        </p:nvPicPr>
        <p:blipFill rotWithShape="1">
          <a:blip r:embed="rId37"/>
          <a:srcRect/>
          <a:stretch>
            <a:fillRect/>
          </a:stretch>
        </p:blipFill>
        <p:spPr>
          <a:xfrm>
            <a:off x="10047982" y="2028825"/>
            <a:ext cx="714375" cy="714375"/>
          </a:xfrm>
          <a:prstGeom prst="rect">
            <a:avLst/>
          </a:prstGeom>
          <a:noFill/>
          <a:ln>
            <a:noFill/>
          </a:ln>
        </p:spPr>
      </p:pic>
      <p:pic>
        <p:nvPicPr>
          <p:cNvPr id="293" name="Google Shape;293;p19" descr="image.png"/>
          <p:cNvPicPr preferRelativeResize="0"/>
          <p:nvPr>
            <p:custDataLst>
              <p:tags r:id="rId41"/>
            </p:custDataLst>
          </p:nvPr>
        </p:nvPicPr>
        <p:blipFill rotWithShape="1">
          <a:blip r:embed="rId42"/>
          <a:srcRect/>
          <a:stretch>
            <a:fillRect/>
          </a:stretch>
        </p:blipFill>
        <p:spPr>
          <a:xfrm>
            <a:off x="2735608" y="2362200"/>
            <a:ext cx="200025" cy="247650"/>
          </a:xfrm>
          <a:prstGeom prst="rect">
            <a:avLst/>
          </a:prstGeom>
          <a:noFill/>
          <a:ln>
            <a:noFill/>
          </a:ln>
        </p:spPr>
      </p:pic>
      <p:pic>
        <p:nvPicPr>
          <p:cNvPr id="294" name="Google Shape;294;p19" descr="image.png"/>
          <p:cNvPicPr preferRelativeResize="0"/>
          <p:nvPr>
            <p:custDataLst>
              <p:tags r:id="rId43"/>
            </p:custDataLst>
          </p:nvPr>
        </p:nvPicPr>
        <p:blipFill rotWithShape="1">
          <a:blip r:embed="rId42"/>
          <a:srcRect/>
          <a:stretch>
            <a:fillRect/>
          </a:stretch>
        </p:blipFill>
        <p:spPr>
          <a:xfrm>
            <a:off x="4890193" y="2362200"/>
            <a:ext cx="200025" cy="247650"/>
          </a:xfrm>
          <a:prstGeom prst="rect">
            <a:avLst/>
          </a:prstGeom>
          <a:noFill/>
          <a:ln>
            <a:noFill/>
          </a:ln>
        </p:spPr>
      </p:pic>
      <p:pic>
        <p:nvPicPr>
          <p:cNvPr id="295" name="Google Shape;295;p19" descr="image.png"/>
          <p:cNvPicPr preferRelativeResize="0"/>
          <p:nvPr>
            <p:custDataLst>
              <p:tags r:id="rId44"/>
            </p:custDataLst>
          </p:nvPr>
        </p:nvPicPr>
        <p:blipFill rotWithShape="1">
          <a:blip r:embed="rId42"/>
          <a:srcRect/>
          <a:stretch>
            <a:fillRect/>
          </a:stretch>
        </p:blipFill>
        <p:spPr>
          <a:xfrm>
            <a:off x="7044778" y="2362200"/>
            <a:ext cx="200025" cy="247650"/>
          </a:xfrm>
          <a:prstGeom prst="rect">
            <a:avLst/>
          </a:prstGeom>
          <a:noFill/>
          <a:ln>
            <a:noFill/>
          </a:ln>
        </p:spPr>
      </p:pic>
      <p:pic>
        <p:nvPicPr>
          <p:cNvPr id="296" name="Google Shape;296;p19" descr="image.png"/>
          <p:cNvPicPr preferRelativeResize="0"/>
          <p:nvPr>
            <p:custDataLst>
              <p:tags r:id="rId45"/>
            </p:custDataLst>
          </p:nvPr>
        </p:nvPicPr>
        <p:blipFill rotWithShape="1">
          <a:blip r:embed="rId42"/>
          <a:srcRect/>
          <a:stretch>
            <a:fillRect/>
          </a:stretch>
        </p:blipFill>
        <p:spPr>
          <a:xfrm>
            <a:off x="9199362" y="2362200"/>
            <a:ext cx="200025" cy="247650"/>
          </a:xfrm>
          <a:prstGeom prst="rect">
            <a:avLst/>
          </a:prstGeom>
          <a:noFill/>
          <a:ln>
            <a:noFill/>
          </a:ln>
        </p:spPr>
      </p:pic>
      <p:sp>
        <p:nvSpPr>
          <p:cNvPr id="115" name="Google Shape;115;p14"/>
          <p:cNvSpPr/>
          <p:nvPr>
            <p:custDataLst>
              <p:tags r:id="rId46"/>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pic>
        <p:nvPicPr>
          <p:cNvPr id="1" name="图片 0"/>
          <p:cNvPicPr>
            <a:picLocks noChangeAspect="1"/>
          </p:cNvPicPr>
          <p:nvPr/>
        </p:nvPicPr>
        <p:blipFill>
          <a:blip r:embed="rId47"/>
          <a:stretch>
            <a:fillRect/>
          </a:stretch>
        </p:blipFill>
        <p:spPr>
          <a:xfrm>
            <a:off x="1592580" y="2232025"/>
            <a:ext cx="426720" cy="281940"/>
          </a:xfrm>
          <a:prstGeom prst="rect">
            <a:avLst/>
          </a:prstGeom>
        </p:spPr>
      </p:pic>
      <p:sp>
        <p:nvSpPr>
          <p:cNvPr id="2" name="圆角矩形 1"/>
          <p:cNvSpPr/>
          <p:nvPr/>
        </p:nvSpPr>
        <p:spPr>
          <a:xfrm>
            <a:off x="6366510" y="300990"/>
            <a:ext cx="191833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Times New Roman" panose="02020603050405020304" charset="0"/>
                <a:ea typeface="微软雅黑" panose="020B0503020204020204" charset="-122"/>
              </a:rPr>
              <a:t>已开展工作</a:t>
            </a:r>
            <a:endParaRPr lang="zh-CN" altLang="en-US" sz="1600" b="1">
              <a:latin typeface="Times New Roman" panose="02020603050405020304" charset="0"/>
              <a:ea typeface="微软雅黑" panose="020B0503020204020204" charset="-122"/>
            </a:endParaRPr>
          </a:p>
        </p:txBody>
      </p:sp>
      <p:sp>
        <p:nvSpPr>
          <p:cNvPr id="5" name="圆角矩形 4"/>
          <p:cNvSpPr/>
          <p:nvPr/>
        </p:nvSpPr>
        <p:spPr>
          <a:xfrm>
            <a:off x="1260475" y="1402715"/>
            <a:ext cx="1945005" cy="27178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b="1">
                <a:latin typeface="微软雅黑" panose="020B0503020204020204" charset="-122"/>
                <a:ea typeface="微软雅黑" panose="020B0503020204020204" charset="-122"/>
                <a:cs typeface="微软雅黑" panose="020B0503020204020204" charset="-122"/>
              </a:rPr>
              <a:t>任务逻辑链</a:t>
            </a:r>
            <a:endParaRPr lang="zh-CN" b="1">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48"/>
          <a:stretch>
            <a:fillRect/>
          </a:stretch>
        </p:blipFill>
        <p:spPr>
          <a:xfrm>
            <a:off x="3796030" y="2204720"/>
            <a:ext cx="304800" cy="320040"/>
          </a:xfrm>
          <a:prstGeom prst="rect">
            <a:avLst/>
          </a:prstGeom>
        </p:spPr>
      </p:pic>
      <p:pic>
        <p:nvPicPr>
          <p:cNvPr id="7" name="图片 6"/>
          <p:cNvPicPr>
            <a:picLocks noChangeAspect="1"/>
          </p:cNvPicPr>
          <p:nvPr/>
        </p:nvPicPr>
        <p:blipFill>
          <a:blip r:embed="rId49"/>
          <a:stretch>
            <a:fillRect/>
          </a:stretch>
        </p:blipFill>
        <p:spPr>
          <a:xfrm>
            <a:off x="5953125" y="2232025"/>
            <a:ext cx="320040" cy="281940"/>
          </a:xfrm>
          <a:prstGeom prst="rect">
            <a:avLst/>
          </a:prstGeom>
        </p:spPr>
      </p:pic>
      <p:pic>
        <p:nvPicPr>
          <p:cNvPr id="8" name="图片 7"/>
          <p:cNvPicPr>
            <a:picLocks noChangeAspect="1"/>
          </p:cNvPicPr>
          <p:nvPr/>
        </p:nvPicPr>
        <p:blipFill>
          <a:blip r:embed="rId50"/>
          <a:stretch>
            <a:fillRect/>
          </a:stretch>
        </p:blipFill>
        <p:spPr>
          <a:xfrm>
            <a:off x="8069580" y="2204720"/>
            <a:ext cx="388620" cy="312420"/>
          </a:xfrm>
          <a:prstGeom prst="rect">
            <a:avLst/>
          </a:prstGeom>
        </p:spPr>
      </p:pic>
      <p:pic>
        <p:nvPicPr>
          <p:cNvPr id="9" name="图片 8"/>
          <p:cNvPicPr>
            <a:picLocks noChangeAspect="1"/>
          </p:cNvPicPr>
          <p:nvPr/>
        </p:nvPicPr>
        <p:blipFill>
          <a:blip r:embed="rId51"/>
          <a:stretch>
            <a:fillRect/>
          </a:stretch>
        </p:blipFill>
        <p:spPr>
          <a:xfrm>
            <a:off x="10246995" y="2204720"/>
            <a:ext cx="320040" cy="350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00" name="Shape 300"/>
        <p:cNvGrpSpPr/>
        <p:nvPr/>
      </p:nvGrpSpPr>
      <p:grpSpPr>
        <a:xfrm>
          <a:off x="0" y="0"/>
          <a:ext cx="0" cy="0"/>
          <a:chOff x="0" y="0"/>
          <a:chExt cx="0" cy="0"/>
        </a:xfrm>
      </p:grpSpPr>
      <p:pic>
        <p:nvPicPr>
          <p:cNvPr id="303" name="Google Shape;303;p20" descr="image.png"/>
          <p:cNvPicPr preferRelativeResize="0"/>
          <p:nvPr/>
        </p:nvPicPr>
        <p:blipFill rotWithShape="1">
          <a:blip r:embed="rId1"/>
          <a:srcRect/>
          <a:stretch>
            <a:fillRect/>
          </a:stretch>
        </p:blipFill>
        <p:spPr>
          <a:xfrm>
            <a:off x="10287000" y="190500"/>
            <a:ext cx="1524000" cy="428625"/>
          </a:xfrm>
          <a:prstGeom prst="rect">
            <a:avLst/>
          </a:prstGeom>
          <a:noFill/>
          <a:ln>
            <a:noFill/>
          </a:ln>
        </p:spPr>
      </p:pic>
      <p:pic>
        <p:nvPicPr>
          <p:cNvPr id="304" name="Google Shape;304;p20" descr="image.png"/>
          <p:cNvPicPr preferRelativeResize="0"/>
          <p:nvPr/>
        </p:nvPicPr>
        <p:blipFill rotWithShape="1">
          <a:blip r:embed="rId2"/>
          <a:srcRect/>
          <a:stretch>
            <a:fillRect/>
          </a:stretch>
        </p:blipFill>
        <p:spPr>
          <a:xfrm>
            <a:off x="10555932" y="319087"/>
            <a:ext cx="171450" cy="171450"/>
          </a:xfrm>
          <a:prstGeom prst="rect">
            <a:avLst/>
          </a:prstGeom>
          <a:noFill/>
          <a:ln>
            <a:noFill/>
          </a:ln>
        </p:spPr>
      </p:pic>
      <p:sp>
        <p:nvSpPr>
          <p:cNvPr id="305" name="Google Shape;305;p20"/>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项目总体进度与时间安排 (进度表板式)</a:t>
            </a:r>
            <a:endParaRPr lang="en-US" sz="24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06" name="Google Shape;306;p20"/>
          <p:cNvSpPr txBox="1"/>
          <p:nvPr/>
        </p:nvSpPr>
        <p:spPr>
          <a:xfrm>
            <a:off x="5238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研究背景及现状</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07" name="Google Shape;307;p20"/>
          <p:cNvSpPr txBox="1"/>
          <p:nvPr/>
        </p:nvSpPr>
        <p:spPr>
          <a:xfrm>
            <a:off x="24669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研究目标和内容</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08" name="Google Shape;308;p20"/>
          <p:cNvSpPr txBox="1"/>
          <p:nvPr/>
        </p:nvSpPr>
        <p:spPr>
          <a:xfrm>
            <a:off x="44100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研究方法与思路</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09" name="Google Shape;309;p20"/>
          <p:cNvSpPr txBox="1"/>
          <p:nvPr/>
        </p:nvSpPr>
        <p:spPr>
          <a:xfrm>
            <a:off x="82962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预期成果与总结</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15" name="Google Shape;115;p14"/>
          <p:cNvSpPr/>
          <p:nvPr>
            <p:custDataLst>
              <p:tags r:id="rId3"/>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sp>
        <p:nvSpPr>
          <p:cNvPr id="2" name="圆角矩形 1"/>
          <p:cNvSpPr/>
          <p:nvPr/>
        </p:nvSpPr>
        <p:spPr>
          <a:xfrm>
            <a:off x="6366510" y="300990"/>
            <a:ext cx="191833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Times New Roman" panose="02020603050405020304" charset="0"/>
                <a:ea typeface="微软雅黑" panose="020B0503020204020204" charset="-122"/>
              </a:rPr>
              <a:t>已开展工作</a:t>
            </a:r>
            <a:endParaRPr lang="zh-CN" altLang="en-US" sz="1600" b="1">
              <a:latin typeface="Times New Roman" panose="02020603050405020304" charset="0"/>
              <a:ea typeface="微软雅黑" panose="020B0503020204020204" charset="-122"/>
            </a:endParaRPr>
          </a:p>
        </p:txBody>
      </p:sp>
      <p:graphicFrame>
        <p:nvGraphicFramePr>
          <p:cNvPr id="3" name="表格 2"/>
          <p:cNvGraphicFramePr/>
          <p:nvPr>
            <p:custDataLst>
              <p:tags r:id="rId4"/>
            </p:custDataLst>
          </p:nvPr>
        </p:nvGraphicFramePr>
        <p:xfrm>
          <a:off x="1057275" y="1765300"/>
          <a:ext cx="9890125" cy="4132580"/>
        </p:xfrm>
        <a:graphic>
          <a:graphicData uri="http://schemas.openxmlformats.org/drawingml/2006/table">
            <a:tbl>
              <a:tblPr firstRow="1" bandRow="1">
                <a:tableStyleId>{5C22544A-7EE6-4342-B048-85BDC9FD1C3A}</a:tableStyleId>
              </a:tblPr>
              <a:tblGrid>
                <a:gridCol w="1978025"/>
                <a:gridCol w="1978025"/>
                <a:gridCol w="1978025"/>
                <a:gridCol w="1978025"/>
                <a:gridCol w="1978025"/>
              </a:tblGrid>
              <a:tr h="1033145">
                <a:tc>
                  <a:txBody>
                    <a:bodyPr/>
                    <a:p>
                      <a:pPr>
                        <a:buNone/>
                      </a:pPr>
                      <a:endParaRPr lang="zh-CN" altLang="en-US"/>
                    </a:p>
                  </a:txBody>
                  <a:tcPr>
                    <a:solidFill>
                      <a:srgbClr val="16365C"/>
                    </a:solidFill>
                  </a:tcPr>
                </a:tc>
                <a:tc>
                  <a:txBody>
                    <a:bodyPr/>
                    <a:p>
                      <a:pPr>
                        <a:buNone/>
                      </a:pPr>
                      <a:endParaRPr lang="zh-CN" altLang="en-US"/>
                    </a:p>
                  </a:txBody>
                  <a:tcPr>
                    <a:solidFill>
                      <a:srgbClr val="16365C"/>
                    </a:solidFill>
                  </a:tcPr>
                </a:tc>
                <a:tc>
                  <a:txBody>
                    <a:bodyPr/>
                    <a:p>
                      <a:pPr>
                        <a:buNone/>
                      </a:pPr>
                      <a:endParaRPr lang="zh-CN" altLang="en-US"/>
                    </a:p>
                  </a:txBody>
                  <a:tcPr>
                    <a:solidFill>
                      <a:srgbClr val="16365C"/>
                    </a:solidFill>
                  </a:tcPr>
                </a:tc>
                <a:tc>
                  <a:txBody>
                    <a:bodyPr/>
                    <a:p>
                      <a:pPr>
                        <a:buNone/>
                      </a:pPr>
                      <a:endParaRPr lang="zh-CN" altLang="en-US"/>
                    </a:p>
                  </a:txBody>
                  <a:tcPr>
                    <a:solidFill>
                      <a:srgbClr val="16365C"/>
                    </a:solidFill>
                  </a:tcPr>
                </a:tc>
                <a:tc>
                  <a:txBody>
                    <a:bodyPr/>
                    <a:p>
                      <a:pPr>
                        <a:buNone/>
                      </a:pPr>
                      <a:endParaRPr lang="zh-CN" altLang="en-US"/>
                    </a:p>
                  </a:txBody>
                  <a:tcPr>
                    <a:solidFill>
                      <a:srgbClr val="16365C"/>
                    </a:solidFill>
                  </a:tcPr>
                </a:tc>
              </a:tr>
              <a:tr h="1033145">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1033145">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1033145">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13" name="Shape 313"/>
        <p:cNvGrpSpPr/>
        <p:nvPr/>
      </p:nvGrpSpPr>
      <p:grpSpPr>
        <a:xfrm>
          <a:off x="0" y="0"/>
          <a:ext cx="0" cy="0"/>
          <a:chOff x="0" y="0"/>
          <a:chExt cx="0" cy="0"/>
        </a:xfrm>
      </p:grpSpPr>
      <p:pic>
        <p:nvPicPr>
          <p:cNvPr id="314" name="Google Shape;314;p21" descr="image.png"/>
          <p:cNvPicPr preferRelativeResize="0"/>
          <p:nvPr/>
        </p:nvPicPr>
        <p:blipFill rotWithShape="1">
          <a:blip r:embed="rId1"/>
          <a:srcRect/>
          <a:stretch>
            <a:fillRect/>
          </a:stretch>
        </p:blipFill>
        <p:spPr>
          <a:xfrm>
            <a:off x="476250" y="1533525"/>
            <a:ext cx="11239500" cy="4943475"/>
          </a:xfrm>
          <a:prstGeom prst="rect">
            <a:avLst/>
          </a:prstGeom>
          <a:noFill/>
          <a:ln>
            <a:noFill/>
          </a:ln>
        </p:spPr>
      </p:pic>
      <p:pic>
        <p:nvPicPr>
          <p:cNvPr id="316" name="Google Shape;316;p21" descr="image.png"/>
          <p:cNvPicPr preferRelativeResize="0"/>
          <p:nvPr/>
        </p:nvPicPr>
        <p:blipFill rotWithShape="1">
          <a:blip r:embed="rId2"/>
          <a:srcRect/>
          <a:stretch>
            <a:fillRect/>
          </a:stretch>
        </p:blipFill>
        <p:spPr>
          <a:xfrm>
            <a:off x="10287000" y="190500"/>
            <a:ext cx="1524000" cy="428625"/>
          </a:xfrm>
          <a:prstGeom prst="rect">
            <a:avLst/>
          </a:prstGeom>
          <a:noFill/>
          <a:ln>
            <a:noFill/>
          </a:ln>
        </p:spPr>
      </p:pic>
      <p:pic>
        <p:nvPicPr>
          <p:cNvPr id="317" name="Google Shape;317;p21" descr="image.png"/>
          <p:cNvPicPr preferRelativeResize="0"/>
          <p:nvPr/>
        </p:nvPicPr>
        <p:blipFill rotWithShape="1">
          <a:blip r:embed="rId3"/>
          <a:srcRect/>
          <a:stretch>
            <a:fillRect/>
          </a:stretch>
        </p:blipFill>
        <p:spPr>
          <a:xfrm>
            <a:off x="10555932" y="319087"/>
            <a:ext cx="171450" cy="171450"/>
          </a:xfrm>
          <a:prstGeom prst="rect">
            <a:avLst/>
          </a:prstGeom>
          <a:noFill/>
          <a:ln>
            <a:noFill/>
          </a:ln>
        </p:spPr>
      </p:pic>
      <p:sp>
        <p:nvSpPr>
          <p:cNvPr id="318" name="Google Shape;318;p21"/>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实验结果展示 (六图/多图矩阵排版)</a:t>
            </a:r>
            <a:endParaRPr lang="en-US" sz="2400"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319" name="Google Shape;319;p21"/>
          <p:cNvSpPr txBox="1"/>
          <p:nvPr/>
        </p:nvSpPr>
        <p:spPr>
          <a:xfrm>
            <a:off x="5238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研究背景及现状</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320" name="Google Shape;320;p21"/>
          <p:cNvSpPr txBox="1"/>
          <p:nvPr/>
        </p:nvSpPr>
        <p:spPr>
          <a:xfrm>
            <a:off x="24669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研究目标和内容</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321" name="Google Shape;321;p21"/>
          <p:cNvSpPr txBox="1"/>
          <p:nvPr/>
        </p:nvSpPr>
        <p:spPr>
          <a:xfrm>
            <a:off x="44100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研究方法与思路</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322" name="Google Shape;322;p21"/>
          <p:cNvSpPr txBox="1"/>
          <p:nvPr/>
        </p:nvSpPr>
        <p:spPr>
          <a:xfrm>
            <a:off x="82962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rPr>
              <a:t>预期成果与总结</a:t>
            </a:r>
            <a:endParaRPr lang="en-US" sz="1600" b="1" i="0" u="none" strike="noStrike" cap="none">
              <a:solidFill>
                <a:srgbClr val="718096"/>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sp>
        <p:nvSpPr>
          <p:cNvPr id="323" name="Google Shape;323;p21"/>
          <p:cNvSpPr txBox="1"/>
          <p:nvPr/>
        </p:nvSpPr>
        <p:spPr>
          <a:xfrm>
            <a:off x="781050" y="1790700"/>
            <a:ext cx="10629900" cy="393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16365C"/>
                </a:solidFill>
                <a:latin typeface="Times New Roman" panose="02020603050405020304" charset="0"/>
                <a:ea typeface="微软雅黑" panose="020B0503020204020204" charset="-122"/>
                <a:cs typeface="Times New Roman" panose="02020603050405020304"/>
                <a:sym typeface="Times New Roman" panose="02020603050405020304"/>
              </a:rPr>
              <a:t>结论总结：本部分综合验证了突变体对表型的影响，并通过多维度显微镜与分子实验交叉确认。</a:t>
            </a:r>
            <a:endParaRPr lang="en-US" sz="1600" b="1" i="0" u="none" strike="noStrike" cap="none">
              <a:solidFill>
                <a:srgbClr val="16365C"/>
              </a:solidFill>
              <a:latin typeface="Times New Roman" panose="02020603050405020304" charset="0"/>
              <a:ea typeface="微软雅黑" panose="020B0503020204020204" charset="-122"/>
              <a:cs typeface="Times New Roman" panose="02020603050405020304"/>
              <a:sym typeface="Times New Roman" panose="02020603050405020304"/>
            </a:endParaRPr>
          </a:p>
        </p:txBody>
      </p:sp>
      <p:pic>
        <p:nvPicPr>
          <p:cNvPr id="324" name="Google Shape;324;p21" descr="image.png"/>
          <p:cNvPicPr preferRelativeResize="0"/>
          <p:nvPr/>
        </p:nvPicPr>
        <p:blipFill rotWithShape="1">
          <a:blip r:embed="rId4"/>
          <a:srcRect/>
          <a:stretch>
            <a:fillRect/>
          </a:stretch>
        </p:blipFill>
        <p:spPr>
          <a:xfrm>
            <a:off x="885825" y="2312640"/>
            <a:ext cx="3206650" cy="1333500"/>
          </a:xfrm>
          <a:prstGeom prst="rect">
            <a:avLst/>
          </a:prstGeom>
          <a:noFill/>
          <a:ln>
            <a:noFill/>
          </a:ln>
        </p:spPr>
      </p:pic>
      <p:sp>
        <p:nvSpPr>
          <p:cNvPr id="325" name="Google Shape;325;p21"/>
          <p:cNvSpPr txBox="1"/>
          <p:nvPr/>
        </p:nvSpPr>
        <p:spPr>
          <a:xfrm>
            <a:off x="1711325" y="3741420"/>
            <a:ext cx="2195830" cy="2152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A: 野生型细胞形态 (WT)</a:t>
            </a:r>
            <a:endPar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pic>
        <p:nvPicPr>
          <p:cNvPr id="326" name="Google Shape;326;p21" descr="image.png"/>
          <p:cNvPicPr preferRelativeResize="0"/>
          <p:nvPr>
            <p:custDataLst>
              <p:tags r:id="rId5"/>
            </p:custDataLst>
          </p:nvPr>
        </p:nvPicPr>
        <p:blipFill rotWithShape="1">
          <a:blip r:embed="rId6"/>
          <a:srcRect/>
          <a:stretch>
            <a:fillRect/>
          </a:stretch>
        </p:blipFill>
        <p:spPr>
          <a:xfrm>
            <a:off x="4492525" y="2312640"/>
            <a:ext cx="3206799" cy="1333500"/>
          </a:xfrm>
          <a:prstGeom prst="rect">
            <a:avLst/>
          </a:prstGeom>
          <a:noFill/>
          <a:ln>
            <a:noFill/>
          </a:ln>
        </p:spPr>
      </p:pic>
      <p:sp>
        <p:nvSpPr>
          <p:cNvPr id="327" name="Google Shape;327;p21"/>
          <p:cNvSpPr txBox="1"/>
          <p:nvPr>
            <p:custDataLst>
              <p:tags r:id="rId7"/>
            </p:custDataLst>
          </p:nvPr>
        </p:nvSpPr>
        <p:spPr>
          <a:xfrm>
            <a:off x="5292090" y="3741420"/>
            <a:ext cx="2585085" cy="2152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B: 核心蛋白分子对接模型</a:t>
            </a:r>
            <a:endPar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pic>
        <p:nvPicPr>
          <p:cNvPr id="328" name="Google Shape;328;p21" descr="image.png"/>
          <p:cNvPicPr preferRelativeResize="0"/>
          <p:nvPr>
            <p:custDataLst>
              <p:tags r:id="rId8"/>
            </p:custDataLst>
          </p:nvPr>
        </p:nvPicPr>
        <p:blipFill rotWithShape="1">
          <a:blip r:embed="rId9"/>
          <a:srcRect/>
          <a:stretch>
            <a:fillRect/>
          </a:stretch>
        </p:blipFill>
        <p:spPr>
          <a:xfrm>
            <a:off x="8099375" y="2312640"/>
            <a:ext cx="3206650" cy="1333500"/>
          </a:xfrm>
          <a:prstGeom prst="rect">
            <a:avLst/>
          </a:prstGeom>
          <a:noFill/>
          <a:ln>
            <a:noFill/>
          </a:ln>
        </p:spPr>
      </p:pic>
      <p:sp>
        <p:nvSpPr>
          <p:cNvPr id="329" name="Google Shape;329;p21"/>
          <p:cNvSpPr txBox="1"/>
          <p:nvPr>
            <p:custDataLst>
              <p:tags r:id="rId10"/>
            </p:custDataLst>
          </p:nvPr>
        </p:nvSpPr>
        <p:spPr>
          <a:xfrm>
            <a:off x="8918575" y="3741420"/>
            <a:ext cx="1979930" cy="2152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C: 目标蛋白WB表达定量</a:t>
            </a:r>
            <a:endPar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pic>
        <p:nvPicPr>
          <p:cNvPr id="330" name="Google Shape;330;p21" descr="image.png"/>
          <p:cNvPicPr preferRelativeResize="0"/>
          <p:nvPr/>
        </p:nvPicPr>
        <p:blipFill rotWithShape="1">
          <a:blip r:embed="rId11"/>
          <a:srcRect/>
          <a:stretch>
            <a:fillRect/>
          </a:stretch>
        </p:blipFill>
        <p:spPr>
          <a:xfrm>
            <a:off x="885825" y="4413795"/>
            <a:ext cx="3206650" cy="1333500"/>
          </a:xfrm>
          <a:prstGeom prst="rect">
            <a:avLst/>
          </a:prstGeom>
          <a:noFill/>
          <a:ln>
            <a:noFill/>
          </a:ln>
        </p:spPr>
      </p:pic>
      <p:sp>
        <p:nvSpPr>
          <p:cNvPr id="331" name="Google Shape;331;p21"/>
          <p:cNvSpPr txBox="1"/>
          <p:nvPr/>
        </p:nvSpPr>
        <p:spPr>
          <a:xfrm>
            <a:off x="1718945" y="5842635"/>
            <a:ext cx="2115185" cy="2152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D: 敲除型细胞形态 (KO)</a:t>
            </a:r>
            <a:endPar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pic>
        <p:nvPicPr>
          <p:cNvPr id="332" name="Google Shape;332;p21" descr="image.png"/>
          <p:cNvPicPr preferRelativeResize="0"/>
          <p:nvPr>
            <p:custDataLst>
              <p:tags r:id="rId12"/>
            </p:custDataLst>
          </p:nvPr>
        </p:nvPicPr>
        <p:blipFill rotWithShape="1">
          <a:blip r:embed="rId13"/>
          <a:srcRect/>
          <a:stretch>
            <a:fillRect/>
          </a:stretch>
        </p:blipFill>
        <p:spPr>
          <a:xfrm>
            <a:off x="4492525" y="4413795"/>
            <a:ext cx="3206799" cy="1333500"/>
          </a:xfrm>
          <a:prstGeom prst="rect">
            <a:avLst/>
          </a:prstGeom>
          <a:noFill/>
          <a:ln>
            <a:noFill/>
          </a:ln>
        </p:spPr>
      </p:pic>
      <p:sp>
        <p:nvSpPr>
          <p:cNvPr id="333" name="Google Shape;333;p21"/>
          <p:cNvSpPr txBox="1"/>
          <p:nvPr>
            <p:custDataLst>
              <p:tags r:id="rId14"/>
            </p:custDataLst>
          </p:nvPr>
        </p:nvSpPr>
        <p:spPr>
          <a:xfrm>
            <a:off x="5220970" y="5842635"/>
            <a:ext cx="2271395" cy="2152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E: 药物小分子结合位点预测</a:t>
            </a:r>
            <a:endPar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pic>
        <p:nvPicPr>
          <p:cNvPr id="334" name="Google Shape;334;p21" descr="image.png"/>
          <p:cNvPicPr preferRelativeResize="0"/>
          <p:nvPr>
            <p:custDataLst>
              <p:tags r:id="rId15"/>
            </p:custDataLst>
          </p:nvPr>
        </p:nvPicPr>
        <p:blipFill rotWithShape="1">
          <a:blip r:embed="rId16"/>
          <a:srcRect/>
          <a:stretch>
            <a:fillRect/>
          </a:stretch>
        </p:blipFill>
        <p:spPr>
          <a:xfrm>
            <a:off x="8099375" y="4413795"/>
            <a:ext cx="3206650" cy="1333500"/>
          </a:xfrm>
          <a:prstGeom prst="rect">
            <a:avLst/>
          </a:prstGeom>
          <a:noFill/>
          <a:ln>
            <a:noFill/>
          </a:ln>
        </p:spPr>
      </p:pic>
      <p:sp>
        <p:nvSpPr>
          <p:cNvPr id="335" name="Google Shape;335;p21"/>
          <p:cNvSpPr txBox="1"/>
          <p:nvPr>
            <p:custDataLst>
              <p:tags r:id="rId17"/>
            </p:custDataLst>
          </p:nvPr>
        </p:nvSpPr>
        <p:spPr>
          <a:xfrm>
            <a:off x="8759825" y="5842635"/>
            <a:ext cx="2362835" cy="2152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rPr>
              <a:t>F: 不同浓度梯度下的蛋白表达</a:t>
            </a:r>
            <a:endParaRPr lang="en-US" b="1" i="0" u="none" strike="noStrike" cap="none">
              <a:solidFill>
                <a:srgbClr val="2D3748"/>
              </a:solidFill>
              <a:latin typeface="Times New Roman" panose="02020603050405020304" charset="0"/>
              <a:ea typeface="微软雅黑" panose="020B0503020204020204" charset="-122"/>
              <a:cs typeface="Times New Roman" panose="02020603050405020304" charset="0"/>
              <a:sym typeface="Times New Roman" panose="02020603050405020304"/>
            </a:endParaRPr>
          </a:p>
        </p:txBody>
      </p:sp>
      <p:sp>
        <p:nvSpPr>
          <p:cNvPr id="115" name="Google Shape;115;p14"/>
          <p:cNvSpPr/>
          <p:nvPr>
            <p:custDataLst>
              <p:tags r:id="rId18"/>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charset="0"/>
              <a:ea typeface="微软雅黑" panose="020B0503020204020204" charset="-122"/>
              <a:cs typeface="Times New Roman" panose="02020603050405020304" charset="0"/>
              <a:sym typeface="Calibri" panose="020F0502020204030204"/>
            </a:endParaRPr>
          </a:p>
        </p:txBody>
      </p:sp>
      <p:sp>
        <p:nvSpPr>
          <p:cNvPr id="2" name="圆角矩形 1"/>
          <p:cNvSpPr/>
          <p:nvPr/>
        </p:nvSpPr>
        <p:spPr>
          <a:xfrm>
            <a:off x="6366510" y="300990"/>
            <a:ext cx="191833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Times New Roman" panose="02020603050405020304" charset="0"/>
                <a:ea typeface="微软雅黑" panose="020B0503020204020204" charset="-122"/>
              </a:rPr>
              <a:t>已开展工作</a:t>
            </a:r>
            <a:endParaRPr lang="zh-CN" altLang="en-US" sz="1600" b="1">
              <a:latin typeface="Times New Roman" panose="02020603050405020304" charset="0"/>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39" name="Shape 339"/>
        <p:cNvGrpSpPr/>
        <p:nvPr/>
      </p:nvGrpSpPr>
      <p:grpSpPr>
        <a:xfrm>
          <a:off x="0" y="0"/>
          <a:ext cx="0" cy="0"/>
          <a:chOff x="0" y="0"/>
          <a:chExt cx="0" cy="0"/>
        </a:xfrm>
      </p:grpSpPr>
      <p:pic>
        <p:nvPicPr>
          <p:cNvPr id="340" name="Google Shape;340;p22" descr="image.png"/>
          <p:cNvPicPr preferRelativeResize="0"/>
          <p:nvPr/>
        </p:nvPicPr>
        <p:blipFill rotWithShape="1">
          <a:blip r:embed="rId1"/>
          <a:srcRect/>
          <a:stretch>
            <a:fillRect/>
          </a:stretch>
        </p:blipFill>
        <p:spPr>
          <a:xfrm>
            <a:off x="476250" y="1533525"/>
            <a:ext cx="11239500" cy="5181600"/>
          </a:xfrm>
          <a:prstGeom prst="rect">
            <a:avLst/>
          </a:prstGeom>
          <a:noFill/>
          <a:ln>
            <a:noFill/>
          </a:ln>
        </p:spPr>
      </p:pic>
      <p:pic>
        <p:nvPicPr>
          <p:cNvPr id="343" name="Google Shape;343;p22" descr="image.png"/>
          <p:cNvPicPr preferRelativeResize="0"/>
          <p:nvPr/>
        </p:nvPicPr>
        <p:blipFill rotWithShape="1">
          <a:blip r:embed="rId2"/>
          <a:srcRect/>
          <a:stretch>
            <a:fillRect/>
          </a:stretch>
        </p:blipFill>
        <p:spPr>
          <a:xfrm>
            <a:off x="7311330" y="1885950"/>
            <a:ext cx="4099619" cy="4572000"/>
          </a:xfrm>
          <a:prstGeom prst="rect">
            <a:avLst/>
          </a:prstGeom>
          <a:noFill/>
          <a:ln>
            <a:noFill/>
          </a:ln>
        </p:spPr>
      </p:pic>
      <p:pic>
        <p:nvPicPr>
          <p:cNvPr id="344" name="Google Shape;344;p22" descr="image.png"/>
          <p:cNvPicPr preferRelativeResize="0"/>
          <p:nvPr/>
        </p:nvPicPr>
        <p:blipFill rotWithShape="1">
          <a:blip r:embed="rId3"/>
          <a:srcRect/>
          <a:stretch>
            <a:fillRect/>
          </a:stretch>
        </p:blipFill>
        <p:spPr>
          <a:xfrm>
            <a:off x="723900" y="4479686"/>
            <a:ext cx="6149280" cy="2095500"/>
          </a:xfrm>
          <a:prstGeom prst="rect">
            <a:avLst/>
          </a:prstGeom>
          <a:noFill/>
          <a:ln>
            <a:noFill/>
          </a:ln>
        </p:spPr>
      </p:pic>
      <p:pic>
        <p:nvPicPr>
          <p:cNvPr id="345" name="Google Shape;345;p22" descr="image.png"/>
          <p:cNvPicPr preferRelativeResize="0"/>
          <p:nvPr/>
        </p:nvPicPr>
        <p:blipFill rotWithShape="1">
          <a:blip r:embed="rId4"/>
          <a:srcRect/>
          <a:stretch>
            <a:fillRect/>
          </a:stretch>
        </p:blipFill>
        <p:spPr>
          <a:xfrm>
            <a:off x="10287000" y="190500"/>
            <a:ext cx="1524000" cy="428625"/>
          </a:xfrm>
          <a:prstGeom prst="rect">
            <a:avLst/>
          </a:prstGeom>
          <a:noFill/>
          <a:ln>
            <a:noFill/>
          </a:ln>
        </p:spPr>
      </p:pic>
      <p:pic>
        <p:nvPicPr>
          <p:cNvPr id="346" name="Google Shape;346;p22" descr="image.png"/>
          <p:cNvPicPr preferRelativeResize="0"/>
          <p:nvPr/>
        </p:nvPicPr>
        <p:blipFill rotWithShape="1">
          <a:blip r:embed="rId5"/>
          <a:srcRect/>
          <a:stretch>
            <a:fillRect/>
          </a:stretch>
        </p:blipFill>
        <p:spPr>
          <a:xfrm>
            <a:off x="10555932" y="319087"/>
            <a:ext cx="171450" cy="171450"/>
          </a:xfrm>
          <a:prstGeom prst="rect">
            <a:avLst/>
          </a:prstGeom>
          <a:noFill/>
          <a:ln>
            <a:noFill/>
          </a:ln>
        </p:spPr>
      </p:pic>
      <p:sp>
        <p:nvSpPr>
          <p:cNvPr id="347" name="Google Shape;347;p22"/>
          <p:cNvSpPr txBox="1"/>
          <p:nvPr/>
        </p:nvSpPr>
        <p:spPr>
          <a:xfrm>
            <a:off x="476250" y="944245"/>
            <a:ext cx="11715750" cy="368935"/>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Font typeface="Wingdings" panose="05000000000000000000" charset="0"/>
              <a:buChar char="Ø"/>
            </a:pPr>
            <a:r>
              <a:rPr lang="en-US" sz="2400" b="1"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rPr>
              <a:t>预期成果与总结</a:t>
            </a:r>
            <a:endParaRPr lang="en-US" sz="2400" b="1" i="0" u="none" strike="noStrike" cap="none">
              <a:solidFill>
                <a:srgbClr val="2D3748"/>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48" name="Google Shape;348;p22"/>
          <p:cNvSpPr txBox="1"/>
          <p:nvPr/>
        </p:nvSpPr>
        <p:spPr>
          <a:xfrm>
            <a:off x="5238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研究背景及现状</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49" name="Google Shape;349;p22"/>
          <p:cNvSpPr txBox="1"/>
          <p:nvPr/>
        </p:nvSpPr>
        <p:spPr>
          <a:xfrm>
            <a:off x="24669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研究目标和内容</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50" name="Google Shape;350;p22"/>
          <p:cNvSpPr txBox="1"/>
          <p:nvPr/>
        </p:nvSpPr>
        <p:spPr>
          <a:xfrm>
            <a:off x="44100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研究方法与思路</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51" name="Google Shape;351;p22"/>
          <p:cNvSpPr txBox="1"/>
          <p:nvPr/>
        </p:nvSpPr>
        <p:spPr>
          <a:xfrm>
            <a:off x="6353175" y="348615"/>
            <a:ext cx="1752600" cy="2457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rPr>
              <a:t>已开展工作</a:t>
            </a:r>
            <a:endParaRPr lang="en-US" sz="1600" b="1" i="0" u="none" strike="noStrike" cap="none">
              <a:solidFill>
                <a:srgbClr val="718096"/>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52" name="Google Shape;352;p22"/>
          <p:cNvSpPr txBox="1"/>
          <p:nvPr/>
        </p:nvSpPr>
        <p:spPr>
          <a:xfrm>
            <a:off x="781050" y="1885950"/>
            <a:ext cx="6456744" cy="307340"/>
          </a:xfrm>
          <a:prstGeom prst="rect">
            <a:avLst/>
          </a:prstGeom>
          <a:noFill/>
          <a:ln>
            <a:noFill/>
          </a:ln>
        </p:spPr>
        <p:txBody>
          <a:bodyPr spcFirstLastPara="1" wrap="square" lIns="161925" tIns="0" rIns="0" bIns="0" anchor="t" anchorCtr="0">
            <a:spAutoFit/>
          </a:bodyPr>
          <a:lstStyle/>
          <a:p>
            <a:pPr marL="0" marR="0" lvl="0" indent="0" algn="l" rtl="0">
              <a:spcBef>
                <a:spcPts val="0"/>
              </a:spcBef>
              <a:spcAft>
                <a:spcPts val="0"/>
              </a:spcAft>
              <a:buNone/>
            </a:pPr>
            <a:r>
              <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核心创新与课题总结</a:t>
            </a:r>
            <a:endPar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53" name="Google Shape;353;p22"/>
          <p:cNvSpPr txBox="1"/>
          <p:nvPr/>
        </p:nvSpPr>
        <p:spPr>
          <a:xfrm>
            <a:off x="781050" y="2314575"/>
            <a:ext cx="6456680" cy="787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本课题首次系统性地揭示了 </a:t>
            </a:r>
            <a:r>
              <a:rPr lang="en-US" sz="16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特定蛋白调控分子</a:t>
            </a: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 在肿瘤化疗耐药过程中的核心调控作用及表观遗传学基础。</a:t>
            </a:r>
            <a:endPar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54" name="Google Shape;354;p22"/>
          <p:cNvSpPr txBox="1"/>
          <p:nvPr/>
        </p:nvSpPr>
        <p:spPr>
          <a:xfrm>
            <a:off x="7567456" y="2171700"/>
            <a:ext cx="3644518" cy="307340"/>
          </a:xfrm>
          <a:prstGeom prst="rect">
            <a:avLst/>
          </a:prstGeom>
          <a:noFill/>
          <a:ln>
            <a:noFill/>
          </a:ln>
        </p:spPr>
        <p:txBody>
          <a:bodyPr spcFirstLastPara="1" wrap="square" lIns="161925" tIns="0" rIns="0" bIns="0" anchor="t" anchorCtr="0">
            <a:spAutoFit/>
          </a:bodyPr>
          <a:lstStyle/>
          <a:p>
            <a:pPr marL="0" marR="0" lvl="0" indent="0" algn="ctr" rtl="0">
              <a:spcBef>
                <a:spcPts val="0"/>
              </a:spcBef>
              <a:spcAft>
                <a:spcPts val="0"/>
              </a:spcAft>
              <a:buNone/>
            </a:pPr>
            <a:r>
              <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rPr>
              <a:t>预期科研指标达成</a:t>
            </a:r>
            <a:endParaRPr lang="en-US" sz="2000" b="1" i="0" u="none" strike="noStrike" cap="none">
              <a:solidFill>
                <a:srgbClr val="16365C"/>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355" name="Google Shape;355;p22"/>
          <p:cNvSpPr/>
          <p:nvPr/>
        </p:nvSpPr>
        <p:spPr>
          <a:xfrm>
            <a:off x="7654230" y="2552700"/>
            <a:ext cx="3470969"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pic>
        <p:nvPicPr>
          <p:cNvPr id="356" name="Google Shape;356;p22" descr="image.png"/>
          <p:cNvPicPr preferRelativeResize="0"/>
          <p:nvPr/>
        </p:nvPicPr>
        <p:blipFill rotWithShape="1">
          <a:blip r:embed="rId6"/>
          <a:srcRect/>
          <a:stretch>
            <a:fillRect/>
          </a:stretch>
        </p:blipFill>
        <p:spPr>
          <a:xfrm>
            <a:off x="781050" y="1914525"/>
            <a:ext cx="161925" cy="209550"/>
          </a:xfrm>
          <a:prstGeom prst="rect">
            <a:avLst/>
          </a:prstGeom>
          <a:noFill/>
          <a:ln>
            <a:noFill/>
          </a:ln>
        </p:spPr>
      </p:pic>
      <p:sp>
        <p:nvSpPr>
          <p:cNvPr id="358" name="Google Shape;358;p22"/>
          <p:cNvSpPr txBox="1"/>
          <p:nvPr/>
        </p:nvSpPr>
        <p:spPr>
          <a:xfrm>
            <a:off x="781050" y="3040380"/>
            <a:ext cx="6366510" cy="7874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Times New Roman" panose="02020603050405020304"/>
              </a:rPr>
              <a:t>理论创新突破：</a:t>
            </a: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 完善了多组学融合与大分子修饰在复杂耐药演进过程中的干预网络机制。</a:t>
            </a:r>
            <a:endPar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60" name="Google Shape;360;p22"/>
          <p:cNvSpPr txBox="1"/>
          <p:nvPr/>
        </p:nvSpPr>
        <p:spPr>
          <a:xfrm>
            <a:off x="781050" y="3684270"/>
            <a:ext cx="6456680" cy="787400"/>
          </a:xfrm>
          <a:prstGeom prst="rect">
            <a:avLst/>
          </a:prstGeom>
          <a:noFill/>
          <a:ln>
            <a:noFill/>
          </a:ln>
        </p:spPr>
        <p:txBody>
          <a:bodyPr spcFirstLastPara="1" wrap="square" lIns="5715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Times New Roman" panose="02020603050405020304"/>
              </a:rPr>
              <a:t>临床转化价值：</a:t>
            </a:r>
            <a:r>
              <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 实验数据证实靶向抑制相关通路可显著逆转细胞耐药性，为临床联合用药和靶向干预提供了新的精准靶点和理论支撑。</a:t>
            </a:r>
            <a:endParaRPr lang="en-US" sz="1600" b="0"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pic>
        <p:nvPicPr>
          <p:cNvPr id="361" name="Google Shape;361;p22" descr="image.png"/>
          <p:cNvPicPr preferRelativeResize="0"/>
          <p:nvPr/>
        </p:nvPicPr>
        <p:blipFill rotWithShape="1">
          <a:blip r:embed="rId7"/>
          <a:srcRect/>
          <a:stretch>
            <a:fillRect/>
          </a:stretch>
        </p:blipFill>
        <p:spPr>
          <a:xfrm>
            <a:off x="2276316" y="4560331"/>
            <a:ext cx="2525017" cy="1885801"/>
          </a:xfrm>
          <a:prstGeom prst="rect">
            <a:avLst/>
          </a:prstGeom>
          <a:noFill/>
          <a:ln>
            <a:noFill/>
          </a:ln>
        </p:spPr>
      </p:pic>
      <p:pic>
        <p:nvPicPr>
          <p:cNvPr id="362" name="Google Shape;362;p22" descr="image.png"/>
          <p:cNvPicPr preferRelativeResize="0"/>
          <p:nvPr/>
        </p:nvPicPr>
        <p:blipFill rotWithShape="1">
          <a:blip r:embed="rId8"/>
          <a:srcRect/>
          <a:stretch>
            <a:fillRect/>
          </a:stretch>
        </p:blipFill>
        <p:spPr>
          <a:xfrm>
            <a:off x="8131303" y="2200275"/>
            <a:ext cx="161925" cy="209550"/>
          </a:xfrm>
          <a:prstGeom prst="rect">
            <a:avLst/>
          </a:prstGeom>
          <a:noFill/>
          <a:ln>
            <a:noFill/>
          </a:ln>
        </p:spPr>
      </p:pic>
      <p:sp>
        <p:nvSpPr>
          <p:cNvPr id="363" name="Google Shape;363;p22"/>
          <p:cNvSpPr txBox="1"/>
          <p:nvPr/>
        </p:nvSpPr>
        <p:spPr>
          <a:xfrm>
            <a:off x="7654230" y="2809875"/>
            <a:ext cx="3644518" cy="245745"/>
          </a:xfrm>
          <a:prstGeom prst="rect">
            <a:avLst/>
          </a:prstGeom>
          <a:noFill/>
          <a:ln>
            <a:noFill/>
          </a:ln>
        </p:spPr>
        <p:txBody>
          <a:bodyPr spcFirstLastPara="1" wrap="square" lIns="209550" tIns="0" rIns="0" bIns="0" anchor="t" anchorCtr="0">
            <a:spAutoFit/>
          </a:bodyPr>
          <a:lstStyle/>
          <a:p>
            <a:pPr marL="0" marR="0" lvl="0" indent="0" algn="l" rtl="0">
              <a:spcBef>
                <a:spcPts val="0"/>
              </a:spcBef>
              <a:spcAft>
                <a:spcPts val="0"/>
              </a:spcAft>
              <a:buNone/>
            </a:pPr>
            <a:r>
              <a:rPr lang="en-US" sz="16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学术论文 (Publications)</a:t>
            </a:r>
            <a:endParaRPr lang="en-US" sz="16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64" name="Google Shape;364;p22"/>
          <p:cNvSpPr txBox="1"/>
          <p:nvPr/>
        </p:nvSpPr>
        <p:spPr>
          <a:xfrm>
            <a:off x="7654230" y="3114675"/>
            <a:ext cx="3470969" cy="6457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rPr>
              <a:t>1. 拟在 </a:t>
            </a:r>
            <a:r>
              <a:rPr lang="en-US" b="0" i="1"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rPr>
              <a:t>Molecular Cancer</a:t>
            </a:r>
            <a:r>
              <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rPr>
              <a:t> 或同水平核心期刊发表 SCI 论文 1 篇 (IF &gt; 10)。</a:t>
            </a:r>
            <a:endPar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65" name="Google Shape;365;p22"/>
          <p:cNvSpPr txBox="1"/>
          <p:nvPr/>
        </p:nvSpPr>
        <p:spPr>
          <a:xfrm>
            <a:off x="7654230" y="3726180"/>
            <a:ext cx="3470969" cy="6457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rPr>
              <a:t>2. 拟在相关领域高质量中文核心期刊发表综述论文 1 篇。</a:t>
            </a:r>
            <a:endPar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66" name="Google Shape;366;p22"/>
          <p:cNvSpPr txBox="1"/>
          <p:nvPr/>
        </p:nvSpPr>
        <p:spPr>
          <a:xfrm>
            <a:off x="7654230" y="4396105"/>
            <a:ext cx="3644518" cy="245745"/>
          </a:xfrm>
          <a:prstGeom prst="rect">
            <a:avLst/>
          </a:prstGeom>
          <a:noFill/>
          <a:ln>
            <a:noFill/>
          </a:ln>
        </p:spPr>
        <p:txBody>
          <a:bodyPr spcFirstLastPara="1" wrap="square" lIns="247650" tIns="0" rIns="0" bIns="0" anchor="t" anchorCtr="0">
            <a:spAutoFit/>
          </a:bodyPr>
          <a:lstStyle/>
          <a:p>
            <a:pPr marL="0" marR="0" lvl="0" indent="0" algn="l" rtl="0">
              <a:spcBef>
                <a:spcPts val="0"/>
              </a:spcBef>
              <a:spcAft>
                <a:spcPts val="0"/>
              </a:spcAft>
              <a:buNone/>
            </a:pPr>
            <a:r>
              <a:rPr lang="en-US" sz="16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专利申请 (Patents)</a:t>
            </a:r>
            <a:endParaRPr lang="en-US" sz="16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67" name="Google Shape;367;p22"/>
          <p:cNvSpPr txBox="1"/>
          <p:nvPr/>
        </p:nvSpPr>
        <p:spPr>
          <a:xfrm>
            <a:off x="7654230" y="4619625"/>
            <a:ext cx="3470969" cy="688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rPr>
              <a:t>1. 拟申请国家发明专利 1 项：“一种基于小分子抑制剂的肿瘤增敏药物组合物及应用”。</a:t>
            </a:r>
            <a:endPar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68" name="Google Shape;368;p22"/>
          <p:cNvSpPr txBox="1"/>
          <p:nvPr/>
        </p:nvSpPr>
        <p:spPr>
          <a:xfrm>
            <a:off x="7654230" y="5314950"/>
            <a:ext cx="3644518" cy="245745"/>
          </a:xfrm>
          <a:prstGeom prst="rect">
            <a:avLst/>
          </a:prstGeom>
          <a:noFill/>
          <a:ln>
            <a:noFill/>
          </a:ln>
        </p:spPr>
        <p:txBody>
          <a:bodyPr spcFirstLastPara="1" wrap="square" lIns="295275" tIns="0" rIns="0" bIns="0" anchor="t" anchorCtr="0">
            <a:spAutoFit/>
          </a:bodyPr>
          <a:lstStyle/>
          <a:p>
            <a:pPr marL="0" marR="0" lvl="0" indent="0" algn="l" rtl="0">
              <a:spcBef>
                <a:spcPts val="0"/>
              </a:spcBef>
              <a:spcAft>
                <a:spcPts val="0"/>
              </a:spcAft>
              <a:buNone/>
            </a:pPr>
            <a:r>
              <a:rPr lang="en-US" sz="16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rPr>
              <a:t>会议交流 (Conferences)</a:t>
            </a:r>
            <a:endParaRPr lang="en-US" sz="1600" b="1" i="0" u="none" strike="noStrike" cap="none">
              <a:solidFill>
                <a:srgbClr val="2D3748"/>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sp>
        <p:nvSpPr>
          <p:cNvPr id="369" name="Google Shape;369;p22"/>
          <p:cNvSpPr txBox="1"/>
          <p:nvPr/>
        </p:nvSpPr>
        <p:spPr>
          <a:xfrm>
            <a:off x="7654230" y="5619750"/>
            <a:ext cx="3470969" cy="688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rPr>
              <a:t>1. 计划参加 2026年 领域内全国学术年会并作壁报或口头汇报展示。</a:t>
            </a:r>
            <a:endParaRPr lang="en-US" b="0" i="0" u="none" strike="noStrike" cap="none">
              <a:solidFill>
                <a:srgbClr val="718096"/>
              </a:solidFill>
              <a:latin typeface="微软雅黑" panose="020B0503020204020204" charset="-122"/>
              <a:ea typeface="微软雅黑" panose="020B0503020204020204" charset="-122"/>
              <a:cs typeface="微软雅黑" panose="020B0503020204020204" charset="-122"/>
              <a:sym typeface="Times New Roman" panose="02020603050405020304"/>
            </a:endParaRPr>
          </a:p>
        </p:txBody>
      </p:sp>
      <p:pic>
        <p:nvPicPr>
          <p:cNvPr id="370" name="Google Shape;370;p22" descr="image.png"/>
          <p:cNvPicPr preferRelativeResize="0"/>
          <p:nvPr/>
        </p:nvPicPr>
        <p:blipFill rotWithShape="1">
          <a:blip r:embed="rId9"/>
          <a:srcRect/>
          <a:stretch>
            <a:fillRect/>
          </a:stretch>
        </p:blipFill>
        <p:spPr>
          <a:xfrm>
            <a:off x="7654230" y="2838450"/>
            <a:ext cx="133350" cy="171450"/>
          </a:xfrm>
          <a:prstGeom prst="rect">
            <a:avLst/>
          </a:prstGeom>
          <a:noFill/>
          <a:ln>
            <a:noFill/>
          </a:ln>
        </p:spPr>
      </p:pic>
      <p:pic>
        <p:nvPicPr>
          <p:cNvPr id="371" name="Google Shape;371;p22" descr="image.png"/>
          <p:cNvPicPr preferRelativeResize="0"/>
          <p:nvPr/>
        </p:nvPicPr>
        <p:blipFill rotWithShape="1">
          <a:blip r:embed="rId10"/>
          <a:srcRect/>
          <a:stretch>
            <a:fillRect/>
          </a:stretch>
        </p:blipFill>
        <p:spPr>
          <a:xfrm>
            <a:off x="7654230" y="4410075"/>
            <a:ext cx="171450" cy="171450"/>
          </a:xfrm>
          <a:prstGeom prst="rect">
            <a:avLst/>
          </a:prstGeom>
          <a:noFill/>
          <a:ln>
            <a:noFill/>
          </a:ln>
        </p:spPr>
      </p:pic>
      <p:pic>
        <p:nvPicPr>
          <p:cNvPr id="372" name="Google Shape;372;p22" descr="image.png"/>
          <p:cNvPicPr preferRelativeResize="0"/>
          <p:nvPr/>
        </p:nvPicPr>
        <p:blipFill rotWithShape="1">
          <a:blip r:embed="rId11"/>
          <a:srcRect/>
          <a:stretch>
            <a:fillRect/>
          </a:stretch>
        </p:blipFill>
        <p:spPr>
          <a:xfrm>
            <a:off x="7654230" y="5343525"/>
            <a:ext cx="219075" cy="171450"/>
          </a:xfrm>
          <a:prstGeom prst="rect">
            <a:avLst/>
          </a:prstGeom>
          <a:noFill/>
          <a:ln>
            <a:noFill/>
          </a:ln>
        </p:spPr>
      </p:pic>
      <p:sp>
        <p:nvSpPr>
          <p:cNvPr id="115" name="Google Shape;115;p14"/>
          <p:cNvSpPr/>
          <p:nvPr>
            <p:custDataLst>
              <p:tags r:id="rId12"/>
            </p:custDataLst>
          </p:nvPr>
        </p:nvSpPr>
        <p:spPr>
          <a:xfrm flipV="1">
            <a:off x="476250" y="733425"/>
            <a:ext cx="9573260" cy="36000"/>
          </a:xfrm>
          <a:prstGeom prst="rect">
            <a:avLst/>
          </a:prstGeom>
          <a:solidFill>
            <a:srgbClr val="16365C"/>
          </a:solidFill>
          <a:ln>
            <a:solidFill>
              <a:srgbClr val="16365C"/>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微软雅黑" panose="020B0503020204020204" charset="-122"/>
              <a:ea typeface="微软雅黑" panose="020B0503020204020204" charset="-122"/>
              <a:cs typeface="Calibri" panose="020F0502020204030204"/>
              <a:sym typeface="Calibri" panose="020F0502020204030204"/>
            </a:endParaRPr>
          </a:p>
        </p:txBody>
      </p:sp>
      <p:sp>
        <p:nvSpPr>
          <p:cNvPr id="2" name="圆角矩形 1"/>
          <p:cNvSpPr/>
          <p:nvPr/>
        </p:nvSpPr>
        <p:spPr>
          <a:xfrm>
            <a:off x="8131175" y="297815"/>
            <a:ext cx="1918335" cy="29337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Times New Roman" panose="02020603050405020304" charset="0"/>
                <a:ea typeface="微软雅黑" panose="020B0503020204020204" charset="-122"/>
              </a:rPr>
              <a:t>预期成果与总结</a:t>
            </a:r>
            <a:endParaRPr lang="zh-CN" altLang="en-US" sz="1600" b="1">
              <a:latin typeface="Times New Roman" panose="02020603050405020304" charset="0"/>
              <a:ea typeface="微软雅黑" panose="020B0503020204020204" charset="-122"/>
            </a:endParaRPr>
          </a:p>
        </p:txBody>
      </p:sp>
      <p:sp>
        <p:nvSpPr>
          <p:cNvPr id="5" name="圆角矩形 4"/>
          <p:cNvSpPr/>
          <p:nvPr/>
        </p:nvSpPr>
        <p:spPr>
          <a:xfrm>
            <a:off x="1260475" y="1402715"/>
            <a:ext cx="1945005" cy="271780"/>
          </a:xfrm>
          <a:prstGeom prst="roundRect">
            <a:avLst/>
          </a:prstGeom>
          <a:solidFill>
            <a:srgbClr val="16365C"/>
          </a:solidFill>
          <a:ln>
            <a:solidFill>
              <a:srgbClr val="16365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b="1">
                <a:latin typeface="微软雅黑" panose="020B0503020204020204" charset="-122"/>
                <a:ea typeface="微软雅黑" panose="020B0503020204020204" charset="-122"/>
                <a:cs typeface="微软雅黑" panose="020B0503020204020204" charset="-122"/>
              </a:rPr>
              <a:t>总结与产出</a:t>
            </a:r>
            <a:endParaRPr lang="zh-CN" b="1">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365C"/>
        </a:solidFill>
        <a:effectLst/>
      </p:bgPr>
    </p:bg>
    <p:spTree>
      <p:nvGrpSpPr>
        <p:cNvPr id="376" name="Shape 376"/>
        <p:cNvGrpSpPr/>
        <p:nvPr/>
      </p:nvGrpSpPr>
      <p:grpSpPr>
        <a:xfrm>
          <a:off x="0" y="0"/>
          <a:ext cx="0" cy="0"/>
          <a:chOff x="0" y="0"/>
          <a:chExt cx="0" cy="0"/>
        </a:xfrm>
      </p:grpSpPr>
      <p:pic>
        <p:nvPicPr>
          <p:cNvPr id="377" name="Google Shape;377;p23" descr="image.png"/>
          <p:cNvPicPr preferRelativeResize="0"/>
          <p:nvPr/>
        </p:nvPicPr>
        <p:blipFill rotWithShape="1">
          <a:blip r:embed="rId1"/>
          <a:srcRect/>
          <a:stretch>
            <a:fillRect/>
          </a:stretch>
        </p:blipFill>
        <p:spPr>
          <a:xfrm>
            <a:off x="10287000" y="190500"/>
            <a:ext cx="1524000" cy="428625"/>
          </a:xfrm>
          <a:prstGeom prst="rect">
            <a:avLst/>
          </a:prstGeom>
          <a:noFill/>
          <a:ln>
            <a:noFill/>
          </a:ln>
        </p:spPr>
      </p:pic>
      <p:sp>
        <p:nvSpPr>
          <p:cNvPr id="378" name="Google Shape;378;p23"/>
          <p:cNvSpPr txBox="1"/>
          <p:nvPr/>
        </p:nvSpPr>
        <p:spPr>
          <a:xfrm>
            <a:off x="1345406" y="2096392"/>
            <a:ext cx="9501187" cy="1162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75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感谢各位专家的聆听！</a:t>
            </a:r>
            <a:endParaRPr lang="en-US" sz="675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9" name="Google Shape;379;p23"/>
          <p:cNvSpPr txBox="1"/>
          <p:nvPr/>
        </p:nvSpPr>
        <p:spPr>
          <a:xfrm>
            <a:off x="4705985" y="3543935"/>
            <a:ext cx="3235960" cy="5162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100" b="0" i="0" u="none" strike="noStrike" cap="none">
                <a:solidFill>
                  <a:srgbClr val="CBD5E1"/>
                </a:solidFill>
                <a:latin typeface="Times New Roman" panose="02020603050405020304"/>
                <a:ea typeface="Times New Roman" panose="02020603050405020304"/>
                <a:cs typeface="Times New Roman" panose="02020603050405020304"/>
                <a:sym typeface="Times New Roman" panose="02020603050405020304"/>
              </a:rPr>
              <a:t>敬请批评指正 / Q &amp; A</a:t>
            </a:r>
            <a:endParaRPr lang="en-US" sz="2100" b="0" i="0" u="none" strike="noStrike" cap="none">
              <a:solidFill>
                <a:srgbClr val="CBD5E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0" name="Google Shape;380;p23"/>
          <p:cNvSpPr txBox="1"/>
          <p:nvPr/>
        </p:nvSpPr>
        <p:spPr>
          <a:xfrm>
            <a:off x="4964162" y="4542383"/>
            <a:ext cx="2263526" cy="219075"/>
          </a:xfrm>
          <a:prstGeom prst="rect">
            <a:avLst/>
          </a:prstGeom>
          <a:noFill/>
          <a:ln>
            <a:noFill/>
          </a:ln>
        </p:spPr>
        <p:txBody>
          <a:bodyPr spcFirstLastPara="1" wrap="square" lIns="190500" tIns="0" rIns="0" bIns="0" anchor="t" anchorCtr="0">
            <a:spAutoFit/>
          </a:bodyPr>
          <a:lstStyle/>
          <a:p>
            <a:pPr marL="0" marR="0" lvl="0" indent="0" algn="ctr" rtl="0">
              <a:spcBef>
                <a:spcPts val="0"/>
              </a:spcBef>
              <a:spcAft>
                <a:spcPts val="0"/>
              </a:spcAft>
              <a:buNone/>
            </a:pPr>
            <a:r>
              <a:rPr lang="en-US" sz="1500" b="0" i="0" u="none" strike="noStrike" cap="none">
                <a:solidFill>
                  <a:srgbClr val="CBD5E1"/>
                </a:solidFill>
                <a:latin typeface="Times New Roman" panose="02020603050405020304"/>
                <a:ea typeface="Times New Roman" panose="02020603050405020304"/>
                <a:cs typeface="Times New Roman" panose="02020603050405020304"/>
                <a:sym typeface="Times New Roman" panose="02020603050405020304"/>
              </a:rPr>
              <a:t>student@university.edu.cn</a:t>
            </a:r>
            <a:endParaRPr lang="en-US" sz="1500" b="0" i="0" u="none" strike="noStrike" cap="none">
              <a:solidFill>
                <a:srgbClr val="CBD5E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81" name="Google Shape;381;p23" descr="image.png"/>
          <p:cNvPicPr preferRelativeResize="0"/>
          <p:nvPr/>
        </p:nvPicPr>
        <p:blipFill rotWithShape="1">
          <a:blip r:embed="rId2"/>
          <a:srcRect/>
          <a:stretch>
            <a:fillRect/>
          </a:stretch>
        </p:blipFill>
        <p:spPr>
          <a:xfrm>
            <a:off x="10555932" y="319087"/>
            <a:ext cx="171450" cy="171450"/>
          </a:xfrm>
          <a:prstGeom prst="rect">
            <a:avLst/>
          </a:prstGeom>
          <a:noFill/>
          <a:ln>
            <a:noFill/>
          </a:ln>
        </p:spPr>
      </p:pic>
      <p:pic>
        <p:nvPicPr>
          <p:cNvPr id="382" name="Google Shape;382;p23" descr="image.png"/>
          <p:cNvPicPr preferRelativeResize="0"/>
          <p:nvPr/>
        </p:nvPicPr>
        <p:blipFill rotWithShape="1">
          <a:blip r:embed="rId3"/>
          <a:srcRect/>
          <a:stretch>
            <a:fillRect/>
          </a:stretch>
        </p:blipFill>
        <p:spPr>
          <a:xfrm>
            <a:off x="4964162" y="4551908"/>
            <a:ext cx="190500" cy="190500"/>
          </a:xfrm>
          <a:prstGeom prst="rect">
            <a:avLst/>
          </a:prstGeom>
          <a:noFill/>
          <a:ln>
            <a:noFill/>
          </a:ln>
        </p:spPr>
      </p:pic>
    </p:spTree>
  </p:cSld>
  <p:clrMapOvr>
    <a:masterClrMapping/>
  </p:clrMapOvr>
</p:sld>
</file>

<file path=ppt/tags/tag1.xml><?xml version="1.0" encoding="utf-8"?>
<p:tagLst xmlns:p="http://schemas.openxmlformats.org/presentationml/2006/main">
  <p:tag name="KSO_WM_DIAGRAM_VIRTUALLY_FRAME" val="{&quot;height&quot;:397.5,&quot;left&quot;:411,&quot;top&quot;:71.25,&quot;width&quot;:474}"/>
</p:tagLst>
</file>

<file path=ppt/tags/tag2.xml><?xml version="1.0" encoding="utf-8"?>
<p:tagLst xmlns:p="http://schemas.openxmlformats.org/presentationml/2006/main">
  <p:tag name="KSO_WM_DIAGRAM_VIRTUALLY_FRAME" val="{&quot;height&quot;:397.5,&quot;left&quot;:411,&quot;top&quot;:71.25,&quot;width&quot;:474}"/>
</p:tagLst>
</file>

<file path=ppt/tags/tag3.xml><?xml version="1.0" encoding="utf-8"?>
<p:tagLst xmlns:p="http://schemas.openxmlformats.org/presentationml/2006/main">
  <p:tag name="KSO_WM_DIAGRAM_VIRTUALLY_FRAME" val="{&quot;height&quot;:397.5,&quot;left&quot;:411,&quot;top&quot;:71.25,&quot;width&quot;:474}"/>
</p:tagLst>
</file>

<file path=ppt/tags/tag4.xml><?xml version="1.0" encoding="utf-8"?>
<p:tagLst xmlns:p="http://schemas.openxmlformats.org/presentationml/2006/main">
  <p:tag name="KSO_WM_DIAGRAM_VIRTUALLY_FRAME" val="{&quot;height&quot;:397.5,&quot;left&quot;:411,&quot;top&quot;:71.25,&quot;width&quot;:474}"/>
</p:tagLst>
</file>

<file path=ppt/tags/tag5.xml><?xml version="1.0" encoding="utf-8"?>
<p:tagLst xmlns:p="http://schemas.openxmlformats.org/presentationml/2006/main">
  <p:tag name="KSO_WM_DIAGRAM_VIRTUALLY_FRAME" val="{&quot;height&quot;:397.5,&quot;left&quot;:411,&quot;top&quot;:71.25,&quot;width&quot;:474}"/>
</p:tagLst>
</file>

<file path=ppt/tags/tag6.xml><?xml version="1.0" encoding="utf-8"?>
<p:tagLst xmlns:p="http://schemas.openxmlformats.org/presentationml/2006/main">
  <p:tag name="KSO_WM_DIAGRAM_VIRTUALLY_FRAME" val="{&quot;height&quot;:397.5,&quot;left&quot;:411,&quot;top&quot;:71.25,&quot;width&quot;:474}"/>
</p:tagLst>
</file>

<file path=ppt/tags/tag7.xml><?xml version="1.0" encoding="utf-8"?>
<p:tagLst xmlns:p="http://schemas.openxmlformats.org/presentationml/2006/main">
  <p:tag name="KSO_WM_DIAGRAM_VIRTUALLY_FRAME" val="{&quot;height&quot;:397.5,&quot;left&quot;:411,&quot;top&quot;:71.25,&quot;width&quot;:474}"/>
</p:tagLst>
</file>

<file path=ppt/tags/tag8.xml><?xml version="1.0" encoding="utf-8"?>
<p:tagLst xmlns:p="http://schemas.openxmlformats.org/presentationml/2006/main">
  <p:tag name="KSO_WM_DIAGRAM_VIRTUALLY_FRAME" val="{&quot;height&quot;:397.5,&quot;left&quot;:411,&quot;top&quot;:71.25,&quot;width&quot;:474}"/>
</p:tagLst>
</file>

<file path=ppt/tags/tag9.xml><?xml version="1.0" encoding="utf-8"?>
<p:tagLst xmlns:p="http://schemas.openxmlformats.org/presentationml/2006/main">
  <p:tag name="KSO_WM_DIAGRAM_VIRTUALLY_FRAME" val="{&quot;height&quot;:397.5,&quot;left&quot;:411,&quot;top&quot;:71.25,&quot;width&quot;:474}"/>
</p:tagLst>
</file>

<file path=ppt/tags/tag10.xml><?xml version="1.0" encoding="utf-8"?>
<p:tagLst xmlns:p="http://schemas.openxmlformats.org/presentationml/2006/main">
  <p:tag name="KSO_WM_DIAGRAM_VIRTUALLY_FRAME" val="{&quot;height&quot;:397.5,&quot;left&quot;:411,&quot;top&quot;:71.25,&quot;width&quot;:474}"/>
</p:tagLst>
</file>

<file path=ppt/tags/tag11.xml><?xml version="1.0" encoding="utf-8"?>
<p:tagLst xmlns:p="http://schemas.openxmlformats.org/presentationml/2006/main">
  <p:tag name="KSO_WM_DIAGRAM_VIRTUALLY_FRAME" val="{&quot;height&quot;:397.5,&quot;left&quot;:411,&quot;top&quot;:71.25,&quot;width&quot;:474}"/>
</p:tagLst>
</file>

<file path=ppt/tags/tag12.xml><?xml version="1.0" encoding="utf-8"?>
<p:tagLst xmlns:p="http://schemas.openxmlformats.org/presentationml/2006/main">
  <p:tag name="KSO_WM_DIAGRAM_VIRTUALLY_FRAME" val="{&quot;height&quot;:397.5,&quot;left&quot;:411,&quot;top&quot;:71.25,&quot;width&quot;:474}"/>
</p:tagLst>
</file>

<file path=ppt/tags/tag13.xml><?xml version="1.0" encoding="utf-8"?>
<p:tagLst xmlns:p="http://schemas.openxmlformats.org/presentationml/2006/main">
  <p:tag name="KSO_WM_DIAGRAM_VIRTUALLY_FRAME" val="{&quot;height&quot;:397.5,&quot;left&quot;:411,&quot;top&quot;:71.25,&quot;width&quot;:474}"/>
</p:tagLst>
</file>

<file path=ppt/tags/tag14.xml><?xml version="1.0" encoding="utf-8"?>
<p:tagLst xmlns:p="http://schemas.openxmlformats.org/presentationml/2006/main">
  <p:tag name="KSO_WM_DIAGRAM_VIRTUALLY_FRAME" val="{&quot;height&quot;:397.5,&quot;left&quot;:411,&quot;top&quot;:71.25,&quot;width&quot;:474}"/>
</p:tagLst>
</file>

<file path=ppt/tags/tag15.xml><?xml version="1.0" encoding="utf-8"?>
<p:tagLst xmlns:p="http://schemas.openxmlformats.org/presentationml/2006/main">
  <p:tag name="KSO_WM_DIAGRAM_VIRTUALLY_FRAME" val="{&quot;height&quot;:397.5,&quot;left&quot;:411,&quot;top&quot;:71.25,&quot;width&quot;:474}"/>
</p:tagLst>
</file>

<file path=ppt/tags/tag16.xml><?xml version="1.0" encoding="utf-8"?>
<p:tagLst xmlns:p="http://schemas.openxmlformats.org/presentationml/2006/main">
  <p:tag name="KSO_WM_DIAGRAM_VIRTUALLY_FRAME" val="{&quot;height&quot;:163.46559055118112,&quot;left&quot;:57,&quot;top&quot;:179.17496062992126,&quot;width&quot;:408}"/>
</p:tagLst>
</file>

<file path=ppt/tags/tag17.xml><?xml version="1.0" encoding="utf-8"?>
<p:tagLst xmlns:p="http://schemas.openxmlformats.org/presentationml/2006/main">
  <p:tag name="KSO_WM_DIAGRAM_VIRTUALLY_FRAME" val="{&quot;height&quot;:163.46559055118112,&quot;left&quot;:57,&quot;top&quot;:179.17496062992126,&quot;width&quot;:408}"/>
</p:tagLst>
</file>

<file path=ppt/tags/tag18.xml><?xml version="1.0" encoding="utf-8"?>
<p:tagLst xmlns:p="http://schemas.openxmlformats.org/presentationml/2006/main">
  <p:tag name="KSO_WM_DIAGRAM_VIRTUALLY_FRAME" val="{&quot;height&quot;:163.46559055118112,&quot;left&quot;:57,&quot;top&quot;:179.17496062992126,&quot;width&quot;:408}"/>
</p:tagLst>
</file>

<file path=ppt/tags/tag19.xml><?xml version="1.0" encoding="utf-8"?>
<p:tagLst xmlns:p="http://schemas.openxmlformats.org/presentationml/2006/main">
  <p:tag name="KSO_WM_DIAGRAM_VIRTUALLY_FRAME" val="{&quot;height&quot;:163.46559055118112,&quot;left&quot;:57,&quot;top&quot;:179.17496062992126,&quot;width&quot;:408}"/>
</p:tagLst>
</file>

<file path=ppt/tags/tag20.xml><?xml version="1.0" encoding="utf-8"?>
<p:tagLst xmlns:p="http://schemas.openxmlformats.org/presentationml/2006/main">
  <p:tag name="KSO_WM_DIAGRAM_VIRTUALLY_FRAME" val="{&quot;height&quot;:397.5,&quot;left&quot;:411,&quot;top&quot;:71.25,&quot;width&quot;:474}"/>
</p:tagLst>
</file>

<file path=ppt/tags/tag21.xml><?xml version="1.0" encoding="utf-8"?>
<p:tagLst xmlns:p="http://schemas.openxmlformats.org/presentationml/2006/main">
  <p:tag name="KSO_WM_DIAGRAM_VIRTUALLY_FRAME" val="{&quot;height&quot;:173.2547244094488,&quot;left&quot;:73.5,&quot;top&quot;:286.9452755905512,&quot;width&quot;:813}"/>
</p:tagLst>
</file>

<file path=ppt/tags/tag22.xml><?xml version="1.0" encoding="utf-8"?>
<p:tagLst xmlns:p="http://schemas.openxmlformats.org/presentationml/2006/main">
  <p:tag name="KSO_WM_DIAGRAM_VIRTUALLY_FRAME" val="{&quot;height&quot;:173.2547244094488,&quot;left&quot;:73.5,&quot;top&quot;:286.9452755905512,&quot;width&quot;:813}"/>
</p:tagLst>
</file>

<file path=ppt/tags/tag23.xml><?xml version="1.0" encoding="utf-8"?>
<p:tagLst xmlns:p="http://schemas.openxmlformats.org/presentationml/2006/main">
  <p:tag name="KSO_WM_DIAGRAM_VIRTUALLY_FRAME" val="{&quot;height&quot;:173.2547244094488,&quot;left&quot;:73.5,&quot;top&quot;:286.9452755905512,&quot;width&quot;:813}"/>
</p:tagLst>
</file>

<file path=ppt/tags/tag24.xml><?xml version="1.0" encoding="utf-8"?>
<p:tagLst xmlns:p="http://schemas.openxmlformats.org/presentationml/2006/main">
  <p:tag name="KSO_WM_DIAGRAM_VIRTUALLY_FRAME" val="{&quot;height&quot;:173.2547244094488,&quot;left&quot;:73.5,&quot;top&quot;:286.9452755905512,&quot;width&quot;:813}"/>
</p:tagLst>
</file>

<file path=ppt/tags/tag25.xml><?xml version="1.0" encoding="utf-8"?>
<p:tagLst xmlns:p="http://schemas.openxmlformats.org/presentationml/2006/main">
  <p:tag name="KSO_WM_DIAGRAM_VIRTUALLY_FRAME" val="{&quot;height&quot;:397.5,&quot;left&quot;:411,&quot;top&quot;:71.25,&quot;width&quot;:474}"/>
</p:tagLst>
</file>

<file path=ppt/tags/tag26.xml><?xml version="1.0" encoding="utf-8"?>
<p:tagLst xmlns:p="http://schemas.openxmlformats.org/presentationml/2006/main">
  <p:tag name="KSO_WM_DIAGRAM_VIRTUALLY_FRAME" val="{&quot;height&quot;:397.5,&quot;left&quot;:411,&quot;top&quot;:71.25,&quot;width&quot;:474}"/>
</p:tagLst>
</file>

<file path=ppt/tags/tag27.xml><?xml version="1.0" encoding="utf-8"?>
<p:tagLst xmlns:p="http://schemas.openxmlformats.org/presentationml/2006/main">
  <p:tag name="KSO_WM_DIAGRAM_VIRTUALLY_FRAME" val="{&quot;height&quot;:397.5,&quot;left&quot;:411,&quot;top&quot;:71.25,&quot;width&quot;:474}"/>
</p:tagLst>
</file>

<file path=ppt/tags/tag28.xml><?xml version="1.0" encoding="utf-8"?>
<p:tagLst xmlns:p="http://schemas.openxmlformats.org/presentationml/2006/main">
  <p:tag name="KSO_WM_DIAGRAM_VIRTUALLY_FRAME" val="{&quot;height&quot;:330,&quot;left&quot;:61.5,&quot;top&quot;:159.75,&quot;width&quot;:837.0116535433071}"/>
</p:tagLst>
</file>

<file path=ppt/tags/tag29.xml><?xml version="1.0" encoding="utf-8"?>
<p:tagLst xmlns:p="http://schemas.openxmlformats.org/presentationml/2006/main">
  <p:tag name="KSO_WM_DIAGRAM_VIRTUALLY_FRAME" val="{&quot;height&quot;:330,&quot;left&quot;:61.5,&quot;top&quot;:159.75,&quot;width&quot;:837.0116535433071}"/>
</p:tagLst>
</file>

<file path=ppt/tags/tag30.xml><?xml version="1.0" encoding="utf-8"?>
<p:tagLst xmlns:p="http://schemas.openxmlformats.org/presentationml/2006/main">
  <p:tag name="KSO_WM_DIAGRAM_VIRTUALLY_FRAME" val="{&quot;height&quot;:330,&quot;left&quot;:61.5,&quot;top&quot;:159.75,&quot;width&quot;:837.0116535433071}"/>
</p:tagLst>
</file>

<file path=ppt/tags/tag31.xml><?xml version="1.0" encoding="utf-8"?>
<p:tagLst xmlns:p="http://schemas.openxmlformats.org/presentationml/2006/main">
  <p:tag name="KSO_WM_DIAGRAM_VIRTUALLY_FRAME" val="{&quot;height&quot;:330,&quot;left&quot;:61.5,&quot;top&quot;:159.75,&quot;width&quot;:837.0116535433071}"/>
</p:tagLst>
</file>

<file path=ppt/tags/tag32.xml><?xml version="1.0" encoding="utf-8"?>
<p:tagLst xmlns:p="http://schemas.openxmlformats.org/presentationml/2006/main">
  <p:tag name="KSO_WM_DIAGRAM_VIRTUALLY_FRAME" val="{&quot;height&quot;:330,&quot;left&quot;:61.5,&quot;top&quot;:159.75,&quot;width&quot;:837.0116535433071}"/>
</p:tagLst>
</file>

<file path=ppt/tags/tag33.xml><?xml version="1.0" encoding="utf-8"?>
<p:tagLst xmlns:p="http://schemas.openxmlformats.org/presentationml/2006/main">
  <p:tag name="KSO_WM_DIAGRAM_VIRTUALLY_FRAME" val="{&quot;height&quot;:330,&quot;left&quot;:61.5,&quot;top&quot;:159.75,&quot;width&quot;:837.0116535433071}"/>
</p:tagLst>
</file>

<file path=ppt/tags/tag34.xml><?xml version="1.0" encoding="utf-8"?>
<p:tagLst xmlns:p="http://schemas.openxmlformats.org/presentationml/2006/main">
  <p:tag name="KSO_WM_DIAGRAM_VIRTUALLY_FRAME" val="{&quot;height&quot;:330,&quot;left&quot;:61.5,&quot;top&quot;:159.75,&quot;width&quot;:837.0116535433071}"/>
</p:tagLst>
</file>

<file path=ppt/tags/tag35.xml><?xml version="1.0" encoding="utf-8"?>
<p:tagLst xmlns:p="http://schemas.openxmlformats.org/presentationml/2006/main">
  <p:tag name="KSO_WM_DIAGRAM_VIRTUALLY_FRAME" val="{&quot;height&quot;:330,&quot;left&quot;:61.5,&quot;top&quot;:159.75,&quot;width&quot;:837.0116535433071}"/>
</p:tagLst>
</file>

<file path=ppt/tags/tag36.xml><?xml version="1.0" encoding="utf-8"?>
<p:tagLst xmlns:p="http://schemas.openxmlformats.org/presentationml/2006/main">
  <p:tag name="KSO_WM_DIAGRAM_VIRTUALLY_FRAME" val="{&quot;height&quot;:330,&quot;left&quot;:61.5,&quot;top&quot;:159.75,&quot;width&quot;:837.0116535433071}"/>
</p:tagLst>
</file>

<file path=ppt/tags/tag37.xml><?xml version="1.0" encoding="utf-8"?>
<p:tagLst xmlns:p="http://schemas.openxmlformats.org/presentationml/2006/main">
  <p:tag name="KSO_WM_DIAGRAM_VIRTUALLY_FRAME" val="{&quot;height&quot;:330,&quot;left&quot;:61.5,&quot;top&quot;:159.75,&quot;width&quot;:837.0116535433071}"/>
</p:tagLst>
</file>

<file path=ppt/tags/tag38.xml><?xml version="1.0" encoding="utf-8"?>
<p:tagLst xmlns:p="http://schemas.openxmlformats.org/presentationml/2006/main">
  <p:tag name="KSO_WM_DIAGRAM_VIRTUALLY_FRAME" val="{&quot;height&quot;:330,&quot;left&quot;:61.5,&quot;top&quot;:159.75,&quot;width&quot;:837.0116535433071}"/>
</p:tagLst>
</file>

<file path=ppt/tags/tag39.xml><?xml version="1.0" encoding="utf-8"?>
<p:tagLst xmlns:p="http://schemas.openxmlformats.org/presentationml/2006/main">
  <p:tag name="KSO_WM_DIAGRAM_VIRTUALLY_FRAME" val="{&quot;height&quot;:330,&quot;left&quot;:61.5,&quot;top&quot;:159.75,&quot;width&quot;:837.0116535433071}"/>
</p:tagLst>
</file>

<file path=ppt/tags/tag40.xml><?xml version="1.0" encoding="utf-8"?>
<p:tagLst xmlns:p="http://schemas.openxmlformats.org/presentationml/2006/main">
  <p:tag name="KSO_WM_DIAGRAM_VIRTUALLY_FRAME" val="{&quot;height&quot;:330,&quot;left&quot;:61.5,&quot;top&quot;:159.75,&quot;width&quot;:837.0116535433071}"/>
</p:tagLst>
</file>

<file path=ppt/tags/tag41.xml><?xml version="1.0" encoding="utf-8"?>
<p:tagLst xmlns:p="http://schemas.openxmlformats.org/presentationml/2006/main">
  <p:tag name="KSO_WM_DIAGRAM_VIRTUALLY_FRAME" val="{&quot;height&quot;:330,&quot;left&quot;:61.5,&quot;top&quot;:159.75,&quot;width&quot;:837.0116535433071}"/>
</p:tagLst>
</file>

<file path=ppt/tags/tag42.xml><?xml version="1.0" encoding="utf-8"?>
<p:tagLst xmlns:p="http://schemas.openxmlformats.org/presentationml/2006/main">
  <p:tag name="KSO_WM_DIAGRAM_VIRTUALLY_FRAME" val="{&quot;height&quot;:330,&quot;left&quot;:61.5,&quot;top&quot;:159.75,&quot;width&quot;:837.0116535433071}"/>
</p:tagLst>
</file>

<file path=ppt/tags/tag43.xml><?xml version="1.0" encoding="utf-8"?>
<p:tagLst xmlns:p="http://schemas.openxmlformats.org/presentationml/2006/main">
  <p:tag name="KSO_WM_DIAGRAM_VIRTUALLY_FRAME" val="{&quot;height&quot;:330,&quot;left&quot;:61.5,&quot;top&quot;:159.75,&quot;width&quot;:837.0116535433071}"/>
</p:tagLst>
</file>

<file path=ppt/tags/tag44.xml><?xml version="1.0" encoding="utf-8"?>
<p:tagLst xmlns:p="http://schemas.openxmlformats.org/presentationml/2006/main">
  <p:tag name="KSO_WM_DIAGRAM_VIRTUALLY_FRAME" val="{&quot;height&quot;:330,&quot;left&quot;:61.5,&quot;top&quot;:159.75,&quot;width&quot;:837.0116535433071}"/>
</p:tagLst>
</file>

<file path=ppt/tags/tag45.xml><?xml version="1.0" encoding="utf-8"?>
<p:tagLst xmlns:p="http://schemas.openxmlformats.org/presentationml/2006/main">
  <p:tag name="KSO_WM_DIAGRAM_VIRTUALLY_FRAME" val="{&quot;height&quot;:330,&quot;left&quot;:61.5,&quot;top&quot;:159.75,&quot;width&quot;:837.0116535433071}"/>
</p:tagLst>
</file>

<file path=ppt/tags/tag46.xml><?xml version="1.0" encoding="utf-8"?>
<p:tagLst xmlns:p="http://schemas.openxmlformats.org/presentationml/2006/main">
  <p:tag name="KSO_WM_DIAGRAM_VIRTUALLY_FRAME" val="{&quot;height&quot;:330,&quot;left&quot;:61.5,&quot;top&quot;:159.75,&quot;width&quot;:837.0116535433071}"/>
</p:tagLst>
</file>

<file path=ppt/tags/tag47.xml><?xml version="1.0" encoding="utf-8"?>
<p:tagLst xmlns:p="http://schemas.openxmlformats.org/presentationml/2006/main">
  <p:tag name="KSO_WM_DIAGRAM_VIRTUALLY_FRAME" val="{&quot;height&quot;:330,&quot;left&quot;:61.5,&quot;top&quot;:159.75,&quot;width&quot;:837.0116535433071}"/>
</p:tagLst>
</file>

<file path=ppt/tags/tag48.xml><?xml version="1.0" encoding="utf-8"?>
<p:tagLst xmlns:p="http://schemas.openxmlformats.org/presentationml/2006/main">
  <p:tag name="KSO_WM_DIAGRAM_VIRTUALLY_FRAME" val="{&quot;height&quot;:330,&quot;left&quot;:61.5,&quot;top&quot;:159.75,&quot;width&quot;:837.0116535433071}"/>
</p:tagLst>
</file>

<file path=ppt/tags/tag49.xml><?xml version="1.0" encoding="utf-8"?>
<p:tagLst xmlns:p="http://schemas.openxmlformats.org/presentationml/2006/main">
  <p:tag name="KSO_WM_DIAGRAM_VIRTUALLY_FRAME" val="{&quot;height&quot;:330,&quot;left&quot;:61.5,&quot;top&quot;:159.75,&quot;width&quot;:837.0116535433071}"/>
</p:tagLst>
</file>

<file path=ppt/tags/tag50.xml><?xml version="1.0" encoding="utf-8"?>
<p:tagLst xmlns:p="http://schemas.openxmlformats.org/presentationml/2006/main">
  <p:tag name="KSO_WM_DIAGRAM_VIRTUALLY_FRAME" val="{&quot;height&quot;:330,&quot;left&quot;:61.5,&quot;top&quot;:159.75,&quot;width&quot;:837.0116535433071}"/>
</p:tagLst>
</file>

<file path=ppt/tags/tag51.xml><?xml version="1.0" encoding="utf-8"?>
<p:tagLst xmlns:p="http://schemas.openxmlformats.org/presentationml/2006/main">
  <p:tag name="KSO_WM_DIAGRAM_VIRTUALLY_FRAME" val="{&quot;height&quot;:330,&quot;left&quot;:61.5,&quot;top&quot;:159.75,&quot;width&quot;:837.0116535433071}"/>
</p:tagLst>
</file>

<file path=ppt/tags/tag52.xml><?xml version="1.0" encoding="utf-8"?>
<p:tagLst xmlns:p="http://schemas.openxmlformats.org/presentationml/2006/main">
  <p:tag name="KSO_WM_DIAGRAM_VIRTUALLY_FRAME" val="{&quot;height&quot;:330,&quot;left&quot;:61.5,&quot;top&quot;:159.75,&quot;width&quot;:837.0116535433071}"/>
</p:tagLst>
</file>

<file path=ppt/tags/tag53.xml><?xml version="1.0" encoding="utf-8"?>
<p:tagLst xmlns:p="http://schemas.openxmlformats.org/presentationml/2006/main">
  <p:tag name="KSO_WM_DIAGRAM_VIRTUALLY_FRAME" val="{&quot;height&quot;:330,&quot;left&quot;:61.5,&quot;top&quot;:159.75,&quot;width&quot;:837.0116535433071}"/>
</p:tagLst>
</file>

<file path=ppt/tags/tag54.xml><?xml version="1.0" encoding="utf-8"?>
<p:tagLst xmlns:p="http://schemas.openxmlformats.org/presentationml/2006/main">
  <p:tag name="KSO_WM_DIAGRAM_VIRTUALLY_FRAME" val="{&quot;height&quot;:330,&quot;left&quot;:61.5,&quot;top&quot;:159.75,&quot;width&quot;:837.0116535433071}"/>
</p:tagLst>
</file>

<file path=ppt/tags/tag55.xml><?xml version="1.0" encoding="utf-8"?>
<p:tagLst xmlns:p="http://schemas.openxmlformats.org/presentationml/2006/main">
  <p:tag name="KSO_WM_DIAGRAM_VIRTUALLY_FRAME" val="{&quot;height&quot;:330,&quot;left&quot;:61.5,&quot;top&quot;:159.75,&quot;width&quot;:837.0116535433071}"/>
</p:tagLst>
</file>

<file path=ppt/tags/tag56.xml><?xml version="1.0" encoding="utf-8"?>
<p:tagLst xmlns:p="http://schemas.openxmlformats.org/presentationml/2006/main">
  <p:tag name="KSO_WM_DIAGRAM_VIRTUALLY_FRAME" val="{&quot;height&quot;:330,&quot;left&quot;:61.5,&quot;top&quot;:159.75,&quot;width&quot;:837.0116535433071}"/>
</p:tagLst>
</file>

<file path=ppt/tags/tag57.xml><?xml version="1.0" encoding="utf-8"?>
<p:tagLst xmlns:p="http://schemas.openxmlformats.org/presentationml/2006/main">
  <p:tag name="KSO_WM_DIAGRAM_VIRTUALLY_FRAME" val="{&quot;height&quot;:397.5,&quot;left&quot;:411,&quot;top&quot;:71.25,&quot;width&quot;:474}"/>
</p:tagLst>
</file>

<file path=ppt/tags/tag58.xml><?xml version="1.0" encoding="utf-8"?>
<p:tagLst xmlns:p="http://schemas.openxmlformats.org/presentationml/2006/main">
  <p:tag name="KSO_WM_DIAGRAM_VIRTUALLY_FRAME" val="{&quot;height&quot;:397.5,&quot;left&quot;:411,&quot;top&quot;:71.25,&quot;width&quot;:474}"/>
</p:tagLst>
</file>

<file path=ppt/tags/tag59.xml><?xml version="1.0" encoding="utf-8"?>
<p:tagLst xmlns:p="http://schemas.openxmlformats.org/presentationml/2006/main">
  <p:tag name="TABLE_ENDDRAG_ORIGIN_RECT" val="778*325"/>
  <p:tag name="TABLE_ENDDRAG_RECT" val="83*139*778*325"/>
</p:tagLst>
</file>

<file path=ppt/tags/tag60.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1.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2.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3.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4.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5.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6.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7.xml><?xml version="1.0" encoding="utf-8"?>
<p:tagLst xmlns:p="http://schemas.openxmlformats.org/presentationml/2006/main">
  <p:tag name="KSO_WM_DIAGRAM_VIRTUALLY_FRAME" val="{&quot;height&quot;:311.85236220472444,&quot;left&quot;:353.74212598425197,&quot;top&quot;:182.0976377952756,&quot;width&quot;:536.4960629921259}"/>
</p:tagLst>
</file>

<file path=ppt/tags/tag68.xml><?xml version="1.0" encoding="utf-8"?>
<p:tagLst xmlns:p="http://schemas.openxmlformats.org/presentationml/2006/main">
  <p:tag name="KSO_WM_DIAGRAM_VIRTUALLY_FRAME" val="{&quot;height&quot;:397.5,&quot;left&quot;:411,&quot;top&quot;:71.25,&quot;width&quot;:474}"/>
</p:tagLst>
</file>

<file path=ppt/tags/tag69.xml><?xml version="1.0" encoding="utf-8"?>
<p:tagLst xmlns:p="http://schemas.openxmlformats.org/presentationml/2006/main">
  <p:tag name="KSO_WM_DIAGRAM_VIRTUALLY_FRAME" val="{&quot;height&quot;:397.5,&quot;left&quot;:411,&quot;top&quot;:71.25,&quot;width&quot;:474}"/>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2094</Words>
  <Application>WPS 演示</Application>
  <PresentationFormat/>
  <Paragraphs>285</Paragraphs>
  <Slides>11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宋体</vt:lpstr>
      <vt:lpstr>Wingdings</vt:lpstr>
      <vt:lpstr>Arial</vt:lpstr>
      <vt:lpstr>Calibri</vt:lpstr>
      <vt:lpstr>Times</vt:lpstr>
      <vt:lpstr>Times New Roman</vt:lpstr>
      <vt:lpstr>Times New Roman</vt:lpstr>
      <vt:lpstr>微软雅黑</vt:lpstr>
      <vt:lpstr>Arial Unicode MS</vt:lpstr>
      <vt:lpstr>Calibri</vt:lpstr>
      <vt:lpstr>Times</vt:lpstr>
      <vt:lpstr>Good Times</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张梦雯</cp:lastModifiedBy>
  <cp:revision>25</cp:revision>
  <dcterms:created xsi:type="dcterms:W3CDTF">2026-07-11T03:56:53Z</dcterms:created>
  <dcterms:modified xsi:type="dcterms:W3CDTF">2026-07-11T04:25:35Z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B251E9420F4945D696324EC78705DDF1_12</vt:lpwstr>
  </property>
  <property fmtid="{D5CDD505-2E9C-101B-9397-08002B2CF9AE}" pid="3" name="KSOProductBuildVer">
    <vt:lpwstr>2052-12.1.0.26375</vt:lpwstr>
  </property>
</Properties>
</file>