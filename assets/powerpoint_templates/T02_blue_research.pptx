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000000"/>
          </p15:clr>
        </p15:guide>
        <p15:guide id="2" pos="2848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B8C"/>
    <a:srgbClr val="E8F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7E7BAE-74C4-4D8F-9097-769C9C248CE3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44"/>
        <p:guide pos="284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8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4" Type="http://schemas.openxmlformats.org/officeDocument/2006/relationships/notesSlide" Target="../notesSlides/notesSlide5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image" Target="../media/image17.png"/><Relationship Id="rId29" Type="http://schemas.openxmlformats.org/officeDocument/2006/relationships/tags" Target="../tags/tag21.xml"/><Relationship Id="rId28" Type="http://schemas.openxmlformats.org/officeDocument/2006/relationships/tags" Target="../tags/tag20.xml"/><Relationship Id="rId27" Type="http://schemas.openxmlformats.org/officeDocument/2006/relationships/image" Target="../media/image22.png"/><Relationship Id="rId26" Type="http://schemas.openxmlformats.org/officeDocument/2006/relationships/tags" Target="../tags/tag19.xml"/><Relationship Id="rId25" Type="http://schemas.openxmlformats.org/officeDocument/2006/relationships/image" Target="../media/image21.png"/><Relationship Id="rId24" Type="http://schemas.openxmlformats.org/officeDocument/2006/relationships/tags" Target="../tags/tag18.xml"/><Relationship Id="rId23" Type="http://schemas.openxmlformats.org/officeDocument/2006/relationships/image" Target="../media/image20.png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3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25.png"/><Relationship Id="rId6" Type="http://schemas.openxmlformats.org/officeDocument/2006/relationships/tags" Target="../tags/tag27.xml"/><Relationship Id="rId5" Type="http://schemas.openxmlformats.org/officeDocument/2006/relationships/image" Target="../media/image24.png"/><Relationship Id="rId49" Type="http://schemas.openxmlformats.org/officeDocument/2006/relationships/notesSlide" Target="../notesSlides/notesSlide6.xml"/><Relationship Id="rId48" Type="http://schemas.openxmlformats.org/officeDocument/2006/relationships/slideLayout" Target="../slideLayouts/slideLayout1.xml"/><Relationship Id="rId47" Type="http://schemas.openxmlformats.org/officeDocument/2006/relationships/image" Target="../media/image37.png"/><Relationship Id="rId46" Type="http://schemas.openxmlformats.org/officeDocument/2006/relationships/tags" Target="../tags/tag54.xml"/><Relationship Id="rId45" Type="http://schemas.openxmlformats.org/officeDocument/2006/relationships/image" Target="../media/image36.png"/><Relationship Id="rId44" Type="http://schemas.openxmlformats.org/officeDocument/2006/relationships/tags" Target="../tags/tag53.xml"/><Relationship Id="rId43" Type="http://schemas.openxmlformats.org/officeDocument/2006/relationships/image" Target="../media/image35.png"/><Relationship Id="rId42" Type="http://schemas.openxmlformats.org/officeDocument/2006/relationships/tags" Target="../tags/tag52.xml"/><Relationship Id="rId41" Type="http://schemas.openxmlformats.org/officeDocument/2006/relationships/image" Target="../media/image34.png"/><Relationship Id="rId40" Type="http://schemas.openxmlformats.org/officeDocument/2006/relationships/tags" Target="../tags/tag51.xml"/><Relationship Id="rId4" Type="http://schemas.openxmlformats.org/officeDocument/2006/relationships/tags" Target="../tags/tag26.xml"/><Relationship Id="rId39" Type="http://schemas.openxmlformats.org/officeDocument/2006/relationships/image" Target="../media/image33.png"/><Relationship Id="rId38" Type="http://schemas.openxmlformats.org/officeDocument/2006/relationships/tags" Target="../tags/tag50.xml"/><Relationship Id="rId37" Type="http://schemas.openxmlformats.org/officeDocument/2006/relationships/image" Target="../media/image32.png"/><Relationship Id="rId36" Type="http://schemas.openxmlformats.org/officeDocument/2006/relationships/tags" Target="../tags/tag49.xml"/><Relationship Id="rId35" Type="http://schemas.openxmlformats.org/officeDocument/2006/relationships/image" Target="../media/image31.png"/><Relationship Id="rId34" Type="http://schemas.openxmlformats.org/officeDocument/2006/relationships/tags" Target="../tags/tag48.xml"/><Relationship Id="rId33" Type="http://schemas.openxmlformats.org/officeDocument/2006/relationships/image" Target="../media/image30.png"/><Relationship Id="rId32" Type="http://schemas.openxmlformats.org/officeDocument/2006/relationships/tags" Target="../tags/tag47.xml"/><Relationship Id="rId31" Type="http://schemas.openxmlformats.org/officeDocument/2006/relationships/image" Target="../media/image29.png"/><Relationship Id="rId30" Type="http://schemas.openxmlformats.org/officeDocument/2006/relationships/tags" Target="../tags/tag46.xml"/><Relationship Id="rId3" Type="http://schemas.openxmlformats.org/officeDocument/2006/relationships/image" Target="../media/image23.png"/><Relationship Id="rId29" Type="http://schemas.openxmlformats.org/officeDocument/2006/relationships/image" Target="../media/image28.png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5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image" Target="../media/image3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image" Target="../media/image27.png"/><Relationship Id="rId11" Type="http://schemas.openxmlformats.org/officeDocument/2006/relationships/tags" Target="../tags/tag30.xml"/><Relationship Id="rId10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51.png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1" Type="http://schemas.openxmlformats.org/officeDocument/2006/relationships/image" Target="../media/image46.png"/><Relationship Id="rId10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5.xml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3771900"/>
            <a:ext cx="121920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91159" y="923925"/>
            <a:ext cx="10009532" cy="75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论文答辩/文献汇报通用PPT模板</a:t>
            </a:r>
            <a:endParaRPr lang="en-US" sz="4875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695700" y="2047875"/>
            <a:ext cx="4800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8F0F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基于大规模多组学数据与人工智能算法的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Calibri" panose="020F0502020204030204"/>
              </a:rPr>
            </a:br>
            <a:r>
              <a:rPr lang="en-US" sz="2100" b="0" i="0" u="none" strike="noStrike" cap="none">
                <a:solidFill>
                  <a:srgbClr val="E8F0F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疾病预测及临床转化研究</a:t>
            </a:r>
            <a:endParaRPr lang="en-US" sz="2100" b="0" i="0" u="none" strike="noStrike" cap="none">
              <a:solidFill>
                <a:srgbClr val="E8F0F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597050" y="4867275"/>
            <a:ext cx="32067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4B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汇  报  人：输入姓名</a:t>
            </a:r>
            <a:endParaRPr lang="en-US" sz="1800" b="1" i="0" u="none" strike="noStrike" cap="none">
              <a:solidFill>
                <a:srgbClr val="1A4B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65850" y="4867275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4B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指导教师：输入导师姓名 教授</a:t>
            </a:r>
            <a:endParaRPr lang="en-US" sz="1800" b="1" i="0" u="none" strike="noStrike" cap="none">
              <a:solidFill>
                <a:srgbClr val="1A4B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597050" y="5457825"/>
            <a:ext cx="3487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4B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专       业：临床医学/生物信息学</a:t>
            </a:r>
            <a:endParaRPr lang="en-US" sz="1800" b="1" i="0" u="none" strike="noStrike" cap="none">
              <a:solidFill>
                <a:srgbClr val="1A4B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565850" y="5457825"/>
            <a:ext cx="3028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A4B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日       期：202X年12月XX日</a:t>
            </a:r>
            <a:endParaRPr lang="en-US" sz="1800" b="1" i="0" u="none" strike="noStrike" cap="none">
              <a:solidFill>
                <a:srgbClr val="1A4B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638300"/>
            <a:ext cx="114300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33400" y="2543175"/>
            <a:ext cx="111252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495300" y="1000125"/>
            <a:ext cx="113157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研究摘要与整体系统架构设计</a:t>
            </a:r>
            <a:endParaRPr lang="en-US" sz="18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381000" y="1000125"/>
            <a:ext cx="57150" cy="3048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533400" y="1790700"/>
            <a:ext cx="11125200" cy="62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该研究的检测技术高度适配临床常规流程，AI模型具备易部署、易操作的特性，兼具基层推广的经济性与现有临床系统的兼容性。单栏布局非常适合放置大段落的背景介绍，或者展示一张清晰、占据大面积的复杂逻辑流程图。所有文字均可直接点击编辑。</a:t>
            </a:r>
            <a:endParaRPr lang="en-US" sz="1350" b="1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147964" y="4343400"/>
            <a:ext cx="189592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同侧圆角矩形 3"/>
          <p:cNvSpPr/>
          <p:nvPr/>
        </p:nvSpPr>
        <p:spPr>
          <a:xfrm>
            <a:off x="365760" y="340995"/>
            <a:ext cx="1120140" cy="392430"/>
          </a:xfrm>
          <a:prstGeom prst="round2SameRect">
            <a:avLst/>
          </a:prstGeom>
          <a:solidFill>
            <a:srgbClr val="1A4B8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同侧圆角矩形 1"/>
          <p:cNvSpPr/>
          <p:nvPr/>
        </p:nvSpPr>
        <p:spPr>
          <a:xfrm>
            <a:off x="181991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340233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研究思路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5225415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6803390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创新启发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同侧圆角矩形 8"/>
          <p:cNvSpPr/>
          <p:nvPr/>
        </p:nvSpPr>
        <p:spPr>
          <a:xfrm>
            <a:off x="8381365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结论总结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638300"/>
            <a:ext cx="5595937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15062" y="1638300"/>
            <a:ext cx="5595937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33400" y="3181350"/>
            <a:ext cx="5291137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67462" y="3409950"/>
            <a:ext cx="5291137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495300" y="1000125"/>
            <a:ext cx="113157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临床痛点分析与AI模型部署特性对比</a:t>
            </a:r>
            <a:endParaRPr lang="en-US" sz="18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81000" y="1000125"/>
            <a:ext cx="57150" cy="3048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90525" y="1647825"/>
            <a:ext cx="5576887" cy="4191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33400" y="1743075"/>
            <a:ext cx="52911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传统临床决策系统局限性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224587" y="1647825"/>
            <a:ext cx="5576887" cy="4191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367462" y="1743075"/>
            <a:ext cx="52911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云端AI模型便捷部署特性</a:t>
            </a:r>
            <a:endParaRPr lang="en-US" sz="135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33400" y="2209800"/>
            <a:ext cx="5291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痛点一：</a:t>
            </a: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传统临床模型缺乏跨病种的通用性，难以实现一站式筛查，流程繁琐。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533400" y="2762250"/>
            <a:ext cx="52911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痛点二：</a:t>
            </a: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标志物检测高度依赖昂贵的专有设备，数据难以实现标准化统筹。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6367462" y="2209800"/>
            <a:ext cx="5291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优势一：</a:t>
            </a: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模型已完成轻量化算法优化，可直接部署于常规医疗服务器，计算高效。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367462" y="2762250"/>
            <a:ext cx="5291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优势二：</a:t>
            </a: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实现多模态数据特征降维，网络关联性强，极大满足大规模群体早筛需求。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688306" y="3286125"/>
            <a:ext cx="298132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165181" y="3714750"/>
            <a:ext cx="36957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同侧圆角矩形 3"/>
          <p:cNvSpPr/>
          <p:nvPr/>
        </p:nvSpPr>
        <p:spPr>
          <a:xfrm>
            <a:off x="365760" y="34099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同侧圆角矩形 1"/>
          <p:cNvSpPr/>
          <p:nvPr/>
        </p:nvSpPr>
        <p:spPr>
          <a:xfrm>
            <a:off x="1819910" y="330835"/>
            <a:ext cx="1120140" cy="392430"/>
          </a:xfrm>
          <a:prstGeom prst="round2SameRect">
            <a:avLst/>
          </a:prstGeom>
          <a:solidFill>
            <a:srgbClr val="1A4B8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340233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研究思路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5225415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6803390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创新启发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同侧圆角矩形 8"/>
          <p:cNvSpPr/>
          <p:nvPr/>
        </p:nvSpPr>
        <p:spPr>
          <a:xfrm>
            <a:off x="8381365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结论总结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638300"/>
            <a:ext cx="36512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70325" y="1638300"/>
            <a:ext cx="36512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59650" y="1638300"/>
            <a:ext cx="3651349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495300" y="1000125"/>
            <a:ext cx="113157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核心研究理念与技术框架突破</a:t>
            </a:r>
            <a:endParaRPr lang="en-US" sz="18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81000" y="1000125"/>
            <a:ext cx="57150" cy="3048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791970" y="1936115"/>
            <a:ext cx="953135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34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71500" y="3252775"/>
            <a:ext cx="3270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打破学科壁垒，融合蛋白质组学、人工智能、临床医学等多领域前沿技术，开创大规模精准医学研究新范式。研究视角从传统的“单一维度”全面转向“全景式关联”。</a:t>
            </a:r>
            <a:endParaRPr lang="en-US" sz="1200" b="0" i="0" u="none" strike="noStrike" cap="non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876925" y="1962150"/>
            <a:ext cx="601980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34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4460825" y="3222175"/>
            <a:ext cx="3270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依托算力升级，自主开发的深度学习AI算法成功攻克了海量蛋白质-疾病表型数据的复杂关联分析难题。在保证诊断精度的前提下，实现了模型跨队列泛化能力的飞跃。</a:t>
            </a:r>
            <a:endParaRPr lang="en-US" sz="1200" b="0" i="0" u="none" strike="noStrike" cap="non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9766300" y="1962150"/>
            <a:ext cx="616585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34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350050" y="3222175"/>
            <a:ext cx="3270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高效串联高通量检测、多源大数据跨组学整合、AI建模解释等多个独立技术环节，形成了一个极其完整且闭环的精准医学研究技术链条，突破了离散分析瓶颈。</a:t>
            </a:r>
            <a:endParaRPr lang="en-US" sz="1200" b="0" i="0" u="none" strike="noStrike" cap="non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546443" y="2514600"/>
            <a:ext cx="132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交叉学科创新</a:t>
            </a:r>
            <a:endParaRPr lang="en-US" sz="16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5435843" y="2498775"/>
            <a:ext cx="132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算法开发创新</a:t>
            </a:r>
            <a:endParaRPr lang="en-US" sz="16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9491942" y="2498700"/>
            <a:ext cx="132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技术整合创新</a:t>
            </a:r>
            <a:endParaRPr lang="en-US" sz="16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同侧圆角矩形 3"/>
          <p:cNvSpPr/>
          <p:nvPr/>
        </p:nvSpPr>
        <p:spPr>
          <a:xfrm>
            <a:off x="365760" y="34099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同侧圆角矩形 1"/>
          <p:cNvSpPr/>
          <p:nvPr/>
        </p:nvSpPr>
        <p:spPr>
          <a:xfrm>
            <a:off x="181991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3402330" y="330835"/>
            <a:ext cx="1120140" cy="392430"/>
          </a:xfrm>
          <a:prstGeom prst="round2SameRect">
            <a:avLst/>
          </a:prstGeom>
          <a:solidFill>
            <a:srgbClr val="1A4B8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研究思路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5225415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6803390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创新启发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同侧圆角矩形 8"/>
          <p:cNvSpPr/>
          <p:nvPr/>
        </p:nvSpPr>
        <p:spPr>
          <a:xfrm>
            <a:off x="8381365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结论总结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81000" y="1638300"/>
            <a:ext cx="271462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286125" y="1638300"/>
            <a:ext cx="271462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6191250" y="1638300"/>
            <a:ext cx="271462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9096375" y="1638300"/>
            <a:ext cx="271462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533400" y="3114675"/>
            <a:ext cx="240982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3438525" y="3114675"/>
            <a:ext cx="240982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6343650" y="3114675"/>
            <a:ext cx="240982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9248775" y="3114675"/>
            <a:ext cx="240982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495300" y="1000125"/>
            <a:ext cx="113157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研究项目阶段性实施流程拆解</a:t>
            </a:r>
            <a:endParaRPr lang="en-US" sz="18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81000" y="1000125"/>
            <a:ext cx="57150" cy="3048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17"/>
          <p:cNvSpPr txBox="1"/>
          <p:nvPr>
            <p:custDataLst>
              <p:tags r:id="rId14"/>
            </p:custDataLst>
          </p:nvPr>
        </p:nvSpPr>
        <p:spPr>
          <a:xfrm>
            <a:off x="533400" y="2133600"/>
            <a:ext cx="253031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样本采集检测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2" name="Google Shape;192;p17"/>
          <p:cNvSpPr txBox="1"/>
          <p:nvPr>
            <p:custDataLst>
              <p:tags r:id="rId15"/>
            </p:custDataLst>
          </p:nvPr>
        </p:nvSpPr>
        <p:spPr>
          <a:xfrm>
            <a:off x="533400" y="2457450"/>
            <a:ext cx="2409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收集人群外周血样本，利用质谱技术检测并定量血浆蛋白表达水平，建立基线数据库。</a:t>
            </a:r>
            <a:endParaRPr lang="en-US" sz="1050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3" name="Google Shape;193;p17"/>
          <p:cNvSpPr txBox="1"/>
          <p:nvPr>
            <p:custDataLst>
              <p:tags r:id="rId16"/>
            </p:custDataLst>
          </p:nvPr>
        </p:nvSpPr>
        <p:spPr>
          <a:xfrm>
            <a:off x="3438525" y="2133600"/>
            <a:ext cx="253031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多组学数据整合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4" name="Google Shape;194;p17"/>
          <p:cNvSpPr txBox="1"/>
          <p:nvPr>
            <p:custDataLst>
              <p:tags r:id="rId17"/>
            </p:custDataLst>
          </p:nvPr>
        </p:nvSpPr>
        <p:spPr>
          <a:xfrm>
            <a:off x="3438525" y="2457450"/>
            <a:ext cx="24098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关联各类既往患病史、新发疾病及健康表型数据，形成复杂的多维特征数据矩阵。</a:t>
            </a:r>
            <a:endParaRPr lang="en-US" sz="1050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5" name="Google Shape;195;p17"/>
          <p:cNvSpPr txBox="1"/>
          <p:nvPr>
            <p:custDataLst>
              <p:tags r:id="rId18"/>
            </p:custDataLst>
          </p:nvPr>
        </p:nvSpPr>
        <p:spPr>
          <a:xfrm>
            <a:off x="6343650" y="2133600"/>
            <a:ext cx="253031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预测模型构建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6" name="Google Shape;196;p17"/>
          <p:cNvSpPr txBox="1"/>
          <p:nvPr>
            <p:custDataLst>
              <p:tags r:id="rId19"/>
            </p:custDataLst>
          </p:nvPr>
        </p:nvSpPr>
        <p:spPr>
          <a:xfrm>
            <a:off x="6343650" y="2457450"/>
            <a:ext cx="2409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利用深度学习算法，深入挖掘隐藏关联，针对多种目标疾病建立复合风险预测模型。</a:t>
            </a:r>
            <a:endParaRPr lang="en-US" sz="1050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p17"/>
          <p:cNvSpPr txBox="1"/>
          <p:nvPr>
            <p:custDataLst>
              <p:tags r:id="rId20"/>
            </p:custDataLst>
          </p:nvPr>
        </p:nvSpPr>
        <p:spPr>
          <a:xfrm>
            <a:off x="9248775" y="2133600"/>
            <a:ext cx="253031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临床交叉验证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p17"/>
          <p:cNvSpPr txBox="1"/>
          <p:nvPr>
            <p:custDataLst>
              <p:tags r:id="rId21"/>
            </p:custDataLst>
          </p:nvPr>
        </p:nvSpPr>
        <p:spPr>
          <a:xfrm>
            <a:off x="9248775" y="2457450"/>
            <a:ext cx="24098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在独立的外部验证队列中，全面检验模型的预测性能、稳定性及实际临床可用性。</a:t>
            </a:r>
            <a:endParaRPr lang="en-US" sz="1050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99" name="Google Shape;199;p17" descr="image.png"/>
          <p:cNvPicPr preferRelativeResize="0"/>
          <p:nvPr>
            <p:custDataLst>
              <p:tags r:id="rId22"/>
            </p:custDataLst>
          </p:nvPr>
        </p:nvPicPr>
        <p:blipFill rotWithShape="1">
          <a:blip r:embed="rId23"/>
          <a:srcRect/>
          <a:stretch>
            <a:fillRect/>
          </a:stretch>
        </p:blipFill>
        <p:spPr>
          <a:xfrm>
            <a:off x="638175" y="3390902"/>
            <a:ext cx="2200275" cy="146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>
            <p:custDataLst>
              <p:tags r:id="rId24"/>
            </p:custDataLst>
          </p:nvPr>
        </p:nvPicPr>
        <p:blipFill rotWithShape="1">
          <a:blip r:embed="rId25"/>
          <a:srcRect/>
          <a:stretch>
            <a:fillRect/>
          </a:stretch>
        </p:blipFill>
        <p:spPr>
          <a:xfrm>
            <a:off x="638175" y="5081601"/>
            <a:ext cx="2200275" cy="11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 descr="image.png"/>
          <p:cNvPicPr preferRelativeResize="0"/>
          <p:nvPr>
            <p:custDataLst>
              <p:tags r:id="rId26"/>
            </p:custDataLst>
          </p:nvPr>
        </p:nvPicPr>
        <p:blipFill rotWithShape="1">
          <a:blip r:embed="rId27"/>
          <a:srcRect/>
          <a:stretch>
            <a:fillRect/>
          </a:stretch>
        </p:blipFill>
        <p:spPr>
          <a:xfrm>
            <a:off x="6448425" y="3343349"/>
            <a:ext cx="2200275" cy="147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>
            <p:custDataLst>
              <p:tags r:id="rId28"/>
            </p:custDataLst>
          </p:nvPr>
        </p:nvPicPr>
        <p:blipFill rotWithShape="1">
          <a:blip r:embed="rId27"/>
          <a:srcRect/>
          <a:stretch>
            <a:fillRect/>
          </a:stretch>
        </p:blipFill>
        <p:spPr>
          <a:xfrm>
            <a:off x="6448425" y="4819574"/>
            <a:ext cx="2200275" cy="147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>
            <p:custDataLst>
              <p:tags r:id="rId29"/>
            </p:custDataLst>
          </p:nvPr>
        </p:nvPicPr>
        <p:blipFill rotWithShape="1">
          <a:blip r:embed="rId27"/>
          <a:srcRect/>
          <a:stretch>
            <a:fillRect/>
          </a:stretch>
        </p:blipFill>
        <p:spPr>
          <a:xfrm>
            <a:off x="3619500" y="3219449"/>
            <a:ext cx="2200275" cy="147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>
            <p:custDataLst>
              <p:tags r:id="rId30"/>
            </p:custDataLst>
          </p:nvPr>
        </p:nvPicPr>
        <p:blipFill rotWithShape="1">
          <a:blip r:embed="rId27"/>
          <a:srcRect/>
          <a:stretch>
            <a:fillRect/>
          </a:stretch>
        </p:blipFill>
        <p:spPr>
          <a:xfrm>
            <a:off x="3619500" y="4906512"/>
            <a:ext cx="2200275" cy="147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>
            <p:custDataLst>
              <p:tags r:id="rId31"/>
            </p:custDataLst>
          </p:nvPr>
        </p:nvPicPr>
        <p:blipFill rotWithShape="1">
          <a:blip r:embed="rId23"/>
          <a:srcRect/>
          <a:stretch>
            <a:fillRect/>
          </a:stretch>
        </p:blipFill>
        <p:spPr>
          <a:xfrm>
            <a:off x="9413800" y="3219452"/>
            <a:ext cx="2200275" cy="146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>
            <p:custDataLst>
              <p:tags r:id="rId32"/>
            </p:custDataLst>
          </p:nvPr>
        </p:nvPicPr>
        <p:blipFill rotWithShape="1">
          <a:blip r:embed="rId27"/>
          <a:srcRect/>
          <a:stretch>
            <a:fillRect/>
          </a:stretch>
        </p:blipFill>
        <p:spPr>
          <a:xfrm>
            <a:off x="9413800" y="4906512"/>
            <a:ext cx="2200275" cy="147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同侧圆角矩形 10"/>
          <p:cNvSpPr/>
          <p:nvPr/>
        </p:nvSpPr>
        <p:spPr>
          <a:xfrm>
            <a:off x="365760" y="34099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同侧圆角矩形 1"/>
          <p:cNvSpPr/>
          <p:nvPr/>
        </p:nvSpPr>
        <p:spPr>
          <a:xfrm>
            <a:off x="181991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340233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研究思路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5225415" y="330835"/>
            <a:ext cx="1120140" cy="392430"/>
          </a:xfrm>
          <a:prstGeom prst="round2SameRect">
            <a:avLst/>
          </a:prstGeom>
          <a:solidFill>
            <a:srgbClr val="1A4B8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6803390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创新启发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同侧圆角矩形 8"/>
          <p:cNvSpPr/>
          <p:nvPr/>
        </p:nvSpPr>
        <p:spPr>
          <a:xfrm>
            <a:off x="8381365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结论总结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24510" y="1833245"/>
            <a:ext cx="977265" cy="226695"/>
          </a:xfrm>
          <a:prstGeom prst="roundRect">
            <a:avLst/>
          </a:prstGeom>
          <a:solidFill>
            <a:srgbClr val="E8F0FE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1A4B8C"/>
                </a:solidFill>
              </a:rPr>
              <a:t>step1</a:t>
            </a:r>
            <a:endParaRPr lang="en-US" altLang="zh-CN" b="1">
              <a:solidFill>
                <a:srgbClr val="1A4B8C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439160" y="1811655"/>
            <a:ext cx="977265" cy="226695"/>
          </a:xfrm>
          <a:prstGeom prst="roundRect">
            <a:avLst/>
          </a:prstGeom>
          <a:solidFill>
            <a:srgbClr val="E8F0FE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1A4B8C"/>
                </a:solidFill>
              </a:rPr>
              <a:t>step2</a:t>
            </a:r>
            <a:endParaRPr lang="en-US" altLang="zh-CN" b="1">
              <a:solidFill>
                <a:srgbClr val="1A4B8C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353810" y="1859280"/>
            <a:ext cx="977265" cy="226695"/>
          </a:xfrm>
          <a:prstGeom prst="roundRect">
            <a:avLst/>
          </a:prstGeom>
          <a:solidFill>
            <a:srgbClr val="E8F0FE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1A4B8C"/>
                </a:solidFill>
              </a:rPr>
              <a:t>step3</a:t>
            </a:r>
            <a:endParaRPr lang="en-US" altLang="zh-CN" b="1">
              <a:solidFill>
                <a:srgbClr val="1A4B8C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9248775" y="1824990"/>
            <a:ext cx="977265" cy="226695"/>
          </a:xfrm>
          <a:prstGeom prst="roundRect">
            <a:avLst/>
          </a:prstGeom>
          <a:solidFill>
            <a:srgbClr val="E8F0FE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1A4B8C"/>
                </a:solidFill>
              </a:rPr>
              <a:t>step4</a:t>
            </a:r>
            <a:endParaRPr lang="en-US" altLang="zh-CN" b="1">
              <a:solidFill>
                <a:srgbClr val="1A4B8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81000" y="1638300"/>
            <a:ext cx="21717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2695575" y="1638300"/>
            <a:ext cx="21717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5010150" y="1638300"/>
            <a:ext cx="21717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7324725" y="1638300"/>
            <a:ext cx="21717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9639300" y="1638300"/>
            <a:ext cx="21717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533400" y="4533900"/>
            <a:ext cx="18669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2847975" y="4533900"/>
            <a:ext cx="18669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5162550" y="4533900"/>
            <a:ext cx="18669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>
            <p:custDataLst>
              <p:tags r:id="rId15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7477125" y="4533900"/>
            <a:ext cx="18669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9791700" y="4533900"/>
            <a:ext cx="18669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 descr="image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495300" y="1000125"/>
            <a:ext cx="1131570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全链条疾病诊断与靶向药物发现范式</a:t>
            </a:r>
            <a:endParaRPr lang="en-US" sz="18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381000" y="1000125"/>
            <a:ext cx="57150" cy="3048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18"/>
          <p:cNvSpPr txBox="1"/>
          <p:nvPr>
            <p:custDataLst>
              <p:tags r:id="rId18"/>
            </p:custDataLst>
          </p:nvPr>
        </p:nvSpPr>
        <p:spPr>
          <a:xfrm>
            <a:off x="486727" y="2095500"/>
            <a:ext cx="19602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队列设计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2" name="Google Shape;232;p18"/>
          <p:cNvSpPr txBox="1"/>
          <p:nvPr>
            <p:custDataLst>
              <p:tags r:id="rId19"/>
            </p:custDataLst>
          </p:nvPr>
        </p:nvSpPr>
        <p:spPr>
          <a:xfrm>
            <a:off x="533400" y="2419350"/>
            <a:ext cx="1866900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建立标准化人群随访队列，完成体格检查与问卷基线构建。</a:t>
            </a:r>
            <a:endParaRPr lang="en-US" sz="975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3" name="Google Shape;233;p18"/>
          <p:cNvSpPr txBox="1"/>
          <p:nvPr>
            <p:custDataLst>
              <p:tags r:id="rId20"/>
            </p:custDataLst>
          </p:nvPr>
        </p:nvSpPr>
        <p:spPr>
          <a:xfrm>
            <a:off x="2801302" y="2095500"/>
            <a:ext cx="19602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质谱分析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4" name="Google Shape;234;p18"/>
          <p:cNvSpPr txBox="1"/>
          <p:nvPr>
            <p:custDataLst>
              <p:tags r:id="rId21"/>
            </p:custDataLst>
          </p:nvPr>
        </p:nvSpPr>
        <p:spPr>
          <a:xfrm>
            <a:off x="2847975" y="2419350"/>
            <a:ext cx="1866900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实施高通量血浆蛋白检测，获得千余种目标蛋白绝对定量。</a:t>
            </a:r>
            <a:endParaRPr lang="en-US" sz="975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5" name="Google Shape;235;p18"/>
          <p:cNvSpPr txBox="1"/>
          <p:nvPr>
            <p:custDataLst>
              <p:tags r:id="rId22"/>
            </p:custDataLst>
          </p:nvPr>
        </p:nvSpPr>
        <p:spPr>
          <a:xfrm>
            <a:off x="5115877" y="2095500"/>
            <a:ext cx="19602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靶点挖掘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6" name="Google Shape;236;p18"/>
          <p:cNvSpPr txBox="1"/>
          <p:nvPr>
            <p:custDataLst>
              <p:tags r:id="rId23"/>
            </p:custDataLst>
          </p:nvPr>
        </p:nvSpPr>
        <p:spPr>
          <a:xfrm>
            <a:off x="5162550" y="2419350"/>
            <a:ext cx="1866900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执行多维度关联分析，绘制广域图谱，鉴定潜在治疗靶点。</a:t>
            </a:r>
            <a:endParaRPr lang="en-US" sz="975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p18"/>
          <p:cNvSpPr txBox="1"/>
          <p:nvPr>
            <p:custDataLst>
              <p:tags r:id="rId24"/>
            </p:custDataLst>
          </p:nvPr>
        </p:nvSpPr>
        <p:spPr>
          <a:xfrm>
            <a:off x="7430452" y="2095500"/>
            <a:ext cx="19602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机制验证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p18"/>
          <p:cNvSpPr txBox="1"/>
          <p:nvPr>
            <p:custDataLst>
              <p:tags r:id="rId25"/>
            </p:custDataLst>
          </p:nvPr>
        </p:nvSpPr>
        <p:spPr>
          <a:xfrm>
            <a:off x="7477125" y="2419350"/>
            <a:ext cx="1866900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结合动物实验证实靶点调控作用，为药物研发提供直接依据。</a:t>
            </a:r>
            <a:endParaRPr lang="en-US" sz="975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p18"/>
          <p:cNvSpPr txBox="1"/>
          <p:nvPr>
            <p:custDataLst>
              <p:tags r:id="rId26"/>
            </p:custDataLst>
          </p:nvPr>
        </p:nvSpPr>
        <p:spPr>
          <a:xfrm>
            <a:off x="9745027" y="2095500"/>
            <a:ext cx="19602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诊疗一体化</a:t>
            </a:r>
            <a:endParaRPr lang="en-US" sz="1350" b="1" i="0" u="none" strike="noStrike" cap="none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0" name="Google Shape;240;p18"/>
          <p:cNvSpPr txBox="1"/>
          <p:nvPr>
            <p:custDataLst>
              <p:tags r:id="rId27"/>
            </p:custDataLst>
          </p:nvPr>
        </p:nvSpPr>
        <p:spPr>
          <a:xfrm>
            <a:off x="9791700" y="2419350"/>
            <a:ext cx="1866900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输出无创筛查方案，实现“诊断-治疗-监测”临床转化全闭环。</a:t>
            </a:r>
            <a:endParaRPr lang="en-US" sz="975" b="0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pic>
        <p:nvPicPr>
          <p:cNvPr id="241" name="Google Shape;241;p18" descr="image.png"/>
          <p:cNvPicPr preferRelativeResize="0"/>
          <p:nvPr>
            <p:custDataLst>
              <p:tags r:id="rId28"/>
            </p:custDataLst>
          </p:nvPr>
        </p:nvPicPr>
        <p:blipFill rotWithShape="1">
          <a:blip r:embed="rId29"/>
          <a:srcRect/>
          <a:stretch>
            <a:fillRect/>
          </a:stretch>
        </p:blipFill>
        <p:spPr>
          <a:xfrm>
            <a:off x="1352550" y="1790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8" descr="image.png"/>
          <p:cNvPicPr preferRelativeResize="0"/>
          <p:nvPr>
            <p:custDataLst>
              <p:tags r:id="rId30"/>
            </p:custDataLst>
          </p:nvPr>
        </p:nvPicPr>
        <p:blipFill rotWithShape="1">
          <a:blip r:embed="rId31"/>
          <a:srcRect/>
          <a:stretch>
            <a:fillRect/>
          </a:stretch>
        </p:blipFill>
        <p:spPr>
          <a:xfrm>
            <a:off x="638175" y="4900314"/>
            <a:ext cx="1657350" cy="110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 descr="image.png"/>
          <p:cNvPicPr preferRelativeResize="0"/>
          <p:nvPr>
            <p:custDataLst>
              <p:tags r:id="rId32"/>
            </p:custDataLst>
          </p:nvPr>
        </p:nvPicPr>
        <p:blipFill rotWithShape="1">
          <a:blip r:embed="rId33"/>
          <a:srcRect/>
          <a:stretch>
            <a:fillRect/>
          </a:stretch>
        </p:blipFill>
        <p:spPr>
          <a:xfrm>
            <a:off x="3681412" y="17907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 descr="image.png"/>
          <p:cNvPicPr preferRelativeResize="0"/>
          <p:nvPr>
            <p:custDataLst>
              <p:tags r:id="rId34"/>
            </p:custDataLst>
          </p:nvPr>
        </p:nvPicPr>
        <p:blipFill rotWithShape="1">
          <a:blip r:embed="rId35"/>
          <a:srcRect/>
          <a:stretch>
            <a:fillRect/>
          </a:stretch>
        </p:blipFill>
        <p:spPr>
          <a:xfrm>
            <a:off x="2967037" y="4638675"/>
            <a:ext cx="16287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8" descr="image.png"/>
          <p:cNvPicPr preferRelativeResize="0"/>
          <p:nvPr>
            <p:custDataLst>
              <p:tags r:id="rId36"/>
            </p:custDataLst>
          </p:nvPr>
        </p:nvPicPr>
        <p:blipFill rotWithShape="1">
          <a:blip r:embed="rId37"/>
          <a:srcRect/>
          <a:stretch>
            <a:fillRect/>
          </a:stretch>
        </p:blipFill>
        <p:spPr>
          <a:xfrm>
            <a:off x="5953125" y="17907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8" descr="image.png"/>
          <p:cNvPicPr preferRelativeResize="0"/>
          <p:nvPr>
            <p:custDataLst>
              <p:tags r:id="rId38"/>
            </p:custDataLst>
          </p:nvPr>
        </p:nvPicPr>
        <p:blipFill rotWithShape="1">
          <a:blip r:embed="rId39"/>
          <a:srcRect/>
          <a:stretch>
            <a:fillRect/>
          </a:stretch>
        </p:blipFill>
        <p:spPr>
          <a:xfrm>
            <a:off x="5267325" y="4925466"/>
            <a:ext cx="1657350" cy="105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8" descr="image.png"/>
          <p:cNvPicPr preferRelativeResize="0"/>
          <p:nvPr>
            <p:custDataLst>
              <p:tags r:id="rId40"/>
            </p:custDataLst>
          </p:nvPr>
        </p:nvPicPr>
        <p:blipFill rotWithShape="1">
          <a:blip r:embed="rId41"/>
          <a:srcRect/>
          <a:stretch>
            <a:fillRect/>
          </a:stretch>
        </p:blipFill>
        <p:spPr>
          <a:xfrm>
            <a:off x="8267700" y="17907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8" descr="image.png"/>
          <p:cNvPicPr preferRelativeResize="0"/>
          <p:nvPr>
            <p:custDataLst>
              <p:tags r:id="rId42"/>
            </p:custDataLst>
          </p:nvPr>
        </p:nvPicPr>
        <p:blipFill rotWithShape="1">
          <a:blip r:embed="rId43"/>
          <a:srcRect/>
          <a:stretch>
            <a:fillRect/>
          </a:stretch>
        </p:blipFill>
        <p:spPr>
          <a:xfrm>
            <a:off x="7596187" y="4638675"/>
            <a:ext cx="16287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8" descr="image.png"/>
          <p:cNvPicPr preferRelativeResize="0"/>
          <p:nvPr>
            <p:custDataLst>
              <p:tags r:id="rId44"/>
            </p:custDataLst>
          </p:nvPr>
        </p:nvPicPr>
        <p:blipFill rotWithShape="1">
          <a:blip r:embed="rId45"/>
          <a:srcRect/>
          <a:stretch>
            <a:fillRect/>
          </a:stretch>
        </p:blipFill>
        <p:spPr>
          <a:xfrm>
            <a:off x="10625137" y="17907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 descr="image.png"/>
          <p:cNvPicPr preferRelativeResize="0"/>
          <p:nvPr>
            <p:custDataLst>
              <p:tags r:id="rId46"/>
            </p:custDataLst>
          </p:nvPr>
        </p:nvPicPr>
        <p:blipFill rotWithShape="1">
          <a:blip r:embed="rId47"/>
          <a:srcRect/>
          <a:stretch>
            <a:fillRect/>
          </a:stretch>
        </p:blipFill>
        <p:spPr>
          <a:xfrm>
            <a:off x="9896475" y="4900612"/>
            <a:ext cx="165735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同侧圆角矩形 3"/>
          <p:cNvSpPr/>
          <p:nvPr/>
        </p:nvSpPr>
        <p:spPr>
          <a:xfrm>
            <a:off x="365760" y="34099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同侧圆角矩形 1"/>
          <p:cNvSpPr/>
          <p:nvPr/>
        </p:nvSpPr>
        <p:spPr>
          <a:xfrm>
            <a:off x="181991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340233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研究思路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5225415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6803390" y="339090"/>
            <a:ext cx="1120140" cy="392430"/>
          </a:xfrm>
          <a:prstGeom prst="round2SameRect">
            <a:avLst/>
          </a:prstGeom>
          <a:solidFill>
            <a:srgbClr val="1A4B8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创新启发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同侧圆角矩形 8"/>
          <p:cNvSpPr/>
          <p:nvPr/>
        </p:nvSpPr>
        <p:spPr>
          <a:xfrm>
            <a:off x="8381365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结论总结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638300"/>
            <a:ext cx="36829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54400" y="1638300"/>
            <a:ext cx="3683049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27950" y="1638300"/>
            <a:ext cx="36829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81000" y="4176712"/>
            <a:ext cx="36829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254400" y="4176712"/>
            <a:ext cx="3683049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7950" y="4176712"/>
            <a:ext cx="368290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90525" y="1647825"/>
            <a:ext cx="3663850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263925" y="1647825"/>
            <a:ext cx="3663999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37475" y="1647825"/>
            <a:ext cx="3663850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390525" y="4186237"/>
            <a:ext cx="3663850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263925" y="4186237"/>
            <a:ext cx="3663999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137475" y="4186237"/>
            <a:ext cx="3663850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495300" y="1000125"/>
            <a:ext cx="1131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多维组学数据分析与可视化核心成果</a:t>
            </a:r>
            <a:endParaRPr lang="en-US" sz="1800" b="1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381000" y="1000125"/>
            <a:ext cx="57150" cy="3048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3" name="Google Shape;283;p19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879574" y="1790700"/>
            <a:ext cx="2685603" cy="170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4406800" y="1918394"/>
            <a:ext cx="3378249" cy="14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8695283" y="1790700"/>
            <a:ext cx="2548086" cy="170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image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940147" y="4329112"/>
            <a:ext cx="2564606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5240982" y="4329112"/>
            <a:ext cx="1709737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9" descr="image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9114532" y="4329112"/>
            <a:ext cx="1709737" cy="17097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同侧圆角矩形 3"/>
          <p:cNvSpPr/>
          <p:nvPr/>
        </p:nvSpPr>
        <p:spPr>
          <a:xfrm>
            <a:off x="365760" y="34099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同侧圆角矩形 1"/>
          <p:cNvSpPr/>
          <p:nvPr/>
        </p:nvSpPr>
        <p:spPr>
          <a:xfrm>
            <a:off x="181991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340233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研究思路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5225415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6803390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创新启发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同侧圆角矩形 8"/>
          <p:cNvSpPr/>
          <p:nvPr/>
        </p:nvSpPr>
        <p:spPr>
          <a:xfrm>
            <a:off x="8381365" y="339090"/>
            <a:ext cx="1120140" cy="392430"/>
          </a:xfrm>
          <a:prstGeom prst="round2SameRect">
            <a:avLst/>
          </a:prstGeom>
          <a:solidFill>
            <a:srgbClr val="1A4B8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结论总结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458470" y="3582035"/>
            <a:ext cx="34677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A.xx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92295" y="3590290"/>
            <a:ext cx="34677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A.xx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8470" y="6198870"/>
            <a:ext cx="34677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A.xx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62450" y="6209030"/>
            <a:ext cx="34677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A.xx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59165" y="3627120"/>
            <a:ext cx="34677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A.xx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19440" y="6156325"/>
            <a:ext cx="346773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A.xx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图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638300"/>
            <a:ext cx="11430000" cy="5001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/>
        </p:nvSpPr>
        <p:spPr>
          <a:xfrm>
            <a:off x="495300" y="1000125"/>
            <a:ext cx="1131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临床队列基线特征与模型预测性能统计表</a:t>
            </a:r>
            <a:endParaRPr lang="en-US" sz="1800" b="1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381000" y="1000125"/>
            <a:ext cx="57150" cy="304800"/>
          </a:xfrm>
          <a:prstGeom prst="rect">
            <a:avLst/>
          </a:prstGeom>
          <a:solidFill>
            <a:srgbClr val="1A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676275" y="1933575"/>
            <a:ext cx="1083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本研究在大型发现队列及独立验证队列中进行了严格的统计学分析。结果表明，AI模型对于多数慢性疾病的预测AUC值稳定在0.85以上，且各队列间临床基线特征分布均衡，证实了模型优异的泛化能力与诊断鲁棒性。以下文本均可自由修改。</a:t>
            </a:r>
            <a:endParaRPr lang="en-US" sz="1200" b="0" i="0" u="none" strike="noStrike" cap="none">
              <a:solidFill>
                <a:srgbClr val="44444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305" name="Google Shape;305;p20"/>
          <p:cNvGraphicFramePr/>
          <p:nvPr>
            <p:custDataLst>
              <p:tags r:id="rId4"/>
            </p:custDataLst>
          </p:nvPr>
        </p:nvGraphicFramePr>
        <p:xfrm>
          <a:off x="676275" y="2768600"/>
          <a:ext cx="10507345" cy="3163570"/>
        </p:xfrm>
        <a:graphic>
          <a:graphicData uri="http://schemas.openxmlformats.org/drawingml/2006/table">
            <a:tbl>
              <a:tblPr firstRow="1" bandRow="1">
                <a:noFill/>
                <a:tableStyleId>{227E7BAE-74C4-4D8F-9097-769C9C248CE3}</a:tableStyleId>
              </a:tblPr>
              <a:tblGrid>
                <a:gridCol w="2552065"/>
                <a:gridCol w="1956435"/>
                <a:gridCol w="2262505"/>
                <a:gridCol w="2261870"/>
                <a:gridCol w="1474470"/>
              </a:tblGrid>
              <a:tr h="4165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A4B8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临床特征 / 模型参数 (Parameters)</a:t>
                      </a:r>
                      <a:endParaRPr lang="en-US" sz="1200" b="1" i="0" u="none" strike="noStrike" cap="none">
                        <a:solidFill>
                          <a:srgbClr val="1A4B8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A4B8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发现队列 (Discovery Cohort)</a:t>
                      </a:r>
                      <a:endParaRPr lang="en-US" sz="1200" b="1" i="0" u="none" strike="noStrike" cap="none">
                        <a:solidFill>
                          <a:srgbClr val="1A4B8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A4B8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验证队列 一 (Validation Cohort 1)</a:t>
                      </a:r>
                      <a:endParaRPr lang="en-US" sz="1200" b="1" i="0" u="none" strike="noStrike" cap="none">
                        <a:solidFill>
                          <a:srgbClr val="1A4B8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A4B8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验证队列 二 (Validation Cohort 2)</a:t>
                      </a:r>
                      <a:endParaRPr lang="en-US" sz="1200" b="1" i="0" u="none" strike="noStrike" cap="none">
                        <a:solidFill>
                          <a:srgbClr val="1A4B8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A4B8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 Value (统计显著性)</a:t>
                      </a:r>
                      <a:endParaRPr lang="en-US" sz="1200" b="1" i="0" u="none" strike="noStrike" cap="none">
                        <a:solidFill>
                          <a:srgbClr val="1A4B8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总入组样本量 (Total Sample Size, n)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53,026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12,500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8,430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—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平均年龄分布 (Age, years ± SD)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56.2 ± 8.4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55.8 ± 9.1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57.1 ± 8.2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0.12 (ns)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男性受试者占比 (Male Ratio, %)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48.5%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49.2%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47.8%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0.34 (ns)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标志物表达中位数 (Median Expression)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14.82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15.21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14.55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&lt;0.01 **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复合模型预测AUC (ROC-AUC Score)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0.892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0.875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0.864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—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临床诊断敏感度 (Sensitivity)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88.4%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85.1%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84.5%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0.05 *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临床诊断特异度 (Specificity)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91.2%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89.8%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88.5%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44444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&lt;0.01 **</a:t>
                      </a:r>
                      <a:endParaRPr lang="en-US" sz="1200" b="0" i="0" u="none" strike="noStrike" cap="none">
                        <a:solidFill>
                          <a:srgbClr val="444444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6" name="Google Shape;306;p20"/>
          <p:cNvSpPr txBox="1"/>
          <p:nvPr/>
        </p:nvSpPr>
        <p:spPr>
          <a:xfrm>
            <a:off x="495300" y="6060440"/>
            <a:ext cx="108394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7777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*注：表中P值代表发现队列与验证队列特征间的统计学差异检验结果。"ns"表示无显著性差异，"**"表示具有极显著统计学意义(P&lt;0.01)。以上表格文字内容、表头及数据均可直接点击编辑修改。</a:t>
            </a:r>
            <a:endParaRPr lang="en-US" sz="1050" b="0" i="0" u="none" strike="noStrike" cap="none">
              <a:solidFill>
                <a:srgbClr val="77777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3309788" y="6634162"/>
            <a:ext cx="2017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5327451" y="6634162"/>
            <a:ext cx="2333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7661225" y="6634162"/>
            <a:ext cx="2333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9994999" y="6634162"/>
            <a:ext cx="15207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同侧圆角矩形 1"/>
          <p:cNvSpPr/>
          <p:nvPr/>
        </p:nvSpPr>
        <p:spPr>
          <a:xfrm>
            <a:off x="365760" y="34099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181991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同侧圆角矩形 3"/>
          <p:cNvSpPr/>
          <p:nvPr/>
        </p:nvSpPr>
        <p:spPr>
          <a:xfrm>
            <a:off x="3402330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研究思路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5225415" y="330835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同侧圆角矩形 4"/>
          <p:cNvSpPr/>
          <p:nvPr/>
        </p:nvSpPr>
        <p:spPr>
          <a:xfrm>
            <a:off x="6803390" y="339090"/>
            <a:ext cx="1120140" cy="392430"/>
          </a:xfrm>
          <a:prstGeom prst="round2Same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</a:rPr>
              <a:t>创新启发</a:t>
            </a:r>
            <a:endParaRPr lang="zh-CN" altLang="en-US" b="1">
              <a:solidFill>
                <a:srgbClr val="1A4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同侧圆角矩形 6"/>
          <p:cNvSpPr/>
          <p:nvPr/>
        </p:nvSpPr>
        <p:spPr>
          <a:xfrm>
            <a:off x="8381365" y="339090"/>
            <a:ext cx="1120140" cy="392430"/>
          </a:xfrm>
          <a:prstGeom prst="round2SameRect">
            <a:avLst/>
          </a:prstGeom>
          <a:solidFill>
            <a:srgbClr val="1A4B8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结论总结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82250" y="190500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1"/>
          <p:cNvSpPr txBox="1"/>
          <p:nvPr/>
        </p:nvSpPr>
        <p:spPr>
          <a:xfrm>
            <a:off x="2775585" y="2852737"/>
            <a:ext cx="664083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恳请老师批评指正</a:t>
            </a:r>
            <a:endParaRPr lang="en-US" sz="5625" b="1" i="0" u="none" strike="noStrike" cap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3928467" y="4481512"/>
            <a:ext cx="43349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8F0F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THANKS FOR LISTENING</a:t>
            </a:r>
            <a:endParaRPr lang="en-US" sz="2400" b="0" i="0" u="none" strike="noStrike" cap="none">
              <a:solidFill>
                <a:srgbClr val="E8F0F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3928467" y="4195762"/>
            <a:ext cx="4334916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61" name="Google Shape;361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38812" y="2024062"/>
            <a:ext cx="7143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5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6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7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8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9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0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1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2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3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4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5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6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7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8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19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0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1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2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3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4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5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6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7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8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29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0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1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2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3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4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5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6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7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8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39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0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1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2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3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4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5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6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7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8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49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50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51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52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53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54.xml><?xml version="1.0" encoding="utf-8"?>
<p:tagLst xmlns:p="http://schemas.openxmlformats.org/presentationml/2006/main">
  <p:tag name="KSO_WM_DIAGRAM_VIRTUALLY_FRAME" val="{&quot;height&quot;:384.75,&quot;left&quot;:30,&quot;top&quot;:129,&quot;width&quot;:900}"/>
</p:tagLst>
</file>

<file path=ppt/tags/tag55.xml><?xml version="1.0" encoding="utf-8"?>
<p:tagLst xmlns:p="http://schemas.openxmlformats.org/presentationml/2006/main">
  <p:tag name="TABLE_ENDDRAG_ORIGIN_RECT" val="827*246"/>
  <p:tag name="TABLE_ENDDRAG_RECT" val="53*218*827*24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1976</Words>
  <Application>WPS 演示</Application>
  <PresentationFormat/>
  <Paragraphs>286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Times New Roman</vt:lpstr>
      <vt:lpstr>微软雅黑</vt:lpstr>
      <vt:lpstr>Times New Roman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张梦雯</cp:lastModifiedBy>
  <cp:revision>13</cp:revision>
  <dcterms:created xsi:type="dcterms:W3CDTF">2026-07-11T08:44:00Z</dcterms:created>
  <dcterms:modified xsi:type="dcterms:W3CDTF">2026-07-12T06:14:14Z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0BC674E5874240F0BEEAA5A454F56302_12</vt:lpwstr>
  </property>
  <property fmtid="{D5CDD505-2E9C-101B-9397-08002B2CF9AE}" pid="3" name="KSOProductBuildVer">
    <vt:lpwstr>2052-12.1.0.26375</vt:lpwstr>
  </property>
</Properties>
</file>