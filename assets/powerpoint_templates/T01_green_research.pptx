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6B5B"/>
          </a:solidFill>
          <a:ln>
            <a:solidFill>
              <a:srgbClr val="0F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777240"/>
            <a:ext cx="118872" cy="5303520"/>
          </a:xfrm>
          <a:prstGeom prst="rect">
            <a:avLst/>
          </a:prstGeom>
          <a:solidFill>
            <a:srgbClr val="2F9E78"/>
          </a:solidFill>
          <a:ln>
            <a:solidFill>
              <a:srgbClr val="2F9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17320"/>
            <a:ext cx="96012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ptos"/>
              </a:defRPr>
            </a:pPr>
            <a:r>
              <a:t>学术汇报标题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2816352"/>
            <a:ext cx="7863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600" b="0">
                <a:solidFill>
                  <a:srgbClr val="DDF0E9"/>
                </a:solidFill>
                <a:latin typeface="Aptos"/>
              </a:defRPr>
            </a:pPr>
            <a:r>
              <a:t>Evidence-grounded academic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5074920"/>
            <a:ext cx="6858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0">
                <a:solidFill>
                  <a:srgbClr val="DDF0E9"/>
                </a:solidFill>
                <a:latin typeface="Aptos"/>
              </a:defRPr>
            </a:pPr>
            <a:r>
              <a:t>汇报人 | 指导教师 | 单位 | 日期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6B5B"/>
          </a:solidFill>
          <a:ln>
            <a:solidFill>
              <a:srgbClr val="0F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82296"/>
            <a:ext cx="2560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Aptos"/>
              </a:defRPr>
            </a:pPr>
            <a:r>
              <a:t>ACADEMIC PPT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研究背景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0372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0">
                <a:solidFill>
                  <a:srgbClr val="DDF0E9"/>
                </a:solidFill>
                <a:latin typeface="Aptos"/>
              </a:defRPr>
            </a:pPr>
            <a:r>
              <a:t>研究方法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0">
                <a:solidFill>
                  <a:srgbClr val="DDF0E9"/>
                </a:solidFill>
                <a:latin typeface="Aptos"/>
              </a:defRPr>
            </a:pPr>
            <a:r>
              <a:t>实验结果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3836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0">
                <a:solidFill>
                  <a:srgbClr val="DDF0E9"/>
                </a:solidFill>
                <a:latin typeface="Aptos"/>
              </a:defRPr>
            </a:pPr>
            <a:r>
              <a:t>总结展望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2F9E78"/>
          </a:solidFill>
          <a:ln>
            <a:solidFill>
              <a:srgbClr val="2F9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868680"/>
            <a:ext cx="9875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700" b="1">
                <a:solidFill>
                  <a:srgbClr val="0F6B5B"/>
                </a:solidFill>
                <a:latin typeface="Aptos"/>
              </a:defRPr>
            </a:pPr>
            <a:r>
              <a:t>关键问题决定研究的价值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536192"/>
            <a:ext cx="914400" cy="54864"/>
          </a:xfrm>
          <a:prstGeom prst="rect">
            <a:avLst/>
          </a:prstGeom>
          <a:solidFill>
            <a:srgbClr val="0F6B5B"/>
          </a:solidFill>
          <a:ln>
            <a:solidFill>
              <a:srgbClr val="0F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920240"/>
            <a:ext cx="4572000" cy="3977639"/>
          </a:xfrm>
          <a:prstGeom prst="rect">
            <a:avLst/>
          </a:prstGeom>
          <a:solidFill>
            <a:srgbClr val="FFFFFF"/>
          </a:solidFill>
          <a:ln>
            <a:solidFill>
              <a:srgbClr val="DDF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920240"/>
            <a:ext cx="5166360" cy="3977639"/>
          </a:xfrm>
          <a:prstGeom prst="rect">
            <a:avLst/>
          </a:prstGeom>
          <a:solidFill>
            <a:srgbClr val="DDF0E9"/>
          </a:solidFill>
          <a:ln>
            <a:solidFill>
              <a:srgbClr val="DDF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240280"/>
            <a:ext cx="3931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900" b="1">
                <a:solidFill>
                  <a:srgbClr val="0F6B5B"/>
                </a:solidFill>
                <a:latin typeface="Aptos"/>
              </a:defRPr>
            </a:pPr>
            <a:r>
              <a:t>证据与论点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971800"/>
            <a:ext cx="3886200" cy="2148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0">
                <a:solidFill>
                  <a:srgbClr val="344054"/>
                </a:solidFill>
                <a:latin typeface="Aptos"/>
              </a:defRPr>
            </a:pPr>
            <a:r>
              <a:t>• 来源证据一</a:t>
            </a:r>
            <a:br/>
            <a:r>
              <a:t>• 来源证据二</a:t>
            </a:r>
            <a:br/>
            <a:r>
              <a:t>• 解释与边界</a:t>
            </a:r>
          </a:p>
        </p:txBody>
      </p:sp>
      <p:pic>
        <p:nvPicPr>
          <p:cNvPr id="15" name="Picture 14" descr="_visual_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2103120"/>
            <a:ext cx="4800600" cy="3611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52160" y="3337560"/>
            <a:ext cx="44348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0F6B5B"/>
                </a:solidFill>
                <a:latin typeface="Aptos"/>
              </a:defRPr>
            </a:pPr>
            <a:r>
              <a:t>图表 / 图像证据位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6B5B"/>
          </a:solidFill>
          <a:ln>
            <a:solidFill>
              <a:srgbClr val="0F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82296"/>
            <a:ext cx="2560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Aptos"/>
              </a:defRPr>
            </a:pPr>
            <a:r>
              <a:t>ACADEMIC PPT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0">
                <a:solidFill>
                  <a:srgbClr val="DDF0E9"/>
                </a:solidFill>
                <a:latin typeface="Aptos"/>
              </a:defRPr>
            </a:pPr>
            <a:r>
              <a:t>研究背景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0372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研究方法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0">
                <a:solidFill>
                  <a:srgbClr val="DDF0E9"/>
                </a:solidFill>
                <a:latin typeface="Aptos"/>
              </a:defRPr>
            </a:pPr>
            <a:r>
              <a:t>实验结果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3836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0">
                <a:solidFill>
                  <a:srgbClr val="DDF0E9"/>
                </a:solidFill>
                <a:latin typeface="Aptos"/>
              </a:defRPr>
            </a:pPr>
            <a:r>
              <a:t>总结展望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2F9E78"/>
          </a:solidFill>
          <a:ln>
            <a:solidFill>
              <a:srgbClr val="2F9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868680"/>
            <a:ext cx="9875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700" b="1">
                <a:solidFill>
                  <a:srgbClr val="0F6B5B"/>
                </a:solidFill>
                <a:latin typeface="Aptos"/>
              </a:defRPr>
            </a:pPr>
            <a:r>
              <a:t>方法设计围绕可检验的机制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536192"/>
            <a:ext cx="914400" cy="54864"/>
          </a:xfrm>
          <a:prstGeom prst="rect">
            <a:avLst/>
          </a:prstGeom>
          <a:solidFill>
            <a:srgbClr val="0F6B5B"/>
          </a:solidFill>
          <a:ln>
            <a:solidFill>
              <a:srgbClr val="0F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2011680"/>
            <a:ext cx="2880360" cy="3337560"/>
          </a:xfrm>
          <a:prstGeom prst="rect">
            <a:avLst/>
          </a:prstGeom>
          <a:solidFill>
            <a:srgbClr val="FFFFFF"/>
          </a:solidFill>
          <a:ln>
            <a:solidFill>
              <a:srgbClr val="DDF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2011680"/>
            <a:ext cx="2880360" cy="146304"/>
          </a:xfrm>
          <a:prstGeom prst="rect">
            <a:avLst/>
          </a:prstGeom>
          <a:solidFill>
            <a:srgbClr val="2F9E78"/>
          </a:solidFill>
          <a:ln>
            <a:solidFill>
              <a:srgbClr val="2F9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2377440"/>
            <a:ext cx="22860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1">
                <a:solidFill>
                  <a:srgbClr val="0F6B5B"/>
                </a:solidFill>
                <a:latin typeface="Aptos"/>
              </a:defRPr>
            </a:pPr>
            <a:r>
              <a:t>输入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3063240"/>
            <a:ext cx="22402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344054"/>
                </a:solidFill>
                <a:latin typeface="Aptos"/>
              </a:defRPr>
            </a:pPr>
            <a:r>
              <a:t>关键步骤</a:t>
            </a:r>
            <a:br/>
            <a:r>
              <a:t>可追溯证据</a:t>
            </a:r>
            <a:br/>
            <a:r>
              <a:t>实施边界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31920" y="2011680"/>
            <a:ext cx="2880360" cy="3337560"/>
          </a:xfrm>
          <a:prstGeom prst="rect">
            <a:avLst/>
          </a:prstGeom>
          <a:solidFill>
            <a:srgbClr val="FFFFFF"/>
          </a:solidFill>
          <a:ln>
            <a:solidFill>
              <a:srgbClr val="DDF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31920" y="2011680"/>
            <a:ext cx="2880360" cy="146304"/>
          </a:xfrm>
          <a:prstGeom prst="rect">
            <a:avLst/>
          </a:prstGeom>
          <a:solidFill>
            <a:srgbClr val="2F9E78"/>
          </a:solidFill>
          <a:ln>
            <a:solidFill>
              <a:srgbClr val="2F9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87952" y="2377440"/>
            <a:ext cx="22860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1">
                <a:solidFill>
                  <a:srgbClr val="0F6B5B"/>
                </a:solidFill>
                <a:latin typeface="Aptos"/>
              </a:defRPr>
            </a:pPr>
            <a:r>
              <a:t>核心方法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87952" y="3063240"/>
            <a:ext cx="22402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344054"/>
                </a:solidFill>
                <a:latin typeface="Aptos"/>
              </a:defRPr>
            </a:pPr>
            <a:r>
              <a:t>关键步骤</a:t>
            </a:r>
            <a:br/>
            <a:r>
              <a:t>可追溯证据</a:t>
            </a:r>
            <a:br/>
            <a:r>
              <a:t>实施边界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69480" y="2011680"/>
            <a:ext cx="2880360" cy="3337560"/>
          </a:xfrm>
          <a:prstGeom prst="rect">
            <a:avLst/>
          </a:prstGeom>
          <a:solidFill>
            <a:srgbClr val="FFFFFF"/>
          </a:solidFill>
          <a:ln>
            <a:solidFill>
              <a:srgbClr val="DDF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69480" y="2011680"/>
            <a:ext cx="2880360" cy="146304"/>
          </a:xfrm>
          <a:prstGeom prst="rect">
            <a:avLst/>
          </a:prstGeom>
          <a:solidFill>
            <a:srgbClr val="2F9E78"/>
          </a:solidFill>
          <a:ln>
            <a:solidFill>
              <a:srgbClr val="2F9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5512" y="2377440"/>
            <a:ext cx="22860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1">
                <a:solidFill>
                  <a:srgbClr val="0F6B5B"/>
                </a:solidFill>
                <a:latin typeface="Aptos"/>
              </a:defRPr>
            </a:pPr>
            <a:r>
              <a:t>输出验证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25512" y="3063240"/>
            <a:ext cx="22402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344054"/>
                </a:solidFill>
                <a:latin typeface="Aptos"/>
              </a:defRPr>
            </a:pPr>
            <a:r>
              <a:t>关键步骤</a:t>
            </a:r>
            <a:br/>
            <a:r>
              <a:t>可追溯证据</a:t>
            </a:r>
            <a:br/>
            <a:r>
              <a:t>实施边界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6B5B"/>
          </a:solidFill>
          <a:ln>
            <a:solidFill>
              <a:srgbClr val="0F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82296"/>
            <a:ext cx="2560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Aptos"/>
              </a:defRPr>
            </a:pPr>
            <a:r>
              <a:t>ACADEMIC PPT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0">
                <a:solidFill>
                  <a:srgbClr val="DDF0E9"/>
                </a:solidFill>
                <a:latin typeface="Aptos"/>
              </a:defRPr>
            </a:pPr>
            <a:r>
              <a:t>研究背景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0372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0">
                <a:solidFill>
                  <a:srgbClr val="DDF0E9"/>
                </a:solidFill>
                <a:latin typeface="Aptos"/>
              </a:defRPr>
            </a:pPr>
            <a:r>
              <a:t>研究方法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实验结果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3836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0">
                <a:solidFill>
                  <a:srgbClr val="DDF0E9"/>
                </a:solidFill>
                <a:latin typeface="Aptos"/>
              </a:defRPr>
            </a:pPr>
            <a:r>
              <a:t>总结展望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2F9E78"/>
          </a:solidFill>
          <a:ln>
            <a:solidFill>
              <a:srgbClr val="2F9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868680"/>
            <a:ext cx="9875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700" b="1">
                <a:solidFill>
                  <a:srgbClr val="0F6B5B"/>
                </a:solidFill>
                <a:latin typeface="Aptos"/>
              </a:defRPr>
            </a:pPr>
            <a:r>
              <a:t>结果支持核心结论，并保留适用边界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536192"/>
            <a:ext cx="914400" cy="54864"/>
          </a:xfrm>
          <a:prstGeom prst="rect">
            <a:avLst/>
          </a:prstGeom>
          <a:solidFill>
            <a:srgbClr val="0F6B5B"/>
          </a:solidFill>
          <a:ln>
            <a:solidFill>
              <a:srgbClr val="0F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965960"/>
            <a:ext cx="6492240" cy="3977639"/>
          </a:xfrm>
          <a:prstGeom prst="rect">
            <a:avLst/>
          </a:prstGeom>
          <a:solidFill>
            <a:srgbClr val="FFFFFF"/>
          </a:solidFill>
          <a:ln>
            <a:solidFill>
              <a:srgbClr val="DDF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06640" y="1965960"/>
            <a:ext cx="3246120" cy="3977639"/>
          </a:xfrm>
          <a:prstGeom prst="rect">
            <a:avLst/>
          </a:prstGeom>
          <a:solidFill>
            <a:srgbClr val="DDF0E9"/>
          </a:solidFill>
          <a:ln>
            <a:solidFill>
              <a:srgbClr val="DDF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331720"/>
            <a:ext cx="56692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1">
                <a:solidFill>
                  <a:srgbClr val="0F6B5B"/>
                </a:solidFill>
                <a:latin typeface="Aptos"/>
              </a:defRPr>
            </a:pPr>
            <a:r>
              <a:t>主结果图 / 重建图表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88720" y="3931920"/>
            <a:ext cx="658368" cy="1097280"/>
          </a:xfrm>
          <a:prstGeom prst="rect">
            <a:avLst/>
          </a:prstGeom>
          <a:solidFill>
            <a:srgbClr val="2F9E78"/>
          </a:solidFill>
          <a:ln>
            <a:solidFill>
              <a:srgbClr val="2F9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31720" y="3017520"/>
            <a:ext cx="658368" cy="2011680"/>
          </a:xfrm>
          <a:prstGeom prst="rect">
            <a:avLst/>
          </a:prstGeom>
          <a:solidFill>
            <a:srgbClr val="2F9E78"/>
          </a:solidFill>
          <a:ln>
            <a:solidFill>
              <a:srgbClr val="2F9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74720" y="3520440"/>
            <a:ext cx="658368" cy="1508760"/>
          </a:xfrm>
          <a:prstGeom prst="rect">
            <a:avLst/>
          </a:prstGeom>
          <a:solidFill>
            <a:srgbClr val="2F9E78"/>
          </a:solidFill>
          <a:ln>
            <a:solidFill>
              <a:srgbClr val="2F9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17720" y="2240280"/>
            <a:ext cx="658368" cy="2788920"/>
          </a:xfrm>
          <a:prstGeom prst="rect">
            <a:avLst/>
          </a:prstGeom>
          <a:solidFill>
            <a:srgbClr val="2F9E78"/>
          </a:solidFill>
          <a:ln>
            <a:solidFill>
              <a:srgbClr val="2F9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79" y="2423160"/>
            <a:ext cx="2560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800" b="1">
                <a:solidFill>
                  <a:srgbClr val="0F6B5B"/>
                </a:solidFill>
                <a:latin typeface="Aptos"/>
              </a:defRPr>
            </a:pPr>
            <a:r>
              <a:t>解读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3154680"/>
            <a:ext cx="242316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344054"/>
                </a:solidFill>
                <a:latin typeface="Aptos"/>
              </a:defRPr>
            </a:pPr>
            <a:r>
              <a:t>结果含义</a:t>
            </a:r>
            <a:br/>
            <a:r>
              <a:t>比较口径</a:t>
            </a:r>
            <a:br/>
            <a:r>
              <a:t>适用边界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6B5B"/>
          </a:solidFill>
          <a:ln>
            <a:solidFill>
              <a:srgbClr val="0F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82296"/>
            <a:ext cx="2560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Aptos"/>
              </a:defRPr>
            </a:pPr>
            <a:r>
              <a:t>ACADEMIC PPT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0">
                <a:solidFill>
                  <a:srgbClr val="DDF0E9"/>
                </a:solidFill>
                <a:latin typeface="Aptos"/>
              </a:defRPr>
            </a:pPr>
            <a:r>
              <a:t>研究背景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0372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0">
                <a:solidFill>
                  <a:srgbClr val="DDF0E9"/>
                </a:solidFill>
                <a:latin typeface="Aptos"/>
              </a:defRPr>
            </a:pPr>
            <a:r>
              <a:t>研究方法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0">
                <a:solidFill>
                  <a:srgbClr val="DDF0E9"/>
                </a:solidFill>
                <a:latin typeface="Aptos"/>
              </a:defRPr>
            </a:pPr>
            <a:r>
              <a:t>实验结果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38360" y="109728"/>
            <a:ext cx="126187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ptos"/>
              </a:defRPr>
            </a:pPr>
            <a:r>
              <a:t>总结展望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2F9E78"/>
          </a:solidFill>
          <a:ln>
            <a:solidFill>
              <a:srgbClr val="2F9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868680"/>
            <a:ext cx="9875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700" b="1">
                <a:solidFill>
                  <a:srgbClr val="0F6B5B"/>
                </a:solidFill>
                <a:latin typeface="Aptos"/>
              </a:defRPr>
            </a:pPr>
            <a:r>
              <a:t>结论、贡献与下一步行动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536192"/>
            <a:ext cx="914400" cy="54864"/>
          </a:xfrm>
          <a:prstGeom prst="rect">
            <a:avLst/>
          </a:prstGeom>
          <a:solidFill>
            <a:srgbClr val="0F6B5B"/>
          </a:solidFill>
          <a:ln>
            <a:solidFill>
              <a:srgbClr val="0F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2057400"/>
            <a:ext cx="9921240" cy="3291840"/>
          </a:xfrm>
          <a:prstGeom prst="rect">
            <a:avLst/>
          </a:prstGeom>
          <a:solidFill>
            <a:srgbClr val="DDF0E9"/>
          </a:solidFill>
          <a:ln>
            <a:solidFill>
              <a:srgbClr val="DDF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606040"/>
            <a:ext cx="88696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500" b="1">
                <a:solidFill>
                  <a:srgbClr val="0F6B5B"/>
                </a:solidFill>
                <a:latin typeface="Aptos"/>
              </a:defRPr>
            </a:pPr>
            <a:r>
              <a:t>一句话核心结论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703320"/>
            <a:ext cx="78638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0">
                <a:solidFill>
                  <a:srgbClr val="344054"/>
                </a:solidFill>
                <a:latin typeface="Aptos"/>
              </a:defRPr>
            </a:pPr>
            <a:r>
              <a:t>贡献、边界和可执行的下一步在此清晰收束。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