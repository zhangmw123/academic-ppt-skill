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118872" cy="5303520"/>
          </a:xfrm>
          <a:prstGeom prst="rect">
            <a:avLst/>
          </a:prstGeom>
          <a:solidFill>
            <a:srgbClr val="35A276"/>
          </a:solidFill>
          <a:ln>
            <a:solidFill>
              <a:srgbClr val="35A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9601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学术汇报标题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2816352"/>
            <a:ext cx="7863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E6F3EC"/>
                </a:solidFill>
                <a:latin typeface="Aptos"/>
              </a:defRPr>
            </a:pPr>
            <a:r>
              <a:t>Evidence-grounded academic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5074920"/>
            <a:ext cx="6858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E6F3EC"/>
                </a:solidFill>
                <a:latin typeface="Aptos"/>
              </a:defRPr>
            </a:pPr>
            <a:r>
              <a:t>汇报人 | 指导教师 | 单位 | 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ACADEMIC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E6F3EC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E6F3EC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E6F3EC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A276"/>
          </a:solidFill>
          <a:ln>
            <a:solidFill>
              <a:srgbClr val="35A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B6E4F"/>
                </a:solidFill>
                <a:latin typeface="Aptos"/>
              </a:defRPr>
            </a:pPr>
            <a:r>
              <a:t>关键问题决定研究的价值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36192"/>
            <a:ext cx="914400" cy="54864"/>
          </a:xfrm>
          <a:prstGeom prst="rect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920240"/>
            <a:ext cx="4572000" cy="3977639"/>
          </a:xfrm>
          <a:prstGeom prst="rect">
            <a:avLst/>
          </a:prstGeom>
          <a:solidFill>
            <a:srgbClr val="FFFFFF"/>
          </a:solidFill>
          <a:ln>
            <a:solidFill>
              <a:srgbClr val="E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920240"/>
            <a:ext cx="5166360" cy="3977639"/>
          </a:xfrm>
          <a:prstGeom prst="rect">
            <a:avLst/>
          </a:prstGeom>
          <a:solidFill>
            <a:srgbClr val="E6F3EC"/>
          </a:solidFill>
          <a:ln>
            <a:solidFill>
              <a:srgbClr val="E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40280"/>
            <a:ext cx="3931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B6E4F"/>
                </a:solidFill>
                <a:latin typeface="Aptos"/>
              </a:defRPr>
            </a:pPr>
            <a:r>
              <a:t>证据与论点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3886200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44054"/>
                </a:solidFill>
                <a:latin typeface="Aptos"/>
              </a:defRPr>
            </a:pPr>
            <a:r>
              <a:t>• 来源证据一</a:t>
            </a:r>
            <a:br/>
            <a:r>
              <a:t>• 来源证据二</a:t>
            </a:r>
            <a:br/>
            <a:r>
              <a:t>• 解释与边界</a:t>
            </a:r>
          </a:p>
        </p:txBody>
      </p:sp>
      <p:pic>
        <p:nvPicPr>
          <p:cNvPr id="15" name="Picture 14" descr="_visual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03120"/>
            <a:ext cx="4800600" cy="3611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2160" y="3337560"/>
            <a:ext cx="4434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B6E4F"/>
                </a:solidFill>
                <a:latin typeface="Aptos"/>
              </a:defRPr>
            </a:pPr>
            <a:r>
              <a:t>图表 / 图像证据位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ACADEMIC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E6F3EC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E6F3EC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E6F3EC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A276"/>
          </a:solidFill>
          <a:ln>
            <a:solidFill>
              <a:srgbClr val="35A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B6E4F"/>
                </a:solidFill>
                <a:latin typeface="Aptos"/>
              </a:defRPr>
            </a:pPr>
            <a:r>
              <a:t>方法设计围绕可检验的机制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36192"/>
            <a:ext cx="914400" cy="54864"/>
          </a:xfrm>
          <a:prstGeom prst="rect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011680"/>
            <a:ext cx="288036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11680"/>
            <a:ext cx="2880360" cy="146304"/>
          </a:xfrm>
          <a:prstGeom prst="rect">
            <a:avLst/>
          </a:prstGeom>
          <a:solidFill>
            <a:srgbClr val="35A276"/>
          </a:solidFill>
          <a:ln>
            <a:solidFill>
              <a:srgbClr val="35A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377440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6E4F"/>
                </a:solidFill>
                <a:latin typeface="Aptos"/>
              </a:defRPr>
            </a:pPr>
            <a:r>
              <a:t>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063240"/>
            <a:ext cx="2240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关键步骤</a:t>
            </a:r>
            <a:br/>
            <a:r>
              <a:t>可追溯证据</a:t>
            </a:r>
            <a:br/>
            <a:r>
              <a:t>实施边界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2011680"/>
            <a:ext cx="288036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0" y="2011680"/>
            <a:ext cx="2880360" cy="146304"/>
          </a:xfrm>
          <a:prstGeom prst="rect">
            <a:avLst/>
          </a:prstGeom>
          <a:solidFill>
            <a:srgbClr val="35A276"/>
          </a:solidFill>
          <a:ln>
            <a:solidFill>
              <a:srgbClr val="35A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952" y="2377440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6E4F"/>
                </a:solidFill>
                <a:latin typeface="Aptos"/>
              </a:defRPr>
            </a:pPr>
            <a:r>
              <a:t>核心方法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3063240"/>
            <a:ext cx="2240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关键步骤</a:t>
            </a:r>
            <a:br/>
            <a:r>
              <a:t>可追溯证据</a:t>
            </a:r>
            <a:br/>
            <a:r>
              <a:t>实施边界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2011680"/>
            <a:ext cx="288036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2011680"/>
            <a:ext cx="2880360" cy="146304"/>
          </a:xfrm>
          <a:prstGeom prst="rect">
            <a:avLst/>
          </a:prstGeom>
          <a:solidFill>
            <a:srgbClr val="35A276"/>
          </a:solidFill>
          <a:ln>
            <a:solidFill>
              <a:srgbClr val="35A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512" y="2377440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6E4F"/>
                </a:solidFill>
                <a:latin typeface="Aptos"/>
              </a:defRPr>
            </a:pPr>
            <a:r>
              <a:t>输出验证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512" y="3063240"/>
            <a:ext cx="2240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关键步骤</a:t>
            </a:r>
            <a:br/>
            <a:r>
              <a:t>可追溯证据</a:t>
            </a:r>
            <a:br/>
            <a:r>
              <a:t>实施边界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ACADEMIC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E6F3EC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E6F3EC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E6F3EC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A276"/>
          </a:solidFill>
          <a:ln>
            <a:solidFill>
              <a:srgbClr val="35A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B6E4F"/>
                </a:solidFill>
                <a:latin typeface="Aptos"/>
              </a:defRPr>
            </a:pPr>
            <a:r>
              <a:t>结果支持核心结论，并保留适用边界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36192"/>
            <a:ext cx="914400" cy="54864"/>
          </a:xfrm>
          <a:prstGeom prst="rect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965960"/>
            <a:ext cx="6492240" cy="3977639"/>
          </a:xfrm>
          <a:prstGeom prst="rect">
            <a:avLst/>
          </a:prstGeom>
          <a:solidFill>
            <a:srgbClr val="FFFFFF"/>
          </a:solidFill>
          <a:ln>
            <a:solidFill>
              <a:srgbClr val="E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1965960"/>
            <a:ext cx="3246120" cy="3977639"/>
          </a:xfrm>
          <a:prstGeom prst="rect">
            <a:avLst/>
          </a:prstGeom>
          <a:solidFill>
            <a:srgbClr val="E6F3EC"/>
          </a:solidFill>
          <a:ln>
            <a:solidFill>
              <a:srgbClr val="E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331720"/>
            <a:ext cx="5669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6E4F"/>
                </a:solidFill>
                <a:latin typeface="Aptos"/>
              </a:defRPr>
            </a:pPr>
            <a:r>
              <a:t>主结果图 / 重建图表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3931920"/>
            <a:ext cx="658368" cy="1097280"/>
          </a:xfrm>
          <a:prstGeom prst="rect">
            <a:avLst/>
          </a:prstGeom>
          <a:solidFill>
            <a:srgbClr val="35A276"/>
          </a:solidFill>
          <a:ln>
            <a:solidFill>
              <a:srgbClr val="35A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31720" y="3017520"/>
            <a:ext cx="658368" cy="2011680"/>
          </a:xfrm>
          <a:prstGeom prst="rect">
            <a:avLst/>
          </a:prstGeom>
          <a:solidFill>
            <a:srgbClr val="35A276"/>
          </a:solidFill>
          <a:ln>
            <a:solidFill>
              <a:srgbClr val="35A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3520440"/>
            <a:ext cx="658368" cy="1508760"/>
          </a:xfrm>
          <a:prstGeom prst="rect">
            <a:avLst/>
          </a:prstGeom>
          <a:solidFill>
            <a:srgbClr val="35A276"/>
          </a:solidFill>
          <a:ln>
            <a:solidFill>
              <a:srgbClr val="35A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2240280"/>
            <a:ext cx="658368" cy="2788920"/>
          </a:xfrm>
          <a:prstGeom prst="rect">
            <a:avLst/>
          </a:prstGeom>
          <a:solidFill>
            <a:srgbClr val="35A276"/>
          </a:solidFill>
          <a:ln>
            <a:solidFill>
              <a:srgbClr val="35A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42316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6E4F"/>
                </a:solidFill>
                <a:latin typeface="Aptos"/>
              </a:defRPr>
            </a:pPr>
            <a:r>
              <a:t>解读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3154680"/>
            <a:ext cx="24231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结果含义</a:t>
            </a:r>
            <a:br/>
            <a:r>
              <a:t>比较口径</a:t>
            </a:r>
            <a:br/>
            <a:r>
              <a:t>适用边界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ACADEMIC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E6F3EC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E6F3EC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E6F3EC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A276"/>
          </a:solidFill>
          <a:ln>
            <a:solidFill>
              <a:srgbClr val="35A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B6E4F"/>
                </a:solidFill>
                <a:latin typeface="Aptos"/>
              </a:defRPr>
            </a:pPr>
            <a:r>
              <a:t>结论、贡献与下一步行动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36192"/>
            <a:ext cx="914400" cy="54864"/>
          </a:xfrm>
          <a:prstGeom prst="rect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057400"/>
            <a:ext cx="9921240" cy="3291840"/>
          </a:xfrm>
          <a:prstGeom prst="rect">
            <a:avLst/>
          </a:prstGeom>
          <a:solidFill>
            <a:srgbClr val="E6F3EC"/>
          </a:solidFill>
          <a:ln>
            <a:solidFill>
              <a:srgbClr val="E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06040"/>
            <a:ext cx="8869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0B6E4F"/>
                </a:solidFill>
                <a:latin typeface="Aptos"/>
              </a:defRPr>
            </a:pPr>
            <a:r>
              <a:t>一句话核心结论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03320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344054"/>
                </a:solidFill>
                <a:latin typeface="Aptos"/>
              </a:defRPr>
            </a:pPr>
            <a:r>
              <a:t>贡献、边界和可执行的下一步在此清晰收束。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