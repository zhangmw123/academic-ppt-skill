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18872" cy="5303520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学术汇报标题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16352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E7F0FF"/>
                </a:solidFill>
                <a:latin typeface="Aptos"/>
              </a:defRPr>
            </a:pPr>
            <a:r>
              <a:t>Evidence-grounded academic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5074920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E7F0FF"/>
                </a:solidFill>
                <a:latin typeface="Aptos"/>
              </a:defRPr>
            </a:pPr>
            <a:r>
              <a:t>汇报人 | 指导教师 | 单位 |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5CD3"/>
                </a:solidFill>
                <a:latin typeface="Aptos"/>
              </a:defRPr>
            </a:pPr>
            <a:r>
              <a:t>关键问题决定研究的价值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920240"/>
            <a:ext cx="4572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166360" cy="3977639"/>
          </a:xfrm>
          <a:prstGeom prst="rect">
            <a:avLst/>
          </a:prstGeom>
          <a:solidFill>
            <a:srgbClr val="E7F0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2402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75CD3"/>
                </a:solidFill>
                <a:latin typeface="Aptos"/>
              </a:defRPr>
            </a:pPr>
            <a:r>
              <a:t>证据与论点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388620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44054"/>
                </a:solidFill>
                <a:latin typeface="Aptos"/>
              </a:defRPr>
            </a:pPr>
            <a:r>
              <a:t>• 来源证据一</a:t>
            </a:r>
            <a:br/>
            <a:r>
              <a:t>• 来源证据二</a:t>
            </a:r>
            <a:br/>
            <a:r>
              <a:t>• 解释与边界</a:t>
            </a:r>
          </a:p>
        </p:txBody>
      </p:sp>
      <p:pic>
        <p:nvPicPr>
          <p:cNvPr id="15" name="Picture 14" descr="_visual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2103120"/>
            <a:ext cx="4800600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6560" y="3337560"/>
            <a:ext cx="4434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75CD3"/>
                </a:solidFill>
                <a:latin typeface="Aptos"/>
              </a:defRPr>
            </a:pPr>
            <a:r>
              <a:t>图表 / 图像证据位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5CD3"/>
                </a:solidFill>
                <a:latin typeface="Aptos"/>
              </a:defRPr>
            </a:pPr>
            <a:r>
              <a:t>方法设计围绕可检验的机制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2011680"/>
            <a:ext cx="2880360" cy="146304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75CD3"/>
                </a:solidFill>
                <a:latin typeface="Aptos"/>
              </a:defRPr>
            </a:pPr>
            <a: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011680"/>
            <a:ext cx="2880360" cy="146304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75CD3"/>
                </a:solidFill>
                <a:latin typeface="Aptos"/>
              </a:defRPr>
            </a:pPr>
            <a:r>
              <a:t>核心方法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011680"/>
            <a:ext cx="2880360" cy="146304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1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75CD3"/>
                </a:solidFill>
                <a:latin typeface="Aptos"/>
              </a:defRPr>
            </a:pPr>
            <a:r>
              <a:t>输出验证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5CD3"/>
                </a:solidFill>
                <a:latin typeface="Aptos"/>
              </a:defRPr>
            </a:pPr>
            <a:r>
              <a:t>结果支持核心结论，并保留适用边界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965960"/>
            <a:ext cx="649224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965960"/>
            <a:ext cx="3246120" cy="3977639"/>
          </a:xfrm>
          <a:prstGeom prst="rect">
            <a:avLst/>
          </a:prstGeom>
          <a:solidFill>
            <a:srgbClr val="E7F0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1" y="23317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75CD3"/>
                </a:solidFill>
                <a:latin typeface="Aptos"/>
              </a:defRPr>
            </a:pPr>
            <a:r>
              <a:t>主结果图 / 重建图表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931920"/>
            <a:ext cx="658368" cy="1097280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3017520"/>
            <a:ext cx="658368" cy="2011680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520440"/>
            <a:ext cx="658368" cy="1508760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2240280"/>
            <a:ext cx="658368" cy="2788920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423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75CD3"/>
                </a:solidFill>
                <a:latin typeface="Aptos"/>
              </a:defRPr>
            </a:pPr>
            <a:r>
              <a:t>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154680"/>
            <a:ext cx="2423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结果含义</a:t>
            </a:r>
            <a:br/>
            <a:r>
              <a:t>比较口径</a:t>
            </a:r>
            <a:br/>
            <a:r>
              <a:t>适用边界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E7F0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75CD3"/>
                </a:solidFill>
                <a:latin typeface="Aptos"/>
              </a:defRPr>
            </a:pPr>
            <a:r>
              <a:t>结论、贡献与下一步行动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175CD3"/>
          </a:solidFill>
          <a:ln>
            <a:solidFill>
              <a:srgbClr val="175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057400"/>
            <a:ext cx="9921240" cy="3291840"/>
          </a:xfrm>
          <a:prstGeom prst="rect">
            <a:avLst/>
          </a:prstGeom>
          <a:solidFill>
            <a:srgbClr val="E7F0FF"/>
          </a:solidFill>
          <a:ln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606040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75CD3"/>
                </a:solidFill>
                <a:latin typeface="Aptos"/>
              </a:defRPr>
            </a:pPr>
            <a:r>
              <a:t>一句话核心结论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70332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44054"/>
                </a:solidFill>
                <a:latin typeface="Aptos"/>
              </a:defRPr>
            </a:pPr>
            <a:r>
              <a:t>贡献、边界和可执行的下一步在此清晰收束。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