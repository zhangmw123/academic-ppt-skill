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B42318"/>
          </a:solidFill>
          <a:ln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40080" y="777240"/>
            <a:ext cx="118872" cy="5303520"/>
          </a:xfrm>
          <a:prstGeom prst="rect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97280" y="1417320"/>
            <a:ext cx="9601200" cy="11887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3600" b="1">
                <a:solidFill>
                  <a:srgbClr val="FFFFFF"/>
                </a:solidFill>
                <a:latin typeface="Aptos"/>
              </a:defRPr>
            </a:pPr>
            <a:r>
              <a:t>学术汇报标题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33856" y="2816352"/>
            <a:ext cx="786384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600" b="0">
                <a:solidFill>
                  <a:srgbClr val="FCE8E6"/>
                </a:solidFill>
                <a:latin typeface="Aptos"/>
              </a:defRPr>
            </a:pPr>
            <a:r>
              <a:t>Evidence-grounded academic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33856" y="5074920"/>
            <a:ext cx="6858000" cy="3200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200" b="0">
                <a:solidFill>
                  <a:srgbClr val="FCE8E6"/>
                </a:solidFill>
                <a:latin typeface="Aptos"/>
              </a:defRPr>
            </a:pPr>
            <a:r>
              <a:t>汇报人 | 指导教师 | 单位 | 日期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" cy="6858000"/>
          </a:xfrm>
          <a:prstGeom prst="rect">
            <a:avLst/>
          </a:prstGeom>
          <a:solidFill>
            <a:srgbClr val="B42318"/>
          </a:solidFill>
          <a:ln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" y="320040"/>
            <a:ext cx="8229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ACADEMIC</a:t>
            </a:r>
            <a:br/>
            <a:r>
              <a:t>PPT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" y="1417320"/>
            <a:ext cx="822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研究背景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" y="2093976"/>
            <a:ext cx="822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FCE8E6"/>
                </a:solidFill>
                <a:latin typeface="Aptos"/>
              </a:defRPr>
            </a:pPr>
            <a:r>
              <a:t>研究方法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" y="2770632"/>
            <a:ext cx="822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FCE8E6"/>
                </a:solidFill>
                <a:latin typeface="Aptos"/>
              </a:defRPr>
            </a:pPr>
            <a:r>
              <a:t>实验结果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" y="3447287"/>
            <a:ext cx="822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FCE8E6"/>
                </a:solidFill>
                <a:latin typeface="Aptos"/>
              </a:defRPr>
            </a:pPr>
            <a:r>
              <a:t>总结展望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0"/>
            <a:ext cx="11045952" cy="109728"/>
          </a:xfrm>
          <a:prstGeom prst="rect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868680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B42318"/>
                </a:solidFill>
                <a:latin typeface="Aptos"/>
              </a:defRPr>
            </a:pPr>
            <a:r>
              <a:t>关键问题决定研究的价值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08760" y="1536192"/>
            <a:ext cx="914400" cy="54864"/>
          </a:xfrm>
          <a:prstGeom prst="rect">
            <a:avLst/>
          </a:prstGeom>
          <a:solidFill>
            <a:srgbClr val="B42318"/>
          </a:solidFill>
          <a:ln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08760" y="1920240"/>
            <a:ext cx="4572000" cy="3977639"/>
          </a:xfrm>
          <a:prstGeom prst="rect">
            <a:avLst/>
          </a:prstGeom>
          <a:solidFill>
            <a:srgbClr val="FFFFFF"/>
          </a:solidFill>
          <a:ln>
            <a:solidFill>
              <a:srgbClr val="FC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400800" y="1920240"/>
            <a:ext cx="5166360" cy="3977639"/>
          </a:xfrm>
          <a:prstGeom prst="rect">
            <a:avLst/>
          </a:prstGeom>
          <a:solidFill>
            <a:srgbClr val="FCE8E6"/>
          </a:solidFill>
          <a:ln>
            <a:solidFill>
              <a:srgbClr val="FC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28800" y="2240280"/>
            <a:ext cx="393192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900" b="1">
                <a:solidFill>
                  <a:srgbClr val="B42318"/>
                </a:solidFill>
                <a:latin typeface="Aptos"/>
              </a:defRPr>
            </a:pPr>
            <a:r>
              <a:t>证据与论点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828800" y="2971800"/>
            <a:ext cx="3886200" cy="2148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500" b="0">
                <a:solidFill>
                  <a:srgbClr val="344054"/>
                </a:solidFill>
                <a:latin typeface="Aptos"/>
              </a:defRPr>
            </a:pPr>
            <a:r>
              <a:t>• 来源证据一</a:t>
            </a:r>
            <a:br/>
            <a:r>
              <a:t>• 来源证据二</a:t>
            </a:r>
            <a:br/>
            <a:r>
              <a:t>• 解释与边界</a:t>
            </a:r>
          </a:p>
        </p:txBody>
      </p:sp>
      <p:pic>
        <p:nvPicPr>
          <p:cNvPr id="15" name="Picture 14" descr="_visual_placehold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79" y="2103120"/>
            <a:ext cx="4800600" cy="36118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766560" y="3337560"/>
            <a:ext cx="443484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800" b="1">
                <a:solidFill>
                  <a:srgbClr val="B42318"/>
                </a:solidFill>
                <a:latin typeface="Aptos"/>
              </a:defRPr>
            </a:pPr>
            <a:r>
              <a:t>图表 / 图像证据位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" cy="6858000"/>
          </a:xfrm>
          <a:prstGeom prst="rect">
            <a:avLst/>
          </a:prstGeom>
          <a:solidFill>
            <a:srgbClr val="B42318"/>
          </a:solidFill>
          <a:ln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" y="320040"/>
            <a:ext cx="8229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ACADEMIC</a:t>
            </a:r>
            <a:br/>
            <a:r>
              <a:t>PPT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" y="1417320"/>
            <a:ext cx="822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FCE8E6"/>
                </a:solidFill>
                <a:latin typeface="Aptos"/>
              </a:defRPr>
            </a:pPr>
            <a:r>
              <a:t>研究背景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" y="2093976"/>
            <a:ext cx="822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研究方法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" y="2770632"/>
            <a:ext cx="822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FCE8E6"/>
                </a:solidFill>
                <a:latin typeface="Aptos"/>
              </a:defRPr>
            </a:pPr>
            <a:r>
              <a:t>实验结果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" y="3447287"/>
            <a:ext cx="822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FCE8E6"/>
                </a:solidFill>
                <a:latin typeface="Aptos"/>
              </a:defRPr>
            </a:pPr>
            <a:r>
              <a:t>总结展望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0"/>
            <a:ext cx="11045952" cy="109728"/>
          </a:xfrm>
          <a:prstGeom prst="rect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868680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B42318"/>
                </a:solidFill>
                <a:latin typeface="Aptos"/>
              </a:defRPr>
            </a:pPr>
            <a:r>
              <a:t>方法设计围绕可检验的机制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08760" y="1536192"/>
            <a:ext cx="914400" cy="54864"/>
          </a:xfrm>
          <a:prstGeom prst="rect">
            <a:avLst/>
          </a:prstGeom>
          <a:solidFill>
            <a:srgbClr val="B42318"/>
          </a:solidFill>
          <a:ln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08760" y="2011680"/>
            <a:ext cx="2880360" cy="3337560"/>
          </a:xfrm>
          <a:prstGeom prst="rect">
            <a:avLst/>
          </a:prstGeom>
          <a:solidFill>
            <a:srgbClr val="FFFFFF"/>
          </a:solidFill>
          <a:ln>
            <a:solidFill>
              <a:srgbClr val="FC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1508760" y="2011680"/>
            <a:ext cx="2880360" cy="146304"/>
          </a:xfrm>
          <a:prstGeom prst="rect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764792" y="2377440"/>
            <a:ext cx="22860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B42318"/>
                </a:solidFill>
                <a:latin typeface="Aptos"/>
              </a:defRPr>
            </a:pPr>
            <a:r>
              <a:t>输入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64792" y="3063240"/>
            <a:ext cx="22402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344054"/>
                </a:solidFill>
                <a:latin typeface="Aptos"/>
              </a:defRPr>
            </a:pPr>
            <a:r>
              <a:t>关键步骤</a:t>
            </a:r>
            <a:br/>
            <a:r>
              <a:t>可追溯证据</a:t>
            </a:r>
            <a:br/>
            <a:r>
              <a:t>实施边界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846320" y="2011680"/>
            <a:ext cx="2880360" cy="3337560"/>
          </a:xfrm>
          <a:prstGeom prst="rect">
            <a:avLst/>
          </a:prstGeom>
          <a:solidFill>
            <a:srgbClr val="FFFFFF"/>
          </a:solidFill>
          <a:ln>
            <a:solidFill>
              <a:srgbClr val="FC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846320" y="2011680"/>
            <a:ext cx="2880360" cy="146304"/>
          </a:xfrm>
          <a:prstGeom prst="rect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102352" y="2377440"/>
            <a:ext cx="22860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B42318"/>
                </a:solidFill>
                <a:latin typeface="Aptos"/>
              </a:defRPr>
            </a:pPr>
            <a:r>
              <a:t>核心方法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102352" y="3063240"/>
            <a:ext cx="22402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344054"/>
                </a:solidFill>
                <a:latin typeface="Aptos"/>
              </a:defRPr>
            </a:pPr>
            <a:r>
              <a:t>关键步骤</a:t>
            </a:r>
            <a:br/>
            <a:r>
              <a:t>可追溯证据</a:t>
            </a:r>
            <a:br/>
            <a:r>
              <a:t>实施边界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183879" y="2011680"/>
            <a:ext cx="2880360" cy="3337560"/>
          </a:xfrm>
          <a:prstGeom prst="rect">
            <a:avLst/>
          </a:prstGeom>
          <a:solidFill>
            <a:srgbClr val="FFFFFF"/>
          </a:solidFill>
          <a:ln>
            <a:solidFill>
              <a:srgbClr val="FC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183879" y="2011680"/>
            <a:ext cx="2880360" cy="146304"/>
          </a:xfrm>
          <a:prstGeom prst="rect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439911" y="2377440"/>
            <a:ext cx="2286000" cy="438912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B42318"/>
                </a:solidFill>
                <a:latin typeface="Aptos"/>
              </a:defRPr>
            </a:pPr>
            <a:r>
              <a:t>输出验证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39911" y="3063240"/>
            <a:ext cx="22402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344054"/>
                </a:solidFill>
                <a:latin typeface="Aptos"/>
              </a:defRPr>
            </a:pPr>
            <a:r>
              <a:t>关键步骤</a:t>
            </a:r>
            <a:br/>
            <a:r>
              <a:t>可追溯证据</a:t>
            </a:r>
            <a:br/>
            <a:r>
              <a:t>实施边界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" cy="6858000"/>
          </a:xfrm>
          <a:prstGeom prst="rect">
            <a:avLst/>
          </a:prstGeom>
          <a:solidFill>
            <a:srgbClr val="B42318"/>
          </a:solidFill>
          <a:ln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" y="320040"/>
            <a:ext cx="8229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ACADEMIC</a:t>
            </a:r>
            <a:br/>
            <a:r>
              <a:t>PPT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" y="1417320"/>
            <a:ext cx="822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FCE8E6"/>
                </a:solidFill>
                <a:latin typeface="Aptos"/>
              </a:defRPr>
            </a:pPr>
            <a:r>
              <a:t>研究背景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" y="2093976"/>
            <a:ext cx="822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FCE8E6"/>
                </a:solidFill>
                <a:latin typeface="Aptos"/>
              </a:defRPr>
            </a:pPr>
            <a:r>
              <a:t>研究方法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" y="2770632"/>
            <a:ext cx="822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实验结果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" y="3447287"/>
            <a:ext cx="822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FCE8E6"/>
                </a:solidFill>
                <a:latin typeface="Aptos"/>
              </a:defRPr>
            </a:pPr>
            <a:r>
              <a:t>总结展望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0"/>
            <a:ext cx="11045952" cy="109728"/>
          </a:xfrm>
          <a:prstGeom prst="rect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868680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B42318"/>
                </a:solidFill>
                <a:latin typeface="Aptos"/>
              </a:defRPr>
            </a:pPr>
            <a:r>
              <a:t>结果支持核心结论，并保留适用边界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08760" y="1536192"/>
            <a:ext cx="914400" cy="54864"/>
          </a:xfrm>
          <a:prstGeom prst="rect">
            <a:avLst/>
          </a:prstGeom>
          <a:solidFill>
            <a:srgbClr val="B42318"/>
          </a:solidFill>
          <a:ln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08760" y="1965960"/>
            <a:ext cx="6492240" cy="3977639"/>
          </a:xfrm>
          <a:prstGeom prst="rect">
            <a:avLst/>
          </a:prstGeom>
          <a:solidFill>
            <a:srgbClr val="FFFFFF"/>
          </a:solidFill>
          <a:ln>
            <a:solidFill>
              <a:srgbClr val="FC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321040" y="1965960"/>
            <a:ext cx="3246120" cy="3977639"/>
          </a:xfrm>
          <a:prstGeom prst="rect">
            <a:avLst/>
          </a:prstGeom>
          <a:solidFill>
            <a:srgbClr val="FCE8E6"/>
          </a:solidFill>
          <a:ln>
            <a:solidFill>
              <a:srgbClr val="FC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856231" y="2331720"/>
            <a:ext cx="5669280" cy="411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B42318"/>
                </a:solidFill>
                <a:latin typeface="Aptos"/>
              </a:defRPr>
            </a:pPr>
            <a:r>
              <a:t>主结果图 / 重建图表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103120" y="3931920"/>
            <a:ext cx="658368" cy="1097280"/>
          </a:xfrm>
          <a:prstGeom prst="rect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246120" y="3017520"/>
            <a:ext cx="658368" cy="2011680"/>
          </a:xfrm>
          <a:prstGeom prst="rect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389120" y="3520440"/>
            <a:ext cx="658368" cy="1508760"/>
          </a:xfrm>
          <a:prstGeom prst="rect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532120" y="2240280"/>
            <a:ext cx="658368" cy="2788920"/>
          </a:xfrm>
          <a:prstGeom prst="rect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641080" y="2423160"/>
            <a:ext cx="2560320" cy="457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800" b="1">
                <a:solidFill>
                  <a:srgbClr val="B42318"/>
                </a:solidFill>
                <a:latin typeface="Aptos"/>
              </a:defRPr>
            </a:pPr>
            <a:r>
              <a:t>解读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41080" y="3154680"/>
            <a:ext cx="2423160" cy="1737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1400" b="0">
                <a:solidFill>
                  <a:srgbClr val="344054"/>
                </a:solidFill>
                <a:latin typeface="Aptos"/>
              </a:defRPr>
            </a:pPr>
            <a:r>
              <a:t>结果含义</a:t>
            </a:r>
            <a:br/>
            <a:r>
              <a:t>比较口径</a:t>
            </a:r>
            <a:br/>
            <a:r>
              <a:t>适用边界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143000" cy="6858000"/>
          </a:xfrm>
          <a:prstGeom prst="rect">
            <a:avLst/>
          </a:prstGeom>
          <a:solidFill>
            <a:srgbClr val="B42318"/>
          </a:solidFill>
          <a:ln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46304" y="320040"/>
            <a:ext cx="822960" cy="5943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100" b="1">
                <a:solidFill>
                  <a:srgbClr val="FFFFFF"/>
                </a:solidFill>
                <a:latin typeface="Aptos"/>
              </a:defRPr>
            </a:pPr>
            <a:r>
              <a:t>ACADEMIC</a:t>
            </a:r>
            <a:br/>
            <a:r>
              <a:t>PPT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6304" y="1417320"/>
            <a:ext cx="822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FCE8E6"/>
                </a:solidFill>
                <a:latin typeface="Aptos"/>
              </a:defRPr>
            </a:pPr>
            <a:r>
              <a:t>研究背景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6304" y="2093976"/>
            <a:ext cx="822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FCE8E6"/>
                </a:solidFill>
                <a:latin typeface="Aptos"/>
              </a:defRPr>
            </a:pPr>
            <a:r>
              <a:t>研究方法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6304" y="2770632"/>
            <a:ext cx="822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0">
                <a:solidFill>
                  <a:srgbClr val="FCE8E6"/>
                </a:solidFill>
                <a:latin typeface="Aptos"/>
              </a:defRPr>
            </a:pPr>
            <a:r>
              <a:t>实验结果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" y="3447287"/>
            <a:ext cx="822960" cy="38404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总结展望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0"/>
            <a:ext cx="11045952" cy="109728"/>
          </a:xfrm>
          <a:prstGeom prst="rect">
            <a:avLst/>
          </a:prstGeom>
          <a:solidFill>
            <a:srgbClr val="D92D20"/>
          </a:solidFill>
          <a:ln>
            <a:solidFill>
              <a:srgbClr val="D92D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508760" y="868680"/>
            <a:ext cx="9875520" cy="6400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defRPr sz="2700" b="1">
                <a:solidFill>
                  <a:srgbClr val="B42318"/>
                </a:solidFill>
                <a:latin typeface="Aptos"/>
              </a:defRPr>
            </a:pPr>
            <a:r>
              <a:t>结论、贡献与下一步行动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08760" y="1536192"/>
            <a:ext cx="914400" cy="54864"/>
          </a:xfrm>
          <a:prstGeom prst="rect">
            <a:avLst/>
          </a:prstGeom>
          <a:solidFill>
            <a:srgbClr val="B42318"/>
          </a:solidFill>
          <a:ln>
            <a:solidFill>
              <a:srgbClr val="B423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1508760" y="2057400"/>
            <a:ext cx="9921240" cy="3291840"/>
          </a:xfrm>
          <a:prstGeom prst="rect">
            <a:avLst/>
          </a:prstGeom>
          <a:solidFill>
            <a:srgbClr val="FCE8E6"/>
          </a:solidFill>
          <a:ln>
            <a:solidFill>
              <a:srgbClr val="FCE8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011680" y="2606040"/>
            <a:ext cx="8869680" cy="5029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2500" b="1">
                <a:solidFill>
                  <a:srgbClr val="B42318"/>
                </a:solidFill>
                <a:latin typeface="Aptos"/>
              </a:defRPr>
            </a:pPr>
            <a:r>
              <a:t>一句话核心结论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14600" y="3703320"/>
            <a:ext cx="7863840" cy="7772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defRPr sz="1600" b="0">
                <a:solidFill>
                  <a:srgbClr val="344054"/>
                </a:solidFill>
                <a:latin typeface="Aptos"/>
              </a:defRPr>
            </a:pPr>
            <a:r>
              <a:t>贡献、边界和可执行的下一步在此清晰收束。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