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38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553B"/>
    <a:srgbClr val="E9F2EE"/>
    <a:srgbClr val="FAE0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1BD8D04-D496-4657-BA51-79535C8510F5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38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" name="Google Shape;96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4" name="Google Shape;144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5" name="Google Shape;175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6" name="Google Shape;226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9" name="Google Shape;269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6" name="Google Shape;306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0.png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22.png"/><Relationship Id="rId12" Type="http://schemas.openxmlformats.org/officeDocument/2006/relationships/image" Target="../media/image21.png"/><Relationship Id="rId11" Type="http://schemas.openxmlformats.org/officeDocument/2006/relationships/image" Target="../media/image20.png"/><Relationship Id="rId10" Type="http://schemas.openxmlformats.org/officeDocument/2006/relationships/image" Target="../media/image19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tags" Target="../tags/tag7.xml"/><Relationship Id="rId7" Type="http://schemas.openxmlformats.org/officeDocument/2006/relationships/image" Target="../media/image35.png"/><Relationship Id="rId6" Type="http://schemas.openxmlformats.org/officeDocument/2006/relationships/tags" Target="../tags/tag6.xml"/><Relationship Id="rId5" Type="http://schemas.openxmlformats.org/officeDocument/2006/relationships/image" Target="../media/image34.png"/><Relationship Id="rId4" Type="http://schemas.openxmlformats.org/officeDocument/2006/relationships/tags" Target="../tags/tag5.xml"/><Relationship Id="rId38" Type="http://schemas.openxmlformats.org/officeDocument/2006/relationships/notesSlide" Target="../notesSlides/notesSlide7.xml"/><Relationship Id="rId37" Type="http://schemas.openxmlformats.org/officeDocument/2006/relationships/slideLayout" Target="../slideLayouts/slideLayout1.xml"/><Relationship Id="rId36" Type="http://schemas.openxmlformats.org/officeDocument/2006/relationships/image" Target="../media/image41.png"/><Relationship Id="rId35" Type="http://schemas.openxmlformats.org/officeDocument/2006/relationships/image" Target="../media/image40.png"/><Relationship Id="rId34" Type="http://schemas.openxmlformats.org/officeDocument/2006/relationships/tags" Target="../tags/tag29.xml"/><Relationship Id="rId33" Type="http://schemas.openxmlformats.org/officeDocument/2006/relationships/tags" Target="../tags/tag28.xml"/><Relationship Id="rId32" Type="http://schemas.openxmlformats.org/officeDocument/2006/relationships/tags" Target="../tags/tag27.xml"/><Relationship Id="rId31" Type="http://schemas.openxmlformats.org/officeDocument/2006/relationships/tags" Target="../tags/tag26.xml"/><Relationship Id="rId30" Type="http://schemas.openxmlformats.org/officeDocument/2006/relationships/tags" Target="../tags/tag25.xml"/><Relationship Id="rId3" Type="http://schemas.openxmlformats.org/officeDocument/2006/relationships/image" Target="../media/image33.png"/><Relationship Id="rId29" Type="http://schemas.openxmlformats.org/officeDocument/2006/relationships/tags" Target="../tags/tag24.xml"/><Relationship Id="rId28" Type="http://schemas.openxmlformats.org/officeDocument/2006/relationships/tags" Target="../tags/tag23.xml"/><Relationship Id="rId27" Type="http://schemas.openxmlformats.org/officeDocument/2006/relationships/tags" Target="../tags/tag22.xml"/><Relationship Id="rId26" Type="http://schemas.openxmlformats.org/officeDocument/2006/relationships/tags" Target="../tags/tag21.xml"/><Relationship Id="rId25" Type="http://schemas.openxmlformats.org/officeDocument/2006/relationships/tags" Target="../tags/tag20.xml"/><Relationship Id="rId24" Type="http://schemas.openxmlformats.org/officeDocument/2006/relationships/tags" Target="../tags/tag19.xml"/><Relationship Id="rId23" Type="http://schemas.openxmlformats.org/officeDocument/2006/relationships/tags" Target="../tags/tag18.xml"/><Relationship Id="rId22" Type="http://schemas.openxmlformats.org/officeDocument/2006/relationships/tags" Target="../tags/tag17.xml"/><Relationship Id="rId21" Type="http://schemas.openxmlformats.org/officeDocument/2006/relationships/tags" Target="../tags/tag16.xml"/><Relationship Id="rId20" Type="http://schemas.openxmlformats.org/officeDocument/2006/relationships/tags" Target="../tags/tag15.xml"/><Relationship Id="rId2" Type="http://schemas.openxmlformats.org/officeDocument/2006/relationships/tags" Target="../tags/tag4.xml"/><Relationship Id="rId19" Type="http://schemas.openxmlformats.org/officeDocument/2006/relationships/tags" Target="../tags/tag14.xml"/><Relationship Id="rId18" Type="http://schemas.openxmlformats.org/officeDocument/2006/relationships/image" Target="../media/image39.png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image" Target="../media/image38.png"/><Relationship Id="rId13" Type="http://schemas.openxmlformats.org/officeDocument/2006/relationships/tags" Target="../tags/tag10.xml"/><Relationship Id="rId12" Type="http://schemas.openxmlformats.org/officeDocument/2006/relationships/image" Target="../media/image37.png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81325" y="888484"/>
            <a:ext cx="6229350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55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“智能机器人” 重点专项项目申报</a:t>
            </a:r>
            <a:endParaRPr lang="en-US" sz="1800" b="1" i="0" u="none" strike="noStrike" cap="none">
              <a:solidFill>
                <a:srgbClr val="14553B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952500" y="5783460"/>
            <a:ext cx="10287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华东绿色智能工程研究院 浙江大学控制科学与工程学院 北京工业大学环境与能源学院 首拓机器人自动化集团有限公司</a:t>
            </a:r>
            <a:endParaRPr lang="en-US" sz="1200" b="0" i="0" u="none" strike="noStrike" cap="none">
              <a:solidFill>
                <a:srgbClr val="55555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7821930" y="1031359"/>
            <a:ext cx="952500" cy="9525"/>
          </a:xfrm>
          <a:prstGeom prst="rect">
            <a:avLst/>
          </a:prstGeom>
          <a:solidFill>
            <a:srgbClr val="1455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3346450" y="1021834"/>
            <a:ext cx="952500" cy="9525"/>
          </a:xfrm>
          <a:prstGeom prst="rect">
            <a:avLst/>
          </a:prstGeom>
          <a:solidFill>
            <a:srgbClr val="1455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95325" y="2036564"/>
            <a:ext cx="10801350" cy="89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国家重点研发计划</a:t>
            </a:r>
            <a:endParaRPr lang="en-US" sz="5400" b="1" i="0" u="none" strike="noStrike" cap="none">
              <a:solidFill>
                <a:srgbClr val="FFFF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95325" y="3118544"/>
            <a:ext cx="10801350" cy="470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绿色智能机器人系统关键技术研发与应用</a:t>
            </a:r>
            <a:endParaRPr lang="en-US" sz="2850" b="0" i="0" u="none" strike="noStrike" cap="none">
              <a:solidFill>
                <a:srgbClr val="FFFF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4095750" y="4446240"/>
            <a:ext cx="4000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项目负责人：</a:t>
            </a:r>
            <a:r>
              <a:rPr lang="en-US" sz="180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张科研</a:t>
            </a:r>
            <a:endParaRPr lang="en-US" sz="180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4095750" y="4907160"/>
            <a:ext cx="400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66666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主要完成人：张科研、李科研、王科研、赵科研</a:t>
            </a:r>
            <a:endParaRPr lang="en-US" sz="1500" b="0" i="0" u="none" strike="noStrike" cap="none">
              <a:solidFill>
                <a:srgbClr val="666666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167955"/>
            <a:ext cx="110490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71500" y="434628"/>
            <a:ext cx="11601450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55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1.1 立项依据与研究现状</a:t>
            </a:r>
            <a:endParaRPr lang="en-US" sz="2400" b="1" i="0" u="none" strike="noStrike" cap="none">
              <a:solidFill>
                <a:srgbClr val="14553B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127248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基于前述战略需求与技术瓶颈，本项目明确其独特创新定位：不做单一技术追赶，而是致力于跨层级、跨领域的</a:t>
            </a:r>
            <a:r>
              <a:rPr lang="en-US" sz="1650" b="1" i="0" u="none" strike="noStrike" cap="none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系统集成创新</a:t>
            </a:r>
            <a:r>
              <a:rPr lang="en-US" sz="1650" b="1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，提供复杂工程场景绿色智能作业的系统级解决方案。</a:t>
            </a:r>
            <a:endParaRPr lang="en-US" sz="1650" b="1" i="0" u="none" strike="noStrike" cap="none">
              <a:solidFill>
                <a:srgbClr val="333333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571500" y="872430"/>
            <a:ext cx="171450" cy="171450"/>
          </a:xfrm>
          <a:prstGeom prst="rect">
            <a:avLst/>
          </a:prstGeom>
          <a:solidFill>
            <a:srgbClr val="1455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571500" y="4349055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助力国家在能源安全、智能制造等领域的战略目标</a:t>
            </a:r>
            <a:endParaRPr lang="en-US" sz="1500" b="1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724400" y="273933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353300" y="2739330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819150" y="3310830"/>
            <a:ext cx="106108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455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理论创新：</a:t>
            </a: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 建立“环境扰动-任务性能-能源消耗”三者间的</a:t>
            </a:r>
            <a:r>
              <a:rPr lang="en-US" sz="1200" b="1" i="0" u="none" strike="noStrike" cap="none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耦合模型与优化理论</a:t>
            </a: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，为绿色智能机器人提供新设计准则。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742950" y="3663255"/>
            <a:ext cx="106108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455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技术创新：</a:t>
            </a: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 突破极端环境鲁棒感知、以</a:t>
            </a:r>
            <a:r>
              <a:rPr lang="en-US" sz="1200" b="1" i="0" u="none" strike="noStrike" cap="none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能效为核心</a:t>
            </a: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的任务规划、异构机器人</a:t>
            </a:r>
            <a:r>
              <a:rPr lang="en-US" sz="1200" b="1" i="0" u="none" strike="noStrike" cap="none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低碳协同</a:t>
            </a: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等关键技术群。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pic>
        <p:nvPicPr>
          <p:cNvPr id="113" name="Google Shape;113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112293" y="214878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995987" y="214878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879681" y="214878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" name="矩形 0"/>
          <p:cNvSpPr/>
          <p:nvPr/>
        </p:nvSpPr>
        <p:spPr>
          <a:xfrm>
            <a:off x="572135" y="5362575"/>
            <a:ext cx="10991850" cy="483235"/>
          </a:xfrm>
          <a:prstGeom prst="rect">
            <a:avLst/>
          </a:prstGeom>
          <a:solidFill>
            <a:srgbClr val="14553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核心价值：不仅要机器人能干，还要让她聪明的协同的绿色的完成复杂任务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638175" y="2106295"/>
            <a:ext cx="2263775" cy="370840"/>
          </a:xfrm>
          <a:prstGeom prst="roundRect">
            <a:avLst/>
          </a:prstGeom>
          <a:solidFill>
            <a:srgbClr val="14553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环境感知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3522345" y="2072640"/>
            <a:ext cx="2263775" cy="370840"/>
          </a:xfrm>
          <a:prstGeom prst="roundRect">
            <a:avLst/>
          </a:prstGeom>
          <a:solidFill>
            <a:srgbClr val="14553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智能决策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6473190" y="2092325"/>
            <a:ext cx="2263775" cy="370840"/>
          </a:xfrm>
          <a:prstGeom prst="roundRect">
            <a:avLst/>
          </a:prstGeom>
          <a:solidFill>
            <a:srgbClr val="14553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集群协同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9289415" y="2042795"/>
            <a:ext cx="2263775" cy="370840"/>
          </a:xfrm>
          <a:prstGeom prst="roundRect">
            <a:avLst/>
          </a:prstGeom>
          <a:solidFill>
            <a:srgbClr val="14553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能效管控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31335" y="2667000"/>
            <a:ext cx="3343275" cy="360045"/>
          </a:xfrm>
          <a:prstGeom prst="rect">
            <a:avLst/>
          </a:prstGeom>
          <a:solidFill>
            <a:schemeClr val="bg1"/>
          </a:solidFill>
          <a:ln>
            <a:solidFill>
              <a:srgbClr val="14553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4553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软硬件一体、云边端协同的系统平台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191250" y="1272480"/>
            <a:ext cx="5429250" cy="5204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00775" y="1282005"/>
            <a:ext cx="54102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71500" y="434628"/>
            <a:ext cx="11601450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55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1.2 行业痛点与技术挑战</a:t>
            </a:r>
            <a:endParaRPr lang="en-US" sz="2400" b="1" i="0" u="none" strike="noStrike" cap="none">
              <a:solidFill>
                <a:srgbClr val="14553B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571500" y="872430"/>
            <a:ext cx="171450" cy="171450"/>
          </a:xfrm>
          <a:prstGeom prst="rect">
            <a:avLst/>
          </a:prstGeom>
          <a:solidFill>
            <a:srgbClr val="1455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571500" y="2000250"/>
            <a:ext cx="5700712" cy="321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455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国家战略有要求，行业发展有痛点</a:t>
            </a:r>
            <a:endParaRPr lang="en-US" sz="1950" b="1" i="0" u="none" strike="noStrike" cap="none">
              <a:solidFill>
                <a:srgbClr val="14553B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571500" y="2512665"/>
            <a:ext cx="5429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本项目旨在响应国家顶层战略，直面关键行业在安全、能效与环保方面面临的</a:t>
            </a:r>
            <a:r>
              <a:rPr lang="en-US" sz="1500" b="1" i="0" u="none" strike="noStrike" cap="none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“三高”挑战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，研发绿色智能机器人系统是实现</a:t>
            </a:r>
            <a:r>
              <a:rPr lang="en-US" sz="1500" b="1" i="0" u="none" strike="noStrike" cap="none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“机器换人、智能减碳”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的必然选择。</a:t>
            </a:r>
            <a:endParaRPr lang="en-US" sz="1500" b="0" i="0" u="none" strike="noStrike" cap="none">
              <a:solidFill>
                <a:srgbClr val="333333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6200775" y="4615755"/>
            <a:ext cx="5410200" cy="447675"/>
          </a:xfrm>
          <a:prstGeom prst="rect">
            <a:avLst/>
          </a:prstGeom>
          <a:solidFill>
            <a:srgbClr val="1455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6343650" y="4711005"/>
            <a:ext cx="5124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高耗产业智能化转型应用场景</a:t>
            </a:r>
            <a:endParaRPr lang="en-US" sz="1500" b="1" i="0" u="none" strike="noStrike" cap="none">
              <a:solidFill>
                <a:srgbClr val="FFFF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0" name="Google Shape;130;p15"/>
          <p:cNvSpPr txBox="1"/>
          <p:nvPr>
            <p:custDataLst>
              <p:tags r:id="rId4"/>
            </p:custDataLst>
          </p:nvPr>
        </p:nvSpPr>
        <p:spPr>
          <a:xfrm>
            <a:off x="762000" y="3617565"/>
            <a:ext cx="5238750" cy="664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350" b="1" i="0" u="none" strike="noStrike" cap="none">
                <a:solidFill>
                  <a:srgbClr val="1455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国家战略的明确引导：</a:t>
            </a:r>
            <a:r>
              <a:rPr lang="en-US" sz="13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《“十四五”机器人产业发展规划》明确要求发展面向极端环境、高危作业的特种机器人。</a:t>
            </a:r>
            <a:endParaRPr lang="en-US" sz="13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32" name="Google Shape;132;p15"/>
          <p:cNvSpPr txBox="1"/>
          <p:nvPr>
            <p:custDataLst>
              <p:tags r:id="rId5"/>
            </p:custDataLst>
          </p:nvPr>
        </p:nvSpPr>
        <p:spPr>
          <a:xfrm>
            <a:off x="762000" y="4280445"/>
            <a:ext cx="5238750" cy="664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350" b="1" i="0" u="none" strike="noStrike" cap="none">
                <a:solidFill>
                  <a:srgbClr val="1455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“双碳”目标的内生动力：</a:t>
            </a:r>
            <a:r>
              <a:rPr lang="en-US" sz="13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《中国制造2025》与“双碳”目标共同驱动制造业向智能化、绿色化转型升级。</a:t>
            </a:r>
            <a:endParaRPr lang="en-US" sz="13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34" name="Google Shape;134;p15"/>
          <p:cNvSpPr txBox="1"/>
          <p:nvPr>
            <p:custDataLst>
              <p:tags r:id="rId6"/>
            </p:custDataLst>
          </p:nvPr>
        </p:nvSpPr>
        <p:spPr>
          <a:xfrm>
            <a:off x="762000" y="4943326"/>
            <a:ext cx="5238750" cy="664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350" b="1" i="0" u="none" strike="noStrike" cap="none">
                <a:solidFill>
                  <a:srgbClr val="1455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行业发展的现实痛点：</a:t>
            </a:r>
            <a:r>
              <a:rPr lang="en-US" sz="13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本项目精准聚焦国民经济主战场中，因“三高”特性而成为智能化升级的咽喉壁垒。</a:t>
            </a:r>
            <a:endParaRPr lang="en-US" sz="13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6934676" y="5373141"/>
            <a:ext cx="1280160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高危作业</a:t>
            </a:r>
            <a:endParaRPr lang="en-US" sz="1800" b="1" i="0" u="none" strike="noStrike" cap="none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6965156" y="5670202"/>
            <a:ext cx="12192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特高压带电检修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6965156" y="5913983"/>
            <a:ext cx="12192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人员安全风险突出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9596913" y="5373141"/>
            <a:ext cx="1280160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高耗产业</a:t>
            </a:r>
            <a:endParaRPr lang="en-US" sz="1800" b="1" i="0" u="none" strike="noStrike" cap="none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9627393" y="5670202"/>
            <a:ext cx="12192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建筑、冶金工业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9627393" y="5913983"/>
            <a:ext cx="12192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能效瓶颈亟待突破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" name="图片 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6215" y="1662430"/>
            <a:ext cx="4921885" cy="26041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236416"/>
            <a:ext cx="3555950" cy="2575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17950" y="3236416"/>
            <a:ext cx="3555950" cy="2575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064400" y="3236416"/>
            <a:ext cx="3556099" cy="2575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81025" y="3245941"/>
            <a:ext cx="35369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81025" y="5150941"/>
            <a:ext cx="3536900" cy="651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4327475" y="3245941"/>
            <a:ext cx="35369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4327475" y="5150941"/>
            <a:ext cx="3536900" cy="651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073925" y="3245941"/>
            <a:ext cx="353704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8073925" y="5150941"/>
            <a:ext cx="3537049" cy="65142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571500" y="434628"/>
            <a:ext cx="11601450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55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2.3 课题三：异构机器人集群的低碳协同控制</a:t>
            </a:r>
            <a:endParaRPr lang="en-US" sz="2400" b="1" i="0" u="none" strike="noStrike" cap="none">
              <a:solidFill>
                <a:srgbClr val="14553B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571500" y="872430"/>
            <a:ext cx="171450" cy="171450"/>
          </a:xfrm>
          <a:prstGeom prst="rect">
            <a:avLst/>
          </a:prstGeom>
          <a:solidFill>
            <a:srgbClr val="1455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571500" y="1939230"/>
            <a:ext cx="11049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基于效益-能耗权重的协同任务分配：</a:t>
            </a:r>
            <a:r>
              <a:rPr lang="en-US" sz="13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建立考虑机器人能力、位置、剩余电量的任务分配模型，以总耗时和总能耗加权最优为目标进行动态调度。</a:t>
            </a:r>
            <a:endParaRPr lang="en-US" sz="13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571500" y="2602110"/>
            <a:ext cx="11049000" cy="281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强干扰下的高精度协同操作：</a:t>
            </a:r>
            <a:r>
              <a:rPr lang="en-US" sz="13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研究复杂场景中的抗扰动控制、高精度对接技术，实现多机安全协同作业。</a:t>
            </a:r>
            <a:endParaRPr lang="en-US" sz="13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64" name="Google Shape;164;p16" descr="image.png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581025" y="3245941"/>
            <a:ext cx="35369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 txBox="1"/>
          <p:nvPr/>
        </p:nvSpPr>
        <p:spPr>
          <a:xfrm>
            <a:off x="676275" y="5246191"/>
            <a:ext cx="3346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455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空中视觉与巡检节点</a:t>
            </a:r>
            <a:endParaRPr lang="en-US" sz="1200" b="1" i="0" u="none" strike="noStrike" cap="none">
              <a:solidFill>
                <a:srgbClr val="14553B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676275" y="5493841"/>
            <a:ext cx="33464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大范围环境感知与宏观调度</a:t>
            </a:r>
            <a:endParaRPr lang="en-US" sz="1050" b="0" i="0" u="none" strike="noStrike" cap="none">
              <a:solidFill>
                <a:srgbClr val="333333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67" name="Google Shape;167;p16" descr="image.png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4327475" y="3245941"/>
            <a:ext cx="35369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6"/>
          <p:cNvSpPr txBox="1"/>
          <p:nvPr/>
        </p:nvSpPr>
        <p:spPr>
          <a:xfrm>
            <a:off x="4422725" y="5246191"/>
            <a:ext cx="3346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455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地面物流与运输节点</a:t>
            </a:r>
            <a:endParaRPr lang="en-US" sz="1200" b="1" i="0" u="none" strike="noStrike" cap="none">
              <a:solidFill>
                <a:srgbClr val="14553B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4422725" y="5493841"/>
            <a:ext cx="33464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物资接驳与能源中继平台</a:t>
            </a:r>
            <a:endParaRPr lang="en-US" sz="1050" b="0" i="0" u="none" strike="noStrike" cap="none">
              <a:solidFill>
                <a:srgbClr val="333333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70" name="Google Shape;170;p16" descr="image.png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8073925" y="3245941"/>
            <a:ext cx="353704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6"/>
          <p:cNvSpPr txBox="1"/>
          <p:nvPr/>
        </p:nvSpPr>
        <p:spPr>
          <a:xfrm>
            <a:off x="8169175" y="5246191"/>
            <a:ext cx="334654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455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机械臂精密操作节点</a:t>
            </a:r>
            <a:endParaRPr lang="en-US" sz="1200" b="1" i="0" u="none" strike="noStrike" cap="none">
              <a:solidFill>
                <a:srgbClr val="14553B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8169175" y="5493841"/>
            <a:ext cx="3346549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高精度分拣与装配作业执行</a:t>
            </a:r>
            <a:endParaRPr lang="en-US" sz="1050" b="0" i="0" u="none" strike="noStrike" cap="none">
              <a:solidFill>
                <a:srgbClr val="333333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" name="矩形 0"/>
          <p:cNvSpPr/>
          <p:nvPr/>
        </p:nvSpPr>
        <p:spPr>
          <a:xfrm>
            <a:off x="506730" y="1270635"/>
            <a:ext cx="11008995" cy="441960"/>
          </a:xfrm>
          <a:prstGeom prst="rect">
            <a:avLst/>
          </a:prstGeom>
          <a:solidFill>
            <a:srgbClr val="14553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研究目标：解决异构机器人协同作业时的</a:t>
            </a:r>
            <a:r>
              <a:rPr lang="zh-CN" altLang="en-US" sz="1600" b="1">
                <a:solidFill>
                  <a:srgbClr val="FAE03B"/>
                </a:solidFill>
                <a:latin typeface="微软雅黑" panose="020B0503020204020204" charset="-122"/>
                <a:ea typeface="微软雅黑" panose="020B0503020204020204" charset="-122"/>
              </a:rPr>
              <a:t>任务分配、运动协调与能源统筹问题</a:t>
            </a:r>
            <a:endParaRPr lang="zh-CN" altLang="en-US" sz="1600" b="1">
              <a:solidFill>
                <a:srgbClr val="FAE0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94945" y="1988185"/>
            <a:ext cx="308610" cy="297815"/>
          </a:xfrm>
          <a:prstGeom prst="roundRect">
            <a:avLst/>
          </a:prstGeom>
          <a:solidFill>
            <a:srgbClr val="14553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3" name="圆角矩形 2"/>
          <p:cNvSpPr/>
          <p:nvPr/>
        </p:nvSpPr>
        <p:spPr>
          <a:xfrm>
            <a:off x="194945" y="2586355"/>
            <a:ext cx="308610" cy="297815"/>
          </a:xfrm>
          <a:prstGeom prst="roundRect">
            <a:avLst/>
          </a:prstGeom>
          <a:solidFill>
            <a:srgbClr val="14553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506730" y="6164580"/>
            <a:ext cx="11008995" cy="441960"/>
          </a:xfrm>
          <a:prstGeom prst="rect">
            <a:avLst/>
          </a:prstGeom>
          <a:solidFill>
            <a:srgbClr val="14553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本课题让机器人从</a:t>
            </a:r>
            <a:r>
              <a:rPr lang="en-US" altLang="zh-CN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单兵作战</a:t>
            </a:r>
            <a:r>
              <a:rPr lang="en-US" altLang="zh-CN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走向</a:t>
            </a:r>
            <a:r>
              <a:rPr lang="en-US" altLang="zh-CN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集团军协同</a:t>
            </a:r>
            <a:r>
              <a:rPr lang="en-US" altLang="zh-CN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，并通过只会调度实现整体作业能耗的最小化</a:t>
            </a:r>
            <a:endParaRPr lang="zh-CN" altLang="en-US"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272480"/>
            <a:ext cx="1104900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179266"/>
            <a:ext cx="2619375" cy="3297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381375" y="3179266"/>
            <a:ext cx="2619375" cy="3297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191250" y="3179266"/>
            <a:ext cx="2619375" cy="3297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001125" y="3179266"/>
            <a:ext cx="2619375" cy="329773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 txBox="1"/>
          <p:nvPr/>
        </p:nvSpPr>
        <p:spPr>
          <a:xfrm>
            <a:off x="571500" y="434628"/>
            <a:ext cx="11601450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55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4.2 前期成果与支撑条件：厚积薄发，基础坚实</a:t>
            </a:r>
            <a:endParaRPr lang="en-US" sz="2400" b="1" i="0" u="none" strike="noStrike" cap="none">
              <a:solidFill>
                <a:srgbClr val="14553B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295275" y="2691705"/>
            <a:ext cx="11601450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55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核心研究平台与技术体系保障</a:t>
            </a:r>
            <a:endParaRPr lang="en-US" sz="1800" b="1" i="0" u="none" strike="noStrike" cap="none">
              <a:solidFill>
                <a:srgbClr val="14553B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571500" y="872430"/>
            <a:ext cx="171450" cy="171450"/>
          </a:xfrm>
          <a:prstGeom prst="rect">
            <a:avLst/>
          </a:prstGeom>
          <a:solidFill>
            <a:srgbClr val="1455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2152650" y="1686817"/>
            <a:ext cx="9144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华东绿色智能工程研究院牵头，联合浙江大学、北京工业大学、同济大学、国家电网智能公司、中建科技集团</a:t>
            </a:r>
            <a:endParaRPr lang="en-US" sz="1500" b="1" i="0" u="none" strike="noStrike" cap="none">
              <a:solidFill>
                <a:srgbClr val="333333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581025" y="3188791"/>
            <a:ext cx="2600325" cy="447675"/>
          </a:xfrm>
          <a:prstGeom prst="rect">
            <a:avLst/>
          </a:prstGeom>
          <a:solidFill>
            <a:srgbClr val="1455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723900" y="3284041"/>
            <a:ext cx="2314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机器人系统测试中心</a:t>
            </a:r>
            <a:endParaRPr lang="en-US" sz="1500" b="1" i="0" u="none" strike="noStrike" cap="none">
              <a:solidFill>
                <a:srgbClr val="FFFF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3390900" y="3188791"/>
            <a:ext cx="2600325" cy="447675"/>
          </a:xfrm>
          <a:prstGeom prst="rect">
            <a:avLst/>
          </a:prstGeom>
          <a:solidFill>
            <a:srgbClr val="1455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3533775" y="3284041"/>
            <a:ext cx="2314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电磁兼容实验室</a:t>
            </a:r>
            <a:endParaRPr lang="en-US" sz="1500" b="1" i="0" u="none" strike="noStrike" cap="none">
              <a:solidFill>
                <a:srgbClr val="FFFF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6200775" y="3188791"/>
            <a:ext cx="2600325" cy="447675"/>
          </a:xfrm>
          <a:prstGeom prst="rect">
            <a:avLst/>
          </a:prstGeom>
          <a:solidFill>
            <a:srgbClr val="1455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6343650" y="3284041"/>
            <a:ext cx="2314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特高压网联平台</a:t>
            </a:r>
            <a:endParaRPr lang="en-US" sz="1500" b="1" i="0" u="none" strike="noStrike" cap="none">
              <a:solidFill>
                <a:srgbClr val="FFFF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9010650" y="3188791"/>
            <a:ext cx="2600325" cy="447675"/>
          </a:xfrm>
          <a:prstGeom prst="rect">
            <a:avLst/>
          </a:prstGeom>
          <a:solidFill>
            <a:srgbClr val="1455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95" name="Google Shape;195;p17"/>
          <p:cNvSpPr txBox="1"/>
          <p:nvPr/>
        </p:nvSpPr>
        <p:spPr>
          <a:xfrm>
            <a:off x="9153525" y="3284041"/>
            <a:ext cx="2314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知识产权成果库</a:t>
            </a:r>
            <a:endParaRPr lang="en-US" sz="1500" b="1" i="0" u="none" strike="noStrike" cap="none">
              <a:solidFill>
                <a:srgbClr val="FFFF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96" name="Google Shape;196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76275" y="3284041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3724275" y="3284041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7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429692" y="3312616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7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9334500" y="3284041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7"/>
          <p:cNvSpPr txBox="1"/>
          <p:nvPr/>
        </p:nvSpPr>
        <p:spPr>
          <a:xfrm>
            <a:off x="809625" y="425955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•</a:t>
            </a:r>
            <a:endParaRPr lang="en-US" sz="13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866775" y="4260502"/>
            <a:ext cx="21717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已积累超过100TB的机器人作业数据</a:t>
            </a:r>
            <a:endParaRPr lang="en-US" sz="13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809625" y="492243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•</a:t>
            </a:r>
            <a:endParaRPr lang="en-US" sz="13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03" name="Google Shape;203;p17"/>
          <p:cNvSpPr txBox="1"/>
          <p:nvPr/>
        </p:nvSpPr>
        <p:spPr>
          <a:xfrm>
            <a:off x="866775" y="4923383"/>
            <a:ext cx="2171700" cy="312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具备极端环境模拟测试舱</a:t>
            </a:r>
            <a:endParaRPr lang="en-US" sz="13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809625" y="531102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•</a:t>
            </a:r>
            <a:endParaRPr lang="en-US" sz="13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05" name="Google Shape;205;p17"/>
          <p:cNvSpPr txBox="1"/>
          <p:nvPr/>
        </p:nvSpPr>
        <p:spPr>
          <a:xfrm>
            <a:off x="866775" y="5311973"/>
            <a:ext cx="2171700" cy="312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ISO 9001 质量体系认证</a:t>
            </a:r>
            <a:endParaRPr lang="en-US" sz="13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06" name="Google Shape;206;p17"/>
          <p:cNvSpPr txBox="1"/>
          <p:nvPr/>
        </p:nvSpPr>
        <p:spPr>
          <a:xfrm>
            <a:off x="3619500" y="412233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•</a:t>
            </a:r>
            <a:endParaRPr lang="en-US" sz="13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3676650" y="4123283"/>
            <a:ext cx="21717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依托单位建有高性能计算中心</a:t>
            </a:r>
            <a:endParaRPr lang="en-US" sz="13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8" name="Google Shape;208;p17"/>
          <p:cNvSpPr txBox="1"/>
          <p:nvPr/>
        </p:nvSpPr>
        <p:spPr>
          <a:xfrm>
            <a:off x="3619500" y="4785211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•</a:t>
            </a:r>
            <a:endParaRPr lang="en-US" sz="13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09" name="Google Shape;209;p17"/>
          <p:cNvSpPr txBox="1"/>
          <p:nvPr/>
        </p:nvSpPr>
        <p:spPr>
          <a:xfrm>
            <a:off x="3676650" y="4786163"/>
            <a:ext cx="21717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满足大规模仿真与模型训练需求</a:t>
            </a:r>
            <a:endParaRPr lang="en-US" sz="13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0" name="Google Shape;210;p17"/>
          <p:cNvSpPr txBox="1"/>
          <p:nvPr/>
        </p:nvSpPr>
        <p:spPr>
          <a:xfrm>
            <a:off x="3619500" y="5448091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•</a:t>
            </a:r>
            <a:endParaRPr lang="en-US" sz="13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11" name="Google Shape;211;p17"/>
          <p:cNvSpPr txBox="1"/>
          <p:nvPr/>
        </p:nvSpPr>
        <p:spPr>
          <a:xfrm>
            <a:off x="3676650" y="5449044"/>
            <a:ext cx="2171700" cy="312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全消声室及高频测试设备</a:t>
            </a:r>
            <a:endParaRPr lang="en-US" sz="13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2" name="Google Shape;212;p17"/>
          <p:cNvSpPr txBox="1"/>
          <p:nvPr/>
        </p:nvSpPr>
        <p:spPr>
          <a:xfrm>
            <a:off x="6429375" y="425955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•</a:t>
            </a:r>
            <a:endParaRPr lang="en-US" sz="13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13" name="Google Shape;213;p17"/>
          <p:cNvSpPr txBox="1"/>
          <p:nvPr/>
        </p:nvSpPr>
        <p:spPr>
          <a:xfrm>
            <a:off x="6486525" y="4260502"/>
            <a:ext cx="2171700" cy="312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核心成员牵头“国防173计划”</a:t>
            </a:r>
            <a:endParaRPr lang="en-US" sz="13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14" name="Google Shape;214;p17"/>
          <p:cNvSpPr txBox="1"/>
          <p:nvPr/>
        </p:nvSpPr>
        <p:spPr>
          <a:xfrm>
            <a:off x="6429375" y="464814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•</a:t>
            </a:r>
            <a:endParaRPr lang="en-US" sz="13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15" name="Google Shape;215;p17"/>
          <p:cNvSpPr txBox="1"/>
          <p:nvPr/>
        </p:nvSpPr>
        <p:spPr>
          <a:xfrm>
            <a:off x="6486525" y="4649092"/>
            <a:ext cx="21717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已开发出特高压作业机器人原型机</a:t>
            </a:r>
            <a:endParaRPr lang="en-US" sz="13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6" name="Google Shape;216;p17"/>
          <p:cNvSpPr txBox="1"/>
          <p:nvPr/>
        </p:nvSpPr>
        <p:spPr>
          <a:xfrm>
            <a:off x="6429375" y="531102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•</a:t>
            </a:r>
            <a:endParaRPr lang="en-US" sz="13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17" name="Google Shape;217;p17"/>
          <p:cNvSpPr txBox="1"/>
          <p:nvPr/>
        </p:nvSpPr>
        <p:spPr>
          <a:xfrm>
            <a:off x="6486525" y="5311973"/>
            <a:ext cx="2171700" cy="312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5G+北斗高精度定位基站</a:t>
            </a:r>
            <a:endParaRPr lang="en-US" sz="13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18" name="Google Shape;218;p17"/>
          <p:cNvSpPr txBox="1"/>
          <p:nvPr/>
        </p:nvSpPr>
        <p:spPr>
          <a:xfrm>
            <a:off x="9239250" y="439662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•</a:t>
            </a:r>
            <a:endParaRPr lang="en-US" sz="13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19" name="Google Shape;219;p17"/>
          <p:cNvSpPr txBox="1"/>
          <p:nvPr/>
        </p:nvSpPr>
        <p:spPr>
          <a:xfrm>
            <a:off x="9296400" y="4397573"/>
            <a:ext cx="2171700" cy="312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已牵头/参与制定标准</a:t>
            </a:r>
            <a:r>
              <a:rPr lang="en-US" sz="1350" b="1" i="0" u="none" strike="noStrike" cap="none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3项</a:t>
            </a:r>
            <a:endParaRPr lang="en-US" sz="1350" b="1" i="0" u="none" strike="noStrike" cap="none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20" name="Google Shape;220;p17"/>
          <p:cNvSpPr txBox="1"/>
          <p:nvPr/>
        </p:nvSpPr>
        <p:spPr>
          <a:xfrm>
            <a:off x="9239250" y="4785211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•</a:t>
            </a:r>
            <a:endParaRPr lang="en-US" sz="13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21" name="Google Shape;221;p17"/>
          <p:cNvSpPr txBox="1"/>
          <p:nvPr/>
        </p:nvSpPr>
        <p:spPr>
          <a:xfrm>
            <a:off x="9296400" y="4786163"/>
            <a:ext cx="2171700" cy="312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拥有虚拟控制等专利</a:t>
            </a:r>
            <a:r>
              <a:rPr lang="en-US" sz="1350" b="1" i="0" u="none" strike="noStrike" cap="none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68项</a:t>
            </a:r>
            <a:endParaRPr lang="en-US" sz="1350" b="1" i="0" u="none" strike="noStrike" cap="none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22" name="Google Shape;222;p17"/>
          <p:cNvSpPr txBox="1"/>
          <p:nvPr/>
        </p:nvSpPr>
        <p:spPr>
          <a:xfrm>
            <a:off x="9239250" y="5173801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•</a:t>
            </a:r>
            <a:endParaRPr lang="en-US" sz="13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23" name="Google Shape;223;p17"/>
          <p:cNvSpPr txBox="1"/>
          <p:nvPr/>
        </p:nvSpPr>
        <p:spPr>
          <a:xfrm>
            <a:off x="9296400" y="5174753"/>
            <a:ext cx="2171700" cy="312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软件著作权</a:t>
            </a:r>
            <a:r>
              <a:rPr lang="en-US" sz="1350" b="1" i="0" u="none" strike="noStrike" cap="none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30余项</a:t>
            </a:r>
            <a:endParaRPr lang="en-US" sz="1350" b="1" i="0" u="none" strike="noStrike" cap="none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" name="圆角矩形 0"/>
          <p:cNvSpPr/>
          <p:nvPr/>
        </p:nvSpPr>
        <p:spPr>
          <a:xfrm>
            <a:off x="742950" y="1524635"/>
            <a:ext cx="1255395" cy="586740"/>
          </a:xfrm>
          <a:prstGeom prst="roundRect">
            <a:avLst/>
          </a:prstGeom>
          <a:solidFill>
            <a:srgbClr val="14553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联合单位</a:t>
            </a:r>
            <a:endParaRPr lang="zh-CN" altLang="en-US" sz="1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272480"/>
            <a:ext cx="355595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17950" y="1272480"/>
            <a:ext cx="355595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064400" y="1272480"/>
            <a:ext cx="355595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71500" y="2891730"/>
            <a:ext cx="2057400" cy="2928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819400" y="2891730"/>
            <a:ext cx="2057400" cy="2928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067300" y="2891730"/>
            <a:ext cx="2057400" cy="2928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315200" y="2891730"/>
            <a:ext cx="2057400" cy="2928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563100" y="2891730"/>
            <a:ext cx="2057400" cy="292804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8"/>
          <p:cNvSpPr txBox="1"/>
          <p:nvPr/>
        </p:nvSpPr>
        <p:spPr>
          <a:xfrm>
            <a:off x="571500" y="434628"/>
            <a:ext cx="11601450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55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5.1 预期成果：可量化、可考核的高水平产出</a:t>
            </a:r>
            <a:endParaRPr lang="en-US" sz="2400" b="1" i="0" u="none" strike="noStrike" cap="none">
              <a:solidFill>
                <a:srgbClr val="14553B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571500" y="872430"/>
            <a:ext cx="171450" cy="171450"/>
          </a:xfrm>
          <a:prstGeom prst="rect">
            <a:avLst/>
          </a:prstGeom>
          <a:solidFill>
            <a:srgbClr val="1455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1663600" y="1524892"/>
            <a:ext cx="1371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综合能效提升</a:t>
            </a:r>
            <a:endParaRPr lang="en-US" sz="1800" b="1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1" name="Google Shape;241;p18"/>
          <p:cNvSpPr txBox="1"/>
          <p:nvPr/>
        </p:nvSpPr>
        <p:spPr>
          <a:xfrm>
            <a:off x="1761976" y="1829692"/>
            <a:ext cx="117499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&gt;15%</a:t>
            </a:r>
            <a:endParaRPr lang="en-US" sz="3600" b="1" i="0" u="none" strike="noStrike" cap="none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42" name="Google Shape;242;p18"/>
          <p:cNvSpPr txBox="1"/>
          <p:nvPr/>
        </p:nvSpPr>
        <p:spPr>
          <a:xfrm>
            <a:off x="5524351" y="1524892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碳排放降低</a:t>
            </a:r>
            <a:endParaRPr lang="en-US" sz="1800" b="1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3" name="Google Shape;243;p18"/>
          <p:cNvSpPr txBox="1"/>
          <p:nvPr/>
        </p:nvSpPr>
        <p:spPr>
          <a:xfrm>
            <a:off x="5508426" y="1829692"/>
            <a:ext cx="117499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&gt;10%</a:t>
            </a:r>
            <a:endParaRPr lang="en-US" sz="3600" b="1" i="0" u="none" strike="noStrike" cap="none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44" name="Google Shape;244;p18"/>
          <p:cNvSpPr txBox="1"/>
          <p:nvPr/>
        </p:nvSpPr>
        <p:spPr>
          <a:xfrm>
            <a:off x="9385101" y="148203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经济效益</a:t>
            </a:r>
            <a:endParaRPr lang="en-US" sz="1800" b="1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5" name="Google Shape;245;p18"/>
          <p:cNvSpPr txBox="1"/>
          <p:nvPr/>
        </p:nvSpPr>
        <p:spPr>
          <a:xfrm>
            <a:off x="9145339" y="1786830"/>
            <a:ext cx="1393924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≥1亿元</a:t>
            </a:r>
            <a:endParaRPr lang="en-US" sz="3600" b="1" i="0" u="none" strike="noStrike" cap="none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581025" y="2901255"/>
            <a:ext cx="2038350" cy="447675"/>
          </a:xfrm>
          <a:prstGeom prst="rect">
            <a:avLst/>
          </a:prstGeom>
          <a:solidFill>
            <a:srgbClr val="1455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47" name="Google Shape;247;p18"/>
          <p:cNvSpPr txBox="1"/>
          <p:nvPr/>
        </p:nvSpPr>
        <p:spPr>
          <a:xfrm>
            <a:off x="723900" y="2996505"/>
            <a:ext cx="17526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理论成果</a:t>
            </a:r>
            <a:endParaRPr lang="en-US" sz="1500" b="1" i="0" u="none" strike="noStrike" cap="none">
              <a:solidFill>
                <a:srgbClr val="FFFF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2828925" y="2901255"/>
            <a:ext cx="2038350" cy="447675"/>
          </a:xfrm>
          <a:prstGeom prst="rect">
            <a:avLst/>
          </a:prstGeom>
          <a:solidFill>
            <a:srgbClr val="1455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49" name="Google Shape;249;p18"/>
          <p:cNvSpPr txBox="1"/>
          <p:nvPr/>
        </p:nvSpPr>
        <p:spPr>
          <a:xfrm>
            <a:off x="2971800" y="2996505"/>
            <a:ext cx="17526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技术成果</a:t>
            </a:r>
            <a:endParaRPr lang="en-US" sz="1500" b="1" i="0" u="none" strike="noStrike" cap="none">
              <a:solidFill>
                <a:srgbClr val="FFFF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5076825" y="2901255"/>
            <a:ext cx="2038350" cy="447675"/>
          </a:xfrm>
          <a:prstGeom prst="rect">
            <a:avLst/>
          </a:prstGeom>
          <a:solidFill>
            <a:srgbClr val="1455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51" name="Google Shape;251;p18"/>
          <p:cNvSpPr txBox="1"/>
          <p:nvPr/>
        </p:nvSpPr>
        <p:spPr>
          <a:xfrm>
            <a:off x="5219700" y="2996505"/>
            <a:ext cx="17526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产品成果</a:t>
            </a:r>
            <a:endParaRPr lang="en-US" sz="1500" b="1" i="0" u="none" strike="noStrike" cap="none">
              <a:solidFill>
                <a:srgbClr val="FFFF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2" name="Google Shape;252;p18"/>
          <p:cNvSpPr/>
          <p:nvPr/>
        </p:nvSpPr>
        <p:spPr>
          <a:xfrm>
            <a:off x="7324725" y="2901255"/>
            <a:ext cx="2038350" cy="447675"/>
          </a:xfrm>
          <a:prstGeom prst="rect">
            <a:avLst/>
          </a:prstGeom>
          <a:solidFill>
            <a:srgbClr val="1455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53" name="Google Shape;253;p18"/>
          <p:cNvSpPr txBox="1"/>
          <p:nvPr/>
        </p:nvSpPr>
        <p:spPr>
          <a:xfrm>
            <a:off x="7467600" y="2996505"/>
            <a:ext cx="17526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平台与标准</a:t>
            </a:r>
            <a:endParaRPr lang="en-US" sz="1500" b="1" i="0" u="none" strike="noStrike" cap="none">
              <a:solidFill>
                <a:srgbClr val="FFFF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9572625" y="2901255"/>
            <a:ext cx="2038350" cy="447675"/>
          </a:xfrm>
          <a:prstGeom prst="rect">
            <a:avLst/>
          </a:prstGeom>
          <a:solidFill>
            <a:srgbClr val="1455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55" name="Google Shape;255;p18"/>
          <p:cNvSpPr txBox="1"/>
          <p:nvPr/>
        </p:nvSpPr>
        <p:spPr>
          <a:xfrm>
            <a:off x="9715500" y="2996505"/>
            <a:ext cx="17526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人才与基地</a:t>
            </a:r>
            <a:endParaRPr lang="en-US" sz="1500" b="1" i="0" u="none" strike="noStrike" cap="none">
              <a:solidFill>
                <a:srgbClr val="FFFFFF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6" name="Google Shape;256;p18"/>
          <p:cNvSpPr txBox="1"/>
          <p:nvPr/>
        </p:nvSpPr>
        <p:spPr>
          <a:xfrm>
            <a:off x="723900" y="3491805"/>
            <a:ext cx="17526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发表高水平论文</a:t>
            </a:r>
            <a:r>
              <a:rPr lang="en-US" sz="1200" b="1" i="0" u="none" strike="noStrike" cap="none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80-100篇</a:t>
            </a: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 (SCI/EI≥60篇)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57" name="Google Shape;257;p18"/>
          <p:cNvSpPr txBox="1"/>
          <p:nvPr/>
        </p:nvSpPr>
        <p:spPr>
          <a:xfrm>
            <a:off x="723900" y="4074616"/>
            <a:ext cx="8382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撰写专著</a:t>
            </a:r>
            <a:r>
              <a:rPr lang="en-US" sz="1200" b="1" i="0" u="none" strike="noStrike" cap="none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1部</a:t>
            </a:r>
            <a:endParaRPr lang="en-US" sz="1200" b="1" i="0" u="none" strike="noStrike" cap="none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58" name="Google Shape;258;p18"/>
          <p:cNvSpPr txBox="1"/>
          <p:nvPr/>
        </p:nvSpPr>
        <p:spPr>
          <a:xfrm>
            <a:off x="2971800" y="3491805"/>
            <a:ext cx="17526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申请/授权国家发明专利</a:t>
            </a:r>
            <a:r>
              <a:rPr lang="en-US" sz="1200" b="1" i="0" u="none" strike="noStrike" cap="none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≥30项</a:t>
            </a:r>
            <a:endParaRPr lang="en-US" sz="1200" b="1" i="0" u="none" strike="noStrike" cap="none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59" name="Google Shape;259;p18"/>
          <p:cNvSpPr txBox="1"/>
          <p:nvPr/>
        </p:nvSpPr>
        <p:spPr>
          <a:xfrm>
            <a:off x="2971800" y="4074616"/>
            <a:ext cx="120134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国际PCT专利</a:t>
            </a:r>
            <a:r>
              <a:rPr lang="en-US" sz="1200" b="1" i="0" u="none" strike="noStrike" cap="none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≥5项</a:t>
            </a:r>
            <a:endParaRPr lang="en-US" sz="1200" b="1" i="0" u="none" strike="noStrike" cap="none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60" name="Google Shape;260;p18"/>
          <p:cNvSpPr txBox="1"/>
          <p:nvPr/>
        </p:nvSpPr>
        <p:spPr>
          <a:xfrm>
            <a:off x="2971800" y="4413646"/>
            <a:ext cx="16002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形成核心算法软件包1套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61" name="Google Shape;261;p18"/>
          <p:cNvSpPr txBox="1"/>
          <p:nvPr/>
        </p:nvSpPr>
        <p:spPr>
          <a:xfrm>
            <a:off x="5219700" y="3491805"/>
            <a:ext cx="17526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研制特高压巡检、构件安装、固废处理机器人等工程样机/产品</a:t>
            </a:r>
            <a:r>
              <a:rPr lang="en-US" sz="1200" b="1" i="0" u="none" strike="noStrike" cap="none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≥3类</a:t>
            </a:r>
            <a:endParaRPr lang="en-US" sz="1200" b="1" i="0" u="none" strike="noStrike" cap="none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62" name="Google Shape;262;p18"/>
          <p:cNvSpPr txBox="1"/>
          <p:nvPr/>
        </p:nvSpPr>
        <p:spPr>
          <a:xfrm>
            <a:off x="7467600" y="3491805"/>
            <a:ext cx="17526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建成绿色智能机器人云边端协同平台1个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63" name="Google Shape;263;p18"/>
          <p:cNvSpPr txBox="1"/>
          <p:nvPr/>
        </p:nvSpPr>
        <p:spPr>
          <a:xfrm>
            <a:off x="7467600" y="4074616"/>
            <a:ext cx="17526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牵头/参与制定国家、行业或团体标准</a:t>
            </a:r>
            <a:r>
              <a:rPr lang="en-US" sz="1200" b="1" i="0" u="none" strike="noStrike" cap="none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≥2项</a:t>
            </a:r>
            <a:endParaRPr lang="en-US" sz="1200" b="1" i="0" u="none" strike="noStrike" cap="none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64" name="Google Shape;264;p18"/>
          <p:cNvSpPr txBox="1"/>
          <p:nvPr/>
        </p:nvSpPr>
        <p:spPr>
          <a:xfrm>
            <a:off x="9715500" y="3491805"/>
            <a:ext cx="17526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培养博士后、博士、硕士</a:t>
            </a:r>
            <a:r>
              <a:rPr lang="en-US" sz="1200" b="1" i="0" u="none" strike="noStrike" cap="none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≥50名</a:t>
            </a:r>
            <a:endParaRPr lang="en-US" sz="1200" b="1" i="0" u="none" strike="noStrike" cap="none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65" name="Google Shape;265;p18"/>
          <p:cNvSpPr txBox="1"/>
          <p:nvPr/>
        </p:nvSpPr>
        <p:spPr>
          <a:xfrm>
            <a:off x="9715500" y="4074616"/>
            <a:ext cx="17526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建成国家级或省部级创新中心1个</a:t>
            </a:r>
            <a:endParaRPr lang="en-US" sz="1200" b="0" i="0" u="none" strike="noStrike" cap="none">
              <a:solidFill>
                <a:srgbClr val="333333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66" name="Google Shape;266;p18"/>
          <p:cNvSpPr txBox="1"/>
          <p:nvPr/>
        </p:nvSpPr>
        <p:spPr>
          <a:xfrm>
            <a:off x="9715500" y="4657427"/>
            <a:ext cx="1226641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建立示范基地</a:t>
            </a:r>
            <a:r>
              <a:rPr lang="en-US" sz="1200" b="1" i="0" u="none" strike="noStrike" cap="none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≥5个</a:t>
            </a:r>
            <a:endParaRPr lang="en-US" sz="1200" b="1" i="0" u="none" strike="noStrike" cap="none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" name="圆角矩形 0"/>
          <p:cNvSpPr/>
          <p:nvPr/>
        </p:nvSpPr>
        <p:spPr>
          <a:xfrm>
            <a:off x="571500" y="6031230"/>
            <a:ext cx="11111865" cy="452755"/>
          </a:xfrm>
          <a:prstGeom prst="roundRect">
            <a:avLst/>
          </a:prstGeom>
          <a:solidFill>
            <a:srgbClr val="14553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项目旨在实现：突破学术前沿，驱动产业绿色升级与经济社会发展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9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47625" y="2356693"/>
            <a:ext cx="1333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9" descr="image.png"/>
          <p:cNvPicPr preferRelativeResize="0"/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2200275" y="4052143"/>
            <a:ext cx="133350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9" descr="image.png"/>
          <p:cNvPicPr preferRelativeResize="0"/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4352925" y="2528143"/>
            <a:ext cx="133350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9" descr="image.png"/>
          <p:cNvPicPr preferRelativeResize="0"/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>
            <a:off x="6505575" y="4052143"/>
            <a:ext cx="1333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9" descr="image.png"/>
          <p:cNvPicPr preferRelativeResize="0"/>
          <p:nvPr>
            <p:custDataLst>
              <p:tags r:id="rId10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8658225" y="2528143"/>
            <a:ext cx="133350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9" descr="image.png"/>
          <p:cNvPicPr preferRelativeResize="0"/>
          <p:nvPr>
            <p:custDataLst>
              <p:tags r:id="rId11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>
            <a:off x="10810875" y="4052143"/>
            <a:ext cx="1333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9" descr="image.png"/>
          <p:cNvPicPr preferRelativeResize="0"/>
          <p:nvPr>
            <p:custDataLst>
              <p:tags r:id="rId13"/>
            </p:custDataLst>
          </p:nvPr>
        </p:nvPicPr>
        <p:blipFill rotWithShape="1">
          <a:blip r:embed="rId14"/>
          <a:srcRect/>
          <a:stretch>
            <a:fillRect/>
          </a:stretch>
        </p:blipFill>
        <p:spPr>
          <a:xfrm>
            <a:off x="571500" y="3633043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9" descr="image.png"/>
          <p:cNvPicPr preferRelativeResize="0"/>
          <p:nvPr>
            <p:custDataLst>
              <p:tags r:id="rId15"/>
            </p:custDataLst>
          </p:nvPr>
        </p:nvPicPr>
        <p:blipFill rotWithShape="1">
          <a:blip r:embed="rId14"/>
          <a:srcRect/>
          <a:stretch>
            <a:fillRect/>
          </a:stretch>
        </p:blipFill>
        <p:spPr>
          <a:xfrm>
            <a:off x="2724150" y="3633043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9" descr="image.png"/>
          <p:cNvPicPr preferRelativeResize="0"/>
          <p:nvPr>
            <p:custDataLst>
              <p:tags r:id="rId16"/>
            </p:custDataLst>
          </p:nvPr>
        </p:nvPicPr>
        <p:blipFill rotWithShape="1">
          <a:blip r:embed="rId14"/>
          <a:srcRect/>
          <a:stretch>
            <a:fillRect/>
          </a:stretch>
        </p:blipFill>
        <p:spPr>
          <a:xfrm>
            <a:off x="4876800" y="3633043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9" descr="image.png"/>
          <p:cNvPicPr preferRelativeResize="0"/>
          <p:nvPr>
            <p:custDataLst>
              <p:tags r:id="rId17"/>
            </p:custDataLst>
          </p:nvPr>
        </p:nvPicPr>
        <p:blipFill rotWithShape="1">
          <a:blip r:embed="rId18"/>
          <a:srcRect/>
          <a:stretch>
            <a:fillRect/>
          </a:stretch>
        </p:blipFill>
        <p:spPr>
          <a:xfrm>
            <a:off x="7029450" y="3633043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9" descr="image.png"/>
          <p:cNvPicPr preferRelativeResize="0"/>
          <p:nvPr>
            <p:custDataLst>
              <p:tags r:id="rId19"/>
            </p:custDataLst>
          </p:nvPr>
        </p:nvPicPr>
        <p:blipFill rotWithShape="1">
          <a:blip r:embed="rId14"/>
          <a:srcRect/>
          <a:stretch>
            <a:fillRect/>
          </a:stretch>
        </p:blipFill>
        <p:spPr>
          <a:xfrm>
            <a:off x="9182100" y="3633043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9" descr="image.png"/>
          <p:cNvPicPr preferRelativeResize="0"/>
          <p:nvPr>
            <p:custDataLst>
              <p:tags r:id="rId20"/>
            </p:custDataLst>
          </p:nvPr>
        </p:nvPicPr>
        <p:blipFill rotWithShape="1">
          <a:blip r:embed="rId14"/>
          <a:srcRect/>
          <a:stretch>
            <a:fillRect/>
          </a:stretch>
        </p:blipFill>
        <p:spPr>
          <a:xfrm>
            <a:off x="11334750" y="3633043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9"/>
          <p:cNvSpPr txBox="1"/>
          <p:nvPr/>
        </p:nvSpPr>
        <p:spPr>
          <a:xfrm>
            <a:off x="571500" y="434628"/>
            <a:ext cx="11601450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55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5.2 项目实施计划与里程碑节点</a:t>
            </a:r>
            <a:endParaRPr lang="en-US" sz="2400" b="1" i="0" u="none" strike="noStrike" cap="none">
              <a:solidFill>
                <a:srgbClr val="14553B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87" name="Google Shape;287;p19"/>
          <p:cNvSpPr txBox="1"/>
          <p:nvPr/>
        </p:nvSpPr>
        <p:spPr>
          <a:xfrm>
            <a:off x="571500" y="127248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本项目执行期为</a:t>
            </a:r>
            <a:r>
              <a:rPr lang="en-US" sz="1500" b="1" i="0" u="none" strike="noStrike" cap="none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36个月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，分为六个核心实施阶段，保障关键技术攻关与产业应用落地。</a:t>
            </a:r>
            <a:endParaRPr lang="en-US" sz="1500" b="0" i="0" u="none" strike="noStrike" cap="none">
              <a:solidFill>
                <a:srgbClr val="333333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88" name="Google Shape;288;p19"/>
          <p:cNvSpPr/>
          <p:nvPr/>
        </p:nvSpPr>
        <p:spPr>
          <a:xfrm>
            <a:off x="571500" y="872430"/>
            <a:ext cx="171450" cy="171450"/>
          </a:xfrm>
          <a:prstGeom prst="rect">
            <a:avLst/>
          </a:prstGeom>
          <a:solidFill>
            <a:srgbClr val="1455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91" name="Google Shape;291;p19"/>
          <p:cNvSpPr txBox="1"/>
          <p:nvPr>
            <p:custDataLst>
              <p:tags r:id="rId21"/>
            </p:custDataLst>
          </p:nvPr>
        </p:nvSpPr>
        <p:spPr>
          <a:xfrm>
            <a:off x="152400" y="2461468"/>
            <a:ext cx="1123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455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第1-6个月</a:t>
            </a:r>
            <a:endParaRPr lang="en-US" sz="1200" b="1" i="0" u="none" strike="noStrike" cap="none">
              <a:solidFill>
                <a:srgbClr val="14553B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92" name="Google Shape;292;p19"/>
          <p:cNvSpPr txBox="1"/>
          <p:nvPr>
            <p:custDataLst>
              <p:tags r:id="rId22"/>
            </p:custDataLst>
          </p:nvPr>
        </p:nvSpPr>
        <p:spPr>
          <a:xfrm>
            <a:off x="152400" y="2709118"/>
            <a:ext cx="1123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需求分析与总体设计</a:t>
            </a:r>
            <a:b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Calibri" panose="020F0502020204030204"/>
              </a:rPr>
            </a:br>
            <a:r>
              <a:rPr lang="en-US" sz="10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 完成系统架构设计与关键指标分解</a:t>
            </a:r>
            <a:endParaRPr lang="en-US" sz="10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93" name="Google Shape;293;p19"/>
          <p:cNvSpPr txBox="1"/>
          <p:nvPr>
            <p:custDataLst>
              <p:tags r:id="rId23"/>
            </p:custDataLst>
          </p:nvPr>
        </p:nvSpPr>
        <p:spPr>
          <a:xfrm>
            <a:off x="2305050" y="4156918"/>
            <a:ext cx="1123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455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第7-12个月</a:t>
            </a:r>
            <a:endParaRPr lang="en-US" sz="1200" b="1" i="0" u="none" strike="noStrike" cap="none">
              <a:solidFill>
                <a:srgbClr val="14553B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94" name="Google Shape;294;p19"/>
          <p:cNvSpPr txBox="1"/>
          <p:nvPr>
            <p:custDataLst>
              <p:tags r:id="rId24"/>
            </p:custDataLst>
          </p:nvPr>
        </p:nvSpPr>
        <p:spPr>
          <a:xfrm>
            <a:off x="2305050" y="4404568"/>
            <a:ext cx="11239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核心技术攻关</a:t>
            </a:r>
            <a:b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Calibri" panose="020F0502020204030204"/>
              </a:rPr>
            </a:br>
            <a:r>
              <a:rPr lang="en-US" sz="10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 突破感知、决策与协同单项关键技术</a:t>
            </a:r>
            <a:endParaRPr lang="en-US" sz="10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95" name="Google Shape;295;p19"/>
          <p:cNvSpPr txBox="1"/>
          <p:nvPr>
            <p:custDataLst>
              <p:tags r:id="rId25"/>
            </p:custDataLst>
          </p:nvPr>
        </p:nvSpPr>
        <p:spPr>
          <a:xfrm>
            <a:off x="4457700" y="2632918"/>
            <a:ext cx="1123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455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第13-18个月</a:t>
            </a:r>
            <a:endParaRPr lang="en-US" sz="1200" b="1" i="0" u="none" strike="noStrike" cap="none">
              <a:solidFill>
                <a:srgbClr val="14553B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96" name="Google Shape;296;p19"/>
          <p:cNvSpPr txBox="1"/>
          <p:nvPr>
            <p:custDataLst>
              <p:tags r:id="rId26"/>
            </p:custDataLst>
          </p:nvPr>
        </p:nvSpPr>
        <p:spPr>
          <a:xfrm>
            <a:off x="4457700" y="2880568"/>
            <a:ext cx="11239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模块研发与测试</a:t>
            </a:r>
            <a:b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Calibri" panose="020F0502020204030204"/>
              </a:rPr>
            </a:br>
            <a:r>
              <a:rPr lang="en-US" sz="10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 完成软硬件模块研制与实验室联调</a:t>
            </a:r>
            <a:endParaRPr lang="en-US" sz="10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97" name="Google Shape;297;p19"/>
          <p:cNvSpPr txBox="1"/>
          <p:nvPr>
            <p:custDataLst>
              <p:tags r:id="rId27"/>
            </p:custDataLst>
          </p:nvPr>
        </p:nvSpPr>
        <p:spPr>
          <a:xfrm>
            <a:off x="6610350" y="4156918"/>
            <a:ext cx="1123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455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第19-24个月</a:t>
            </a:r>
            <a:endParaRPr lang="en-US" sz="1200" b="1" i="0" u="none" strike="noStrike" cap="none">
              <a:solidFill>
                <a:srgbClr val="14553B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98" name="Google Shape;298;p19"/>
          <p:cNvSpPr txBox="1"/>
          <p:nvPr>
            <p:custDataLst>
              <p:tags r:id="rId28"/>
            </p:custDataLst>
          </p:nvPr>
        </p:nvSpPr>
        <p:spPr>
          <a:xfrm>
            <a:off x="6610350" y="4404568"/>
            <a:ext cx="1123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系统集成与样机研制</a:t>
            </a:r>
            <a:b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Calibri" panose="020F0502020204030204"/>
              </a:rPr>
            </a:br>
            <a:r>
              <a:rPr lang="en-US" sz="10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 平台搭建完毕，推出第一代工程样机</a:t>
            </a:r>
            <a:endParaRPr lang="en-US" sz="10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99" name="Google Shape;299;p19"/>
          <p:cNvSpPr txBox="1"/>
          <p:nvPr>
            <p:custDataLst>
              <p:tags r:id="rId29"/>
            </p:custDataLst>
          </p:nvPr>
        </p:nvSpPr>
        <p:spPr>
          <a:xfrm>
            <a:off x="8763000" y="2632918"/>
            <a:ext cx="1123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455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第25-30个月</a:t>
            </a:r>
            <a:endParaRPr lang="en-US" sz="1200" b="1" i="0" u="none" strike="noStrike" cap="none">
              <a:solidFill>
                <a:srgbClr val="14553B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300" name="Google Shape;300;p19"/>
          <p:cNvSpPr txBox="1"/>
          <p:nvPr>
            <p:custDataLst>
              <p:tags r:id="rId30"/>
            </p:custDataLst>
          </p:nvPr>
        </p:nvSpPr>
        <p:spPr>
          <a:xfrm>
            <a:off x="8763000" y="2880568"/>
            <a:ext cx="11239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应用示范与迭代</a:t>
            </a:r>
            <a:b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Calibri" panose="020F0502020204030204"/>
              </a:rPr>
            </a:br>
            <a:r>
              <a:rPr lang="en-US" sz="10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 在特高压、建筑等场景开展示范运行</a:t>
            </a:r>
            <a:endParaRPr lang="en-US" sz="10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301" name="Google Shape;301;p19"/>
          <p:cNvSpPr txBox="1"/>
          <p:nvPr>
            <p:custDataLst>
              <p:tags r:id="rId31"/>
            </p:custDataLst>
          </p:nvPr>
        </p:nvSpPr>
        <p:spPr>
          <a:xfrm>
            <a:off x="10915650" y="4156918"/>
            <a:ext cx="1123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455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第31-36个月</a:t>
            </a:r>
            <a:endParaRPr lang="en-US" sz="1200" b="1" i="0" u="none" strike="noStrike" cap="none">
              <a:solidFill>
                <a:srgbClr val="14553B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302" name="Google Shape;302;p19"/>
          <p:cNvSpPr txBox="1"/>
          <p:nvPr>
            <p:custDataLst>
              <p:tags r:id="rId32"/>
            </p:custDataLst>
          </p:nvPr>
        </p:nvSpPr>
        <p:spPr>
          <a:xfrm>
            <a:off x="10915650" y="4404568"/>
            <a:ext cx="1123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项目验收与推广</a:t>
            </a:r>
            <a:b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Calibri" panose="020F0502020204030204"/>
              </a:rPr>
            </a:br>
            <a:r>
              <a:rPr lang="en-US" sz="1050" b="0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 完成第三方测试与评价，形成产业化方案</a:t>
            </a:r>
            <a:endParaRPr lang="en-US" sz="1050" b="0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303" name="Google Shape;303;p19"/>
          <p:cNvSpPr/>
          <p:nvPr>
            <p:custDataLst>
              <p:tags r:id="rId33"/>
            </p:custDataLst>
          </p:nvPr>
        </p:nvSpPr>
        <p:spPr>
          <a:xfrm>
            <a:off x="571500" y="3775918"/>
            <a:ext cx="11049000" cy="38100"/>
          </a:xfrm>
          <a:prstGeom prst="rect">
            <a:avLst/>
          </a:prstGeom>
          <a:solidFill>
            <a:srgbClr val="1455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" name="矩形 0"/>
          <p:cNvSpPr/>
          <p:nvPr/>
        </p:nvSpPr>
        <p:spPr>
          <a:xfrm>
            <a:off x="478790" y="5688965"/>
            <a:ext cx="5421630" cy="751205"/>
          </a:xfrm>
          <a:prstGeom prst="rect">
            <a:avLst/>
          </a:prstGeom>
          <a:solidFill>
            <a:srgbClr val="E9F2EE"/>
          </a:solidFill>
          <a:ln>
            <a:solidFill>
              <a:srgbClr val="14553B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14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里程碑评估机制：季度自查</a:t>
            </a:r>
            <a:r>
              <a:rPr lang="en-US" altLang="zh-CN" b="1">
                <a:solidFill>
                  <a:srgbClr val="14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b="1">
                <a:solidFill>
                  <a:srgbClr val="14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年度专家评审</a:t>
            </a:r>
            <a:endParaRPr lang="zh-CN" altLang="en-US" b="1">
              <a:solidFill>
                <a:srgbClr val="145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/>
          <p:nvPr>
            <p:custDataLst>
              <p:tags r:id="rId34"/>
            </p:custDataLst>
          </p:nvPr>
        </p:nvSpPr>
        <p:spPr>
          <a:xfrm>
            <a:off x="6280785" y="5707380"/>
            <a:ext cx="5421630" cy="751205"/>
          </a:xfrm>
          <a:prstGeom prst="rect">
            <a:avLst/>
          </a:prstGeom>
          <a:solidFill>
            <a:srgbClr val="E9F2EE"/>
          </a:solidFill>
          <a:ln>
            <a:solidFill>
              <a:srgbClr val="14553B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rgbClr val="14553B"/>
                </a:solidFill>
                <a:latin typeface="微软雅黑" panose="020B0503020204020204" charset="-122"/>
                <a:ea typeface="微软雅黑" panose="020B0503020204020204" charset="-122"/>
              </a:rPr>
              <a:t>风险预案：</a:t>
            </a:r>
            <a:endParaRPr lang="zh-CN" altLang="en-US" sz="1600" b="1">
              <a:solidFill>
                <a:srgbClr val="1455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89" name="Google Shape;289;p19" descr="image.png"/>
          <p:cNvPicPr preferRelativeResize="0"/>
          <p:nvPr/>
        </p:nvPicPr>
        <p:blipFill rotWithShape="1">
          <a:blip r:embed="rId35"/>
          <a:srcRect/>
          <a:stretch>
            <a:fillRect/>
          </a:stretch>
        </p:blipFill>
        <p:spPr>
          <a:xfrm>
            <a:off x="1047601" y="596860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9" descr="image.png"/>
          <p:cNvPicPr preferRelativeResize="0"/>
          <p:nvPr/>
        </p:nvPicPr>
        <p:blipFill rotWithShape="1">
          <a:blip r:embed="rId36"/>
          <a:srcRect/>
          <a:stretch>
            <a:fillRect/>
          </a:stretch>
        </p:blipFill>
        <p:spPr>
          <a:xfrm>
            <a:off x="6883400" y="5974318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0"/>
          <p:cNvSpPr txBox="1"/>
          <p:nvPr/>
        </p:nvSpPr>
        <p:spPr>
          <a:xfrm>
            <a:off x="571500" y="434628"/>
            <a:ext cx="11601450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55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6.1 经费预算与课题任务分解</a:t>
            </a:r>
            <a:endParaRPr lang="en-US" sz="2400" b="1" i="0" u="none" strike="noStrike" cap="none">
              <a:solidFill>
                <a:srgbClr val="14553B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310" name="Google Shape;310;p20"/>
          <p:cNvSpPr txBox="1"/>
          <p:nvPr/>
        </p:nvSpPr>
        <p:spPr>
          <a:xfrm>
            <a:off x="571500" y="1272480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项目总经费预算 </a:t>
            </a:r>
            <a:r>
              <a:rPr lang="en-US" sz="1500" b="1" i="0" u="none" strike="noStrike" cap="none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5000万元</a:t>
            </a:r>
            <a:r>
              <a:rPr lang="en-US" sz="15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，其中中央财政专项资金 2000万元，自筹资金 3000万元。经费严格按照课题任务权重及考核指标进行分配。</a:t>
            </a:r>
            <a:endParaRPr lang="en-US" sz="1500" b="0" i="0" u="none" strike="noStrike" cap="none">
              <a:solidFill>
                <a:srgbClr val="333333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graphicFrame>
        <p:nvGraphicFramePr>
          <p:cNvPr id="311" name="Google Shape;311;p20"/>
          <p:cNvGraphicFramePr/>
          <p:nvPr/>
        </p:nvGraphicFramePr>
        <p:xfrm>
          <a:off x="571500" y="2072580"/>
          <a:ext cx="11039475" cy="4295725"/>
        </p:xfrm>
        <a:graphic>
          <a:graphicData uri="http://schemas.openxmlformats.org/drawingml/2006/table">
            <a:tbl>
              <a:tblPr firstRow="1" bandRow="1">
                <a:noFill/>
                <a:tableStyleId>{71BD8D04-D496-4657-BA51-79535C8510F5}</a:tableStyleId>
              </a:tblPr>
              <a:tblGrid>
                <a:gridCol w="1655850"/>
                <a:gridCol w="2759875"/>
                <a:gridCol w="2207875"/>
                <a:gridCol w="1655850"/>
                <a:gridCol w="2760025"/>
              </a:tblGrid>
              <a:tr h="715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rPr>
                        <a:t>课题编号</a:t>
                      </a:r>
                      <a:endParaRPr lang="en-US" sz="1350" b="1" i="0" u="none" strike="noStrike" cap="none">
                        <a:solidFill>
                          <a:srgbClr val="FFFFFF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55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rPr>
                        <a:t>课题名称</a:t>
                      </a:r>
                      <a:endParaRPr lang="en-US" sz="1350" b="1" i="0" u="none" strike="noStrike" cap="none">
                        <a:solidFill>
                          <a:srgbClr val="FFFFFF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55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rPr>
                        <a:t>承担单位</a:t>
                      </a:r>
                      <a:endParaRPr lang="en-US" sz="1350" b="1" i="0" u="none" strike="noStrike" cap="none">
                        <a:solidFill>
                          <a:srgbClr val="FFFFFF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55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rPr>
                        <a:t>经费占比</a:t>
                      </a:r>
                      <a:endParaRPr lang="en-US" sz="1350" b="1" i="0" u="none" strike="noStrike" cap="none">
                        <a:solidFill>
                          <a:srgbClr val="FFFFFF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55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  <a:t>核心考核指标 (KPIs)</a:t>
                      </a:r>
                      <a:endParaRPr lang="en-US" sz="1350" b="1" i="0" u="none" strike="noStrike" cap="none">
                        <a:solidFill>
                          <a:srgbClr val="FFFFFF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553B"/>
                    </a:solidFill>
                  </a:tcPr>
                </a:tc>
              </a:tr>
              <a:tr h="715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rPr>
                        <a:t>课题一</a:t>
                      </a:r>
                      <a:endParaRPr lang="en-US" sz="1350" b="1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rPr>
                        <a:t>复杂环境下机器人多源信息融合感知技术</a:t>
                      </a:r>
                      <a:endParaRPr lang="en-US" sz="1350" b="0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rPr>
                        <a:t>浙江大学</a:t>
                      </a:r>
                      <a:endParaRPr lang="en-US" sz="1350" b="0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  <a:t>20%</a:t>
                      </a:r>
                      <a:endParaRPr lang="en-US" sz="1350" b="1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  <a:t>感知精度提升&gt;20%</a:t>
                      </a:r>
                      <a:br>
                        <a:rPr lang="en-US" sz="1800" u="none" strike="noStrike" cap="none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Calibri" panose="020F0502020204030204"/>
                        </a:rPr>
                      </a:br>
                      <a:b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</a:b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  <a:t>        发表高水平论文&gt;15篇</a:t>
                      </a:r>
                      <a:endParaRPr lang="en-US" sz="1350" b="0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15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rPr>
                        <a:t>课题二</a:t>
                      </a:r>
                      <a:endParaRPr lang="en-US" sz="1350" b="1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rPr>
                        <a:t>以能效为核心的机器人智能自主决策</a:t>
                      </a:r>
                      <a:endParaRPr lang="en-US" sz="1350" b="0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rPr>
                        <a:t>北京工业大学</a:t>
                      </a:r>
                      <a:endParaRPr lang="en-US" sz="1350" b="0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  <a:t>20%</a:t>
                      </a:r>
                      <a:endParaRPr lang="en-US" sz="1350" b="1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  <a:t>算法计算效率提升&gt;30%</a:t>
                      </a:r>
                      <a:br>
                        <a:rPr lang="en-US" sz="1800" u="none" strike="noStrike" cap="none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Calibri" panose="020F0502020204030204"/>
                        </a:rPr>
                      </a:br>
                      <a:b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</a:b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  <a:t>        申请发明专利&gt;10项</a:t>
                      </a:r>
                      <a:endParaRPr lang="en-US" sz="1350" b="0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F2EE"/>
                    </a:solidFill>
                  </a:tcPr>
                </a:tc>
              </a:tr>
              <a:tr h="715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rPr>
                        <a:t>课题三</a:t>
                      </a:r>
                      <a:endParaRPr lang="en-US" sz="1350" b="1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rPr>
                        <a:t>异构机器人集群的低碳协同控制技术</a:t>
                      </a:r>
                      <a:endParaRPr lang="en-US" sz="1350" b="0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rPr>
                        <a:t>华东绿色智能工程研究院</a:t>
                      </a:r>
                      <a:endParaRPr lang="en-US" sz="1350" b="0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  <a:t>25%</a:t>
                      </a:r>
                      <a:endParaRPr lang="en-US" sz="1350" b="1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  <a:t>异构集群规模&gt;10台</a:t>
                      </a:r>
                      <a:br>
                        <a:rPr lang="en-US" sz="1800" u="none" strike="noStrike" cap="none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Calibri" panose="020F0502020204030204"/>
                        </a:rPr>
                      </a:br>
                      <a:b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</a:b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  <a:t>        综合协同能耗降低&gt;20%</a:t>
                      </a:r>
                      <a:endParaRPr lang="en-US" sz="1350" b="0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15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rPr>
                        <a:t>课题四</a:t>
                      </a:r>
                      <a:endParaRPr lang="en-US" sz="1350" b="1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rPr>
                        <a:t>绿色智能机器人云边端协同平台研发</a:t>
                      </a:r>
                      <a:endParaRPr lang="en-US" sz="1350" b="0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rPr>
                        <a:t>国家电网智能公司</a:t>
                      </a:r>
                      <a:endParaRPr lang="en-US" sz="1350" b="0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  <a:t>15%</a:t>
                      </a:r>
                      <a:endParaRPr lang="en-US" sz="1350" b="1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  <a:t>系统响应延迟&lt;10ms</a:t>
                      </a:r>
                      <a:br>
                        <a:rPr lang="en-US" sz="1800" u="none" strike="noStrike" cap="none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Calibri" panose="020F0502020204030204"/>
                        </a:rPr>
                      </a:br>
                      <a:b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</a:b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  <a:t>        取得软件著作权&gt;5项</a:t>
                      </a:r>
                      <a:endParaRPr lang="en-US" sz="1350" b="0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F2EE"/>
                    </a:solidFill>
                  </a:tcPr>
                </a:tc>
              </a:tr>
              <a:tr h="71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rPr>
                        <a:t>课题五</a:t>
                      </a:r>
                      <a:endParaRPr lang="en-US" sz="1350" b="1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rPr>
                        <a:t>典型场景集成应用与示范推广</a:t>
                      </a:r>
                      <a:endParaRPr lang="en-US" sz="1350" b="0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rPr>
                        <a:t>中建科技集团</a:t>
                      </a:r>
                      <a:endParaRPr lang="en-US" sz="1350" b="0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  <a:t>20%</a:t>
                      </a:r>
                      <a:endParaRPr lang="en-US" sz="1350" b="1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  <a:t>完成至少3个高危场景示范</a:t>
                      </a:r>
                      <a:br>
                        <a:rPr lang="en-US" sz="1800" u="none" strike="noStrike" cap="none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Calibri" panose="020F0502020204030204"/>
                        </a:rPr>
                      </a:br>
                      <a:b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</a:b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  <a:t>        制定行业标准&gt;1项</a:t>
                      </a:r>
                      <a:endParaRPr lang="en-US" sz="1350" b="0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12" name="Google Shape;312;p20"/>
          <p:cNvSpPr txBox="1"/>
          <p:nvPr/>
        </p:nvSpPr>
        <p:spPr>
          <a:xfrm>
            <a:off x="571500" y="6558855"/>
            <a:ext cx="11049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* 注：经费使用将严格遵照《国家重点研发计划资金管理办法》执行，实行单独核算、专款专用。</a:t>
            </a:r>
            <a:endParaRPr lang="en-US" sz="1200" b="0" i="0" u="none" strike="noStrike" cap="none">
              <a:solidFill>
                <a:srgbClr val="55555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313" name="Google Shape;313;p20"/>
          <p:cNvSpPr/>
          <p:nvPr/>
        </p:nvSpPr>
        <p:spPr>
          <a:xfrm>
            <a:off x="571500" y="872430"/>
            <a:ext cx="171450" cy="171450"/>
          </a:xfrm>
          <a:prstGeom prst="rect">
            <a:avLst/>
          </a:prstGeom>
          <a:solidFill>
            <a:srgbClr val="1455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50.66094488188978,&quot;left&quot;:55.5,&quot;top&quot;:284.77259842519686,&quot;width&quot;:417}"/>
</p:tagLst>
</file>

<file path=ppt/tags/tag2.xml><?xml version="1.0" encoding="utf-8"?>
<p:tagLst xmlns:p="http://schemas.openxmlformats.org/presentationml/2006/main">
  <p:tag name="KSO_WM_DIAGRAM_VIRTUALLY_FRAME" val="{&quot;height&quot;:150.66094488188978,&quot;left&quot;:55.5,&quot;top&quot;:284.77259842519686,&quot;width&quot;:417}"/>
</p:tagLst>
</file>

<file path=ppt/tags/tag3.xml><?xml version="1.0" encoding="utf-8"?>
<p:tagLst xmlns:p="http://schemas.openxmlformats.org/presentationml/2006/main">
  <p:tag name="KSO_WM_DIAGRAM_VIRTUALLY_FRAME" val="{&quot;height&quot;:150.66094488188978,&quot;left&quot;:55.5,&quot;top&quot;:284.77259842519686,&quot;width&quot;:417}"/>
</p:tagLst>
</file>

<file path=ppt/tags/tag4.xml><?xml version="1.0" encoding="utf-8"?>
<p:tagLst xmlns:p="http://schemas.openxmlformats.org/presentationml/2006/main">
  <p:tag name="KSO_WM_DIAGRAM_VIRTUALLY_FRAME" val="{&quot;height&quot;:316.78362204724414,&quot;left&quot;:3.75,&quot;top&quot;:185.5663779527559,&quot;width&quot;:952.5}"/>
</p:tagLst>
</file>

<file path=ppt/tags/tag5.xml><?xml version="1.0" encoding="utf-8"?>
<p:tagLst xmlns:p="http://schemas.openxmlformats.org/presentationml/2006/main">
  <p:tag name="KSO_WM_DIAGRAM_VIRTUALLY_FRAME" val="{&quot;height&quot;:316.78362204724414,&quot;left&quot;:3.75,&quot;top&quot;:185.5663779527559,&quot;width&quot;:952.5}"/>
</p:tagLst>
</file>

<file path=ppt/tags/tag6.xml><?xml version="1.0" encoding="utf-8"?>
<p:tagLst xmlns:p="http://schemas.openxmlformats.org/presentationml/2006/main">
  <p:tag name="KSO_WM_DIAGRAM_VIRTUALLY_FRAME" val="{&quot;height&quot;:316.78362204724414,&quot;left&quot;:3.75,&quot;top&quot;:185.5663779527559,&quot;width&quot;:952.5}"/>
</p:tagLst>
</file>

<file path=ppt/tags/tag7.xml><?xml version="1.0" encoding="utf-8"?>
<p:tagLst xmlns:p="http://schemas.openxmlformats.org/presentationml/2006/main">
  <p:tag name="KSO_WM_DIAGRAM_VIRTUALLY_FRAME" val="{&quot;height&quot;:316.78362204724414,&quot;left&quot;:3.75,&quot;top&quot;:185.5663779527559,&quot;width&quot;:952.5}"/>
</p:tagLst>
</file>

<file path=ppt/tags/tag8.xml><?xml version="1.0" encoding="utf-8"?>
<p:tagLst xmlns:p="http://schemas.openxmlformats.org/presentationml/2006/main">
  <p:tag name="KSO_WM_DIAGRAM_VIRTUALLY_FRAME" val="{&quot;height&quot;:316.78362204724414,&quot;left&quot;:3.75,&quot;top&quot;:185.5663779527559,&quot;width&quot;:952.5}"/>
</p:tagLst>
</file>

<file path=ppt/tags/tag9.xml><?xml version="1.0" encoding="utf-8"?>
<p:tagLst xmlns:p="http://schemas.openxmlformats.org/presentationml/2006/main">
  <p:tag name="KSO_WM_DIAGRAM_VIRTUALLY_FRAME" val="{&quot;height&quot;:316.78362204724414,&quot;left&quot;:3.75,&quot;top&quot;:185.5663779527559,&quot;width&quot;:952.5}"/>
</p:tagLst>
</file>

<file path=ppt/tags/tag10.xml><?xml version="1.0" encoding="utf-8"?>
<p:tagLst xmlns:p="http://schemas.openxmlformats.org/presentationml/2006/main">
  <p:tag name="KSO_WM_DIAGRAM_VIRTUALLY_FRAME" val="{&quot;height&quot;:316.78362204724414,&quot;left&quot;:3.75,&quot;top&quot;:185.5663779527559,&quot;width&quot;:952.5}"/>
</p:tagLst>
</file>

<file path=ppt/tags/tag11.xml><?xml version="1.0" encoding="utf-8"?>
<p:tagLst xmlns:p="http://schemas.openxmlformats.org/presentationml/2006/main">
  <p:tag name="KSO_WM_DIAGRAM_VIRTUALLY_FRAME" val="{&quot;height&quot;:316.78362204724414,&quot;left&quot;:3.75,&quot;top&quot;:185.5663779527559,&quot;width&quot;:952.5}"/>
</p:tagLst>
</file>

<file path=ppt/tags/tag12.xml><?xml version="1.0" encoding="utf-8"?>
<p:tagLst xmlns:p="http://schemas.openxmlformats.org/presentationml/2006/main">
  <p:tag name="KSO_WM_DIAGRAM_VIRTUALLY_FRAME" val="{&quot;height&quot;:316.78362204724414,&quot;left&quot;:3.75,&quot;top&quot;:185.5663779527559,&quot;width&quot;:952.5}"/>
</p:tagLst>
</file>

<file path=ppt/tags/tag13.xml><?xml version="1.0" encoding="utf-8"?>
<p:tagLst xmlns:p="http://schemas.openxmlformats.org/presentationml/2006/main">
  <p:tag name="KSO_WM_DIAGRAM_VIRTUALLY_FRAME" val="{&quot;height&quot;:316.78362204724414,&quot;left&quot;:3.75,&quot;top&quot;:185.5663779527559,&quot;width&quot;:952.5}"/>
</p:tagLst>
</file>

<file path=ppt/tags/tag14.xml><?xml version="1.0" encoding="utf-8"?>
<p:tagLst xmlns:p="http://schemas.openxmlformats.org/presentationml/2006/main">
  <p:tag name="KSO_WM_DIAGRAM_VIRTUALLY_FRAME" val="{&quot;height&quot;:316.78362204724414,&quot;left&quot;:3.75,&quot;top&quot;:185.5663779527559,&quot;width&quot;:952.5}"/>
</p:tagLst>
</file>

<file path=ppt/tags/tag15.xml><?xml version="1.0" encoding="utf-8"?>
<p:tagLst xmlns:p="http://schemas.openxmlformats.org/presentationml/2006/main">
  <p:tag name="KSO_WM_DIAGRAM_VIRTUALLY_FRAME" val="{&quot;height&quot;:316.78362204724414,&quot;left&quot;:3.75,&quot;top&quot;:185.5663779527559,&quot;width&quot;:952.5}"/>
</p:tagLst>
</file>

<file path=ppt/tags/tag16.xml><?xml version="1.0" encoding="utf-8"?>
<p:tagLst xmlns:p="http://schemas.openxmlformats.org/presentationml/2006/main">
  <p:tag name="KSO_WM_DIAGRAM_VIRTUALLY_FRAME" val="{&quot;height&quot;:316.78362204724414,&quot;left&quot;:3.75,&quot;top&quot;:185.5663779527559,&quot;width&quot;:952.5}"/>
</p:tagLst>
</file>

<file path=ppt/tags/tag17.xml><?xml version="1.0" encoding="utf-8"?>
<p:tagLst xmlns:p="http://schemas.openxmlformats.org/presentationml/2006/main">
  <p:tag name="KSO_WM_DIAGRAM_VIRTUALLY_FRAME" val="{&quot;height&quot;:316.78362204724414,&quot;left&quot;:3.75,&quot;top&quot;:185.5663779527559,&quot;width&quot;:952.5}"/>
</p:tagLst>
</file>

<file path=ppt/tags/tag18.xml><?xml version="1.0" encoding="utf-8"?>
<p:tagLst xmlns:p="http://schemas.openxmlformats.org/presentationml/2006/main">
  <p:tag name="KSO_WM_DIAGRAM_VIRTUALLY_FRAME" val="{&quot;height&quot;:316.78362204724414,&quot;left&quot;:3.75,&quot;top&quot;:185.5663779527559,&quot;width&quot;:952.5}"/>
</p:tagLst>
</file>

<file path=ppt/tags/tag19.xml><?xml version="1.0" encoding="utf-8"?>
<p:tagLst xmlns:p="http://schemas.openxmlformats.org/presentationml/2006/main">
  <p:tag name="KSO_WM_DIAGRAM_VIRTUALLY_FRAME" val="{&quot;height&quot;:316.78362204724414,&quot;left&quot;:3.75,&quot;top&quot;:185.5663779527559,&quot;width&quot;:952.5}"/>
</p:tagLst>
</file>

<file path=ppt/tags/tag20.xml><?xml version="1.0" encoding="utf-8"?>
<p:tagLst xmlns:p="http://schemas.openxmlformats.org/presentationml/2006/main">
  <p:tag name="KSO_WM_DIAGRAM_VIRTUALLY_FRAME" val="{&quot;height&quot;:316.78362204724414,&quot;left&quot;:3.75,&quot;top&quot;:185.5663779527559,&quot;width&quot;:952.5}"/>
</p:tagLst>
</file>

<file path=ppt/tags/tag21.xml><?xml version="1.0" encoding="utf-8"?>
<p:tagLst xmlns:p="http://schemas.openxmlformats.org/presentationml/2006/main">
  <p:tag name="KSO_WM_DIAGRAM_VIRTUALLY_FRAME" val="{&quot;height&quot;:316.78362204724414,&quot;left&quot;:3.75,&quot;top&quot;:185.5663779527559,&quot;width&quot;:952.5}"/>
</p:tagLst>
</file>

<file path=ppt/tags/tag22.xml><?xml version="1.0" encoding="utf-8"?>
<p:tagLst xmlns:p="http://schemas.openxmlformats.org/presentationml/2006/main">
  <p:tag name="KSO_WM_DIAGRAM_VIRTUALLY_FRAME" val="{&quot;height&quot;:316.78362204724414,&quot;left&quot;:3.75,&quot;top&quot;:185.5663779527559,&quot;width&quot;:952.5}"/>
</p:tagLst>
</file>

<file path=ppt/tags/tag23.xml><?xml version="1.0" encoding="utf-8"?>
<p:tagLst xmlns:p="http://schemas.openxmlformats.org/presentationml/2006/main">
  <p:tag name="KSO_WM_DIAGRAM_VIRTUALLY_FRAME" val="{&quot;height&quot;:316.78362204724414,&quot;left&quot;:3.75,&quot;top&quot;:185.5663779527559,&quot;width&quot;:952.5}"/>
</p:tagLst>
</file>

<file path=ppt/tags/tag24.xml><?xml version="1.0" encoding="utf-8"?>
<p:tagLst xmlns:p="http://schemas.openxmlformats.org/presentationml/2006/main">
  <p:tag name="KSO_WM_DIAGRAM_VIRTUALLY_FRAME" val="{&quot;height&quot;:316.78362204724414,&quot;left&quot;:3.75,&quot;top&quot;:185.5663779527559,&quot;width&quot;:952.5}"/>
</p:tagLst>
</file>

<file path=ppt/tags/tag25.xml><?xml version="1.0" encoding="utf-8"?>
<p:tagLst xmlns:p="http://schemas.openxmlformats.org/presentationml/2006/main">
  <p:tag name="KSO_WM_DIAGRAM_VIRTUALLY_FRAME" val="{&quot;height&quot;:316.78362204724414,&quot;left&quot;:3.75,&quot;top&quot;:185.5663779527559,&quot;width&quot;:952.5}"/>
</p:tagLst>
</file>

<file path=ppt/tags/tag26.xml><?xml version="1.0" encoding="utf-8"?>
<p:tagLst xmlns:p="http://schemas.openxmlformats.org/presentationml/2006/main">
  <p:tag name="KSO_WM_DIAGRAM_VIRTUALLY_FRAME" val="{&quot;height&quot;:316.78362204724414,&quot;left&quot;:3.75,&quot;top&quot;:185.5663779527559,&quot;width&quot;:952.5}"/>
</p:tagLst>
</file>

<file path=ppt/tags/tag27.xml><?xml version="1.0" encoding="utf-8"?>
<p:tagLst xmlns:p="http://schemas.openxmlformats.org/presentationml/2006/main">
  <p:tag name="KSO_WM_DIAGRAM_VIRTUALLY_FRAME" val="{&quot;height&quot;:316.78362204724414,&quot;left&quot;:3.75,&quot;top&quot;:185.5663779527559,&quot;width&quot;:952.5}"/>
</p:tagLst>
</file>

<file path=ppt/tags/tag28.xml><?xml version="1.0" encoding="utf-8"?>
<p:tagLst xmlns:p="http://schemas.openxmlformats.org/presentationml/2006/main">
  <p:tag name="KSO_WM_DIAGRAM_VIRTUALLY_FRAME" val="{&quot;height&quot;:316.78362204724414,&quot;left&quot;:3.75,&quot;top&quot;:185.5663779527559,&quot;width&quot;:952.5}"/>
</p:tagLst>
</file>

<file path=ppt/tags/tag29.xml><?xml version="1.0" encoding="utf-8"?>
<p:tagLst xmlns:p="http://schemas.openxmlformats.org/presentationml/2006/main">
  <p:tag name="KSO_WM_DIAGRAM_VIRTUALLY_FRAME" val="{&quot;height&quot;:316.78362204724414,&quot;left&quot;:3.75,&quot;top&quot;:185.5663779527559,&quot;width&quot;:952.5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2271</Words>
  <Application>WPS 演示</Application>
  <PresentationFormat/>
  <Paragraphs>296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Arial</vt:lpstr>
      <vt:lpstr>Calibri</vt:lpstr>
      <vt:lpstr>Times New Roman</vt:lpstr>
      <vt:lpstr>微软雅黑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张梦雯</cp:lastModifiedBy>
  <cp:revision>12</cp:revision>
  <dcterms:created xsi:type="dcterms:W3CDTF">2026-07-11T07:52:02Z</dcterms:created>
  <dcterms:modified xsi:type="dcterms:W3CDTF">2026-07-11T08:12:09Z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158EFE1D9E574645BD1B63943D87202A_12</vt:lpwstr>
  </property>
  <property fmtid="{D5CDD505-2E9C-101B-9397-08002B2CF9AE}" pid="3" name="KSOProductBuildVer">
    <vt:lpwstr>2052-12.1.0.26375</vt:lpwstr>
  </property>
</Properties>
</file>