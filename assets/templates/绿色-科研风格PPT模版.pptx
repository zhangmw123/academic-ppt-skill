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1" r:id="rId8"/>
    <p:sldId id="260" r:id="rId9"/>
    <p:sldId id="262" r:id="rId10"/>
    <p:sldId id="263" r:id="rId11"/>
    <p:sldId id="264" r:id="rId12"/>
    <p:sldId id="265" r:id="rId1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000000"/>
          </p15:clr>
        </p15:guide>
        <p15:guide id="2" pos="2947" userDrawn="1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58960"/>
    <a:srgbClr val="E5F2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11A8503-B6E6-43A9-B52B-A52082B53DA4}" styleName="Table_0">
    <a:wholeTbl>
      <a:tcTxStyle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Style>
        <a:tcBdr/>
        <a:fill>
          <a:solidFill>
            <a:srgbClr val="CFD7E7"/>
          </a:solidFill>
        </a:fill>
      </a:tcStyle>
    </a:band1H>
    <a:band2H>
      <a:tcStyle>
        <a:tcBdr/>
      </a:tcStyle>
    </a:band2H>
    <a:band1V>
      <a:tcStyle>
        <a:tcBdr/>
        <a:fill>
          <a:solidFill>
            <a:srgbClr val="CFD7E7"/>
          </a:solidFill>
        </a:fill>
      </a:tcStyle>
    </a:band1V>
    <a:band2V>
      <a:tcStyle>
        <a:tcBdr/>
      </a:tcStyle>
    </a:band2V>
    <a:lastCol>
      <a:tcTxStyle b="on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2160"/>
        <p:guide pos="2947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2" name="Google Shape;82;p1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4" name="Google Shape;94;p2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7" name="Google Shape;117;p3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52" name="Google Shape;152;p4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48" name="Google Shape;248;p6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09" name="Google Shape;209;p5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89" name="Google Shape;289;p7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24" name="Google Shape;324;p8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42" name="Google Shape;342;p9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1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58" name="Google Shape;358;p10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Title and Content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 panose="020F0502020204030204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Two Content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Comparison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3" name="Google Shape;43;p7"/>
          <p:cNvSpPr txBox="1"/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5" name="Google Shape;45;p7"/>
          <p:cNvSpPr txBox="1"/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Content with Caption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 panose="020F0502020204030204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Picture with Caption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 panose="020F0502020204030204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Title and Vertical Text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Vertical Title and Text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Char char="•"/>
              <a:defRPr sz="3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–"/>
              <a:defRPr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–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»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4.xml"/><Relationship Id="rId8" Type="http://schemas.openxmlformats.org/officeDocument/2006/relationships/tags" Target="../tags/tag3.xml"/><Relationship Id="rId7" Type="http://schemas.openxmlformats.org/officeDocument/2006/relationships/tags" Target="../tags/tag2.xml"/><Relationship Id="rId6" Type="http://schemas.openxmlformats.org/officeDocument/2006/relationships/tags" Target="../tags/tag1.xml"/><Relationship Id="rId5" Type="http://schemas.openxmlformats.org/officeDocument/2006/relationships/image" Target="../media/image10.png"/><Relationship Id="rId4" Type="http://schemas.openxmlformats.org/officeDocument/2006/relationships/image" Target="../media/image6.png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7" Type="http://schemas.openxmlformats.org/officeDocument/2006/relationships/notesSlide" Target="../notesSlides/notesSlide3.xml"/><Relationship Id="rId16" Type="http://schemas.openxmlformats.org/officeDocument/2006/relationships/slideLayout" Target="../slideLayouts/slideLayout1.xml"/><Relationship Id="rId15" Type="http://schemas.openxmlformats.org/officeDocument/2006/relationships/image" Target="../media/image3.png"/><Relationship Id="rId14" Type="http://schemas.openxmlformats.org/officeDocument/2006/relationships/tags" Target="../tags/tag8.xml"/><Relationship Id="rId13" Type="http://schemas.openxmlformats.org/officeDocument/2006/relationships/tags" Target="../tags/tag7.xml"/><Relationship Id="rId12" Type="http://schemas.openxmlformats.org/officeDocument/2006/relationships/tags" Target="../tags/tag6.xml"/><Relationship Id="rId11" Type="http://schemas.openxmlformats.org/officeDocument/2006/relationships/tags" Target="../tags/tag5.xml"/><Relationship Id="rId10" Type="http://schemas.openxmlformats.org/officeDocument/2006/relationships/image" Target="../media/image11.png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18.png"/><Relationship Id="rId8" Type="http://schemas.openxmlformats.org/officeDocument/2006/relationships/image" Target="../media/image17.png"/><Relationship Id="rId7" Type="http://schemas.openxmlformats.org/officeDocument/2006/relationships/image" Target="../media/image16.png"/><Relationship Id="rId6" Type="http://schemas.openxmlformats.org/officeDocument/2006/relationships/image" Target="../media/image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3" Type="http://schemas.openxmlformats.org/officeDocument/2006/relationships/image" Target="../media/image13.png"/><Relationship Id="rId2" Type="http://schemas.openxmlformats.org/officeDocument/2006/relationships/image" Target="../media/image4.png"/><Relationship Id="rId11" Type="http://schemas.openxmlformats.org/officeDocument/2006/relationships/notesSlide" Target="../notesSlides/notesSlide4.xml"/><Relationship Id="rId10" Type="http://schemas.openxmlformats.org/officeDocument/2006/relationships/slideLayout" Target="../slideLayouts/slideLayout1.xml"/><Relationship Id="rId1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12.xml"/><Relationship Id="rId8" Type="http://schemas.openxmlformats.org/officeDocument/2006/relationships/image" Target="../media/image22.png"/><Relationship Id="rId7" Type="http://schemas.openxmlformats.org/officeDocument/2006/relationships/tags" Target="../tags/tag11.xml"/><Relationship Id="rId6" Type="http://schemas.openxmlformats.org/officeDocument/2006/relationships/image" Target="../media/image21.png"/><Relationship Id="rId5" Type="http://schemas.openxmlformats.org/officeDocument/2006/relationships/tags" Target="../tags/tag10.xml"/><Relationship Id="rId4" Type="http://schemas.openxmlformats.org/officeDocument/2006/relationships/image" Target="../media/image20.png"/><Relationship Id="rId37" Type="http://schemas.openxmlformats.org/officeDocument/2006/relationships/notesSlide" Target="../notesSlides/notesSlide5.xml"/><Relationship Id="rId36" Type="http://schemas.openxmlformats.org/officeDocument/2006/relationships/slideLayout" Target="../slideLayouts/slideLayout1.xml"/><Relationship Id="rId35" Type="http://schemas.openxmlformats.org/officeDocument/2006/relationships/tags" Target="../tags/tag32.xml"/><Relationship Id="rId34" Type="http://schemas.openxmlformats.org/officeDocument/2006/relationships/tags" Target="../tags/tag31.xml"/><Relationship Id="rId33" Type="http://schemas.openxmlformats.org/officeDocument/2006/relationships/tags" Target="../tags/tag30.xml"/><Relationship Id="rId32" Type="http://schemas.openxmlformats.org/officeDocument/2006/relationships/tags" Target="../tags/tag29.xml"/><Relationship Id="rId31" Type="http://schemas.openxmlformats.org/officeDocument/2006/relationships/tags" Target="../tags/tag28.xml"/><Relationship Id="rId30" Type="http://schemas.openxmlformats.org/officeDocument/2006/relationships/tags" Target="../tags/tag27.xml"/><Relationship Id="rId3" Type="http://schemas.openxmlformats.org/officeDocument/2006/relationships/tags" Target="../tags/tag9.xml"/><Relationship Id="rId29" Type="http://schemas.openxmlformats.org/officeDocument/2006/relationships/tags" Target="../tags/tag26.xml"/><Relationship Id="rId28" Type="http://schemas.openxmlformats.org/officeDocument/2006/relationships/image" Target="../media/image27.png"/><Relationship Id="rId27" Type="http://schemas.openxmlformats.org/officeDocument/2006/relationships/tags" Target="../tags/tag25.xml"/><Relationship Id="rId26" Type="http://schemas.openxmlformats.org/officeDocument/2006/relationships/tags" Target="../tags/tag24.xml"/><Relationship Id="rId25" Type="http://schemas.openxmlformats.org/officeDocument/2006/relationships/tags" Target="../tags/tag23.xml"/><Relationship Id="rId24" Type="http://schemas.openxmlformats.org/officeDocument/2006/relationships/tags" Target="../tags/tag22.xml"/><Relationship Id="rId23" Type="http://schemas.openxmlformats.org/officeDocument/2006/relationships/tags" Target="../tags/tag21.xml"/><Relationship Id="rId22" Type="http://schemas.openxmlformats.org/officeDocument/2006/relationships/tags" Target="../tags/tag20.xml"/><Relationship Id="rId21" Type="http://schemas.openxmlformats.org/officeDocument/2006/relationships/tags" Target="../tags/tag19.xml"/><Relationship Id="rId20" Type="http://schemas.openxmlformats.org/officeDocument/2006/relationships/tags" Target="../tags/tag18.xml"/><Relationship Id="rId2" Type="http://schemas.openxmlformats.org/officeDocument/2006/relationships/image" Target="../media/image4.png"/><Relationship Id="rId19" Type="http://schemas.openxmlformats.org/officeDocument/2006/relationships/image" Target="../media/image26.png"/><Relationship Id="rId18" Type="http://schemas.openxmlformats.org/officeDocument/2006/relationships/tags" Target="../tags/tag17.xml"/><Relationship Id="rId17" Type="http://schemas.openxmlformats.org/officeDocument/2006/relationships/tags" Target="../tags/tag16.xml"/><Relationship Id="rId16" Type="http://schemas.openxmlformats.org/officeDocument/2006/relationships/tags" Target="../tags/tag15.xml"/><Relationship Id="rId15" Type="http://schemas.openxmlformats.org/officeDocument/2006/relationships/tags" Target="../tags/tag14.xml"/><Relationship Id="rId14" Type="http://schemas.openxmlformats.org/officeDocument/2006/relationships/image" Target="../media/image25.png"/><Relationship Id="rId13" Type="http://schemas.openxmlformats.org/officeDocument/2006/relationships/image" Target="../media/image6.png"/><Relationship Id="rId12" Type="http://schemas.openxmlformats.org/officeDocument/2006/relationships/image" Target="../media/image24.png"/><Relationship Id="rId11" Type="http://schemas.openxmlformats.org/officeDocument/2006/relationships/tags" Target="../tags/tag13.xml"/><Relationship Id="rId10" Type="http://schemas.openxmlformats.org/officeDocument/2006/relationships/image" Target="../media/image23.png"/><Relationship Id="rId1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34.png"/><Relationship Id="rId8" Type="http://schemas.openxmlformats.org/officeDocument/2006/relationships/image" Target="../media/image33.png"/><Relationship Id="rId7" Type="http://schemas.openxmlformats.org/officeDocument/2006/relationships/image" Target="../media/image6.png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Relationship Id="rId3" Type="http://schemas.openxmlformats.org/officeDocument/2006/relationships/image" Target="../media/image29.png"/><Relationship Id="rId2" Type="http://schemas.openxmlformats.org/officeDocument/2006/relationships/image" Target="../media/image4.png"/><Relationship Id="rId13" Type="http://schemas.openxmlformats.org/officeDocument/2006/relationships/notesSlide" Target="../notesSlides/notesSlide6.xml"/><Relationship Id="rId12" Type="http://schemas.openxmlformats.org/officeDocument/2006/relationships/slideLayout" Target="../slideLayouts/slideLayout1.xml"/><Relationship Id="rId11" Type="http://schemas.openxmlformats.org/officeDocument/2006/relationships/image" Target="../media/image36.png"/><Relationship Id="rId10" Type="http://schemas.openxmlformats.org/officeDocument/2006/relationships/image" Target="../media/image35.png"/><Relationship Id="rId1" Type="http://schemas.openxmlformats.org/officeDocument/2006/relationships/image" Target="../media/image28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42.png"/><Relationship Id="rId8" Type="http://schemas.openxmlformats.org/officeDocument/2006/relationships/image" Target="../media/image41.png"/><Relationship Id="rId7" Type="http://schemas.openxmlformats.org/officeDocument/2006/relationships/image" Target="../media/image6.png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Relationship Id="rId3" Type="http://schemas.openxmlformats.org/officeDocument/2006/relationships/image" Target="../media/image37.png"/><Relationship Id="rId2" Type="http://schemas.openxmlformats.org/officeDocument/2006/relationships/image" Target="../media/image4.png"/><Relationship Id="rId13" Type="http://schemas.openxmlformats.org/officeDocument/2006/relationships/notesSlide" Target="../notesSlides/notesSlide7.xml"/><Relationship Id="rId12" Type="http://schemas.openxmlformats.org/officeDocument/2006/relationships/slideLayout" Target="../slideLayouts/slideLayout1.xml"/><Relationship Id="rId11" Type="http://schemas.openxmlformats.org/officeDocument/2006/relationships/image" Target="../media/image44.png"/><Relationship Id="rId10" Type="http://schemas.openxmlformats.org/officeDocument/2006/relationships/image" Target="../media/image43.png"/><Relationship Id="rId1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8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2.png"/><Relationship Id="rId3" Type="http://schemas.openxmlformats.org/officeDocument/2006/relationships/image" Target="../media/image6.png"/><Relationship Id="rId2" Type="http://schemas.openxmlformats.org/officeDocument/2006/relationships/image" Target="../media/image45.png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image" Target="../media/image6.png"/><Relationship Id="rId8" Type="http://schemas.openxmlformats.org/officeDocument/2006/relationships/image" Target="../media/image4.png"/><Relationship Id="rId7" Type="http://schemas.openxmlformats.org/officeDocument/2006/relationships/image" Target="../media/image19.png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1" Type="http://schemas.openxmlformats.org/officeDocument/2006/relationships/notesSlide" Target="../notesSlides/notesSlide9.xml"/><Relationship Id="rId10" Type="http://schemas.openxmlformats.org/officeDocument/2006/relationships/slideLayout" Target="../slideLayouts/slideLayout1.xml"/><Relationship Id="rId1" Type="http://schemas.openxmlformats.org/officeDocument/2006/relationships/image" Target="../media/image46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9810750" y="381000"/>
            <a:ext cx="19050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3435667" y="1719262"/>
            <a:ext cx="5320665" cy="738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1B7A4C"/>
                </a:solidFill>
                <a:latin typeface="Times New Roman" panose="02020603050405020304" charset="0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科研项目开题答辩</a:t>
            </a:r>
            <a:endParaRPr lang="en-US" sz="4800" b="1" i="0" u="none" strike="noStrike" cap="none">
              <a:solidFill>
                <a:srgbClr val="1B7A4C"/>
              </a:solidFill>
              <a:latin typeface="Times New Roman" panose="02020603050405020304" charset="0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3562350" y="2833687"/>
            <a:ext cx="5067300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33333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/>
                <a:sym typeface="Times New Roman" panose="02020603050405020304"/>
              </a:rPr>
              <a:t>基于多模态数据的慢性病风险预测模型研究</a:t>
            </a:r>
            <a:endParaRPr lang="en-US" sz="2100" b="0" i="0" u="none" strike="noStrike" cap="none">
              <a:solidFill>
                <a:srgbClr val="333333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3562350" y="3767137"/>
            <a:ext cx="50673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555555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/>
                <a:sym typeface="Times New Roman" panose="02020603050405020304"/>
              </a:rPr>
              <a:t>汇报人：</a:t>
            </a:r>
            <a:r>
              <a:rPr lang="en-US" sz="1500" b="0" i="0" u="none" strike="noStrike" cap="none">
                <a:solidFill>
                  <a:srgbClr val="555555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/>
                <a:sym typeface="Times New Roman" panose="02020603050405020304"/>
              </a:rPr>
              <a:t>张三</a:t>
            </a:r>
            <a:endParaRPr lang="en-US" sz="1500" b="0" i="0" u="none" strike="noStrike" cap="none">
              <a:solidFill>
                <a:srgbClr val="555555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89" name="Google Shape;89;p13"/>
          <p:cNvSpPr txBox="1"/>
          <p:nvPr/>
        </p:nvSpPr>
        <p:spPr>
          <a:xfrm>
            <a:off x="3562350" y="4110037"/>
            <a:ext cx="50673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555555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Times New Roman" panose="02020603050405020304"/>
              </a:rPr>
              <a:t>导   师：</a:t>
            </a:r>
            <a:r>
              <a:rPr lang="en-US" sz="1500" b="0" i="0" u="none" strike="noStrike" cap="none">
                <a:solidFill>
                  <a:srgbClr val="555555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Times New Roman" panose="02020603050405020304"/>
              </a:rPr>
              <a:t>李四 教授</a:t>
            </a:r>
            <a:endParaRPr lang="en-US" sz="1500" b="0" i="0" u="none" strike="noStrike" cap="none">
              <a:solidFill>
                <a:srgbClr val="555555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Times New Roman" panose="02020603050405020304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3562350" y="4452937"/>
            <a:ext cx="50673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555555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Times New Roman" panose="02020603050405020304"/>
              </a:rPr>
              <a:t>专   业：</a:t>
            </a:r>
            <a:r>
              <a:rPr lang="en-US" sz="1500" b="0" i="0" u="none" strike="noStrike" cap="none">
                <a:solidFill>
                  <a:srgbClr val="555555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Times New Roman" panose="02020603050405020304"/>
              </a:rPr>
              <a:t>生物医学工程</a:t>
            </a:r>
            <a:endParaRPr lang="en-US" sz="1500" b="0" i="0" u="none" strike="noStrike" cap="none">
              <a:solidFill>
                <a:srgbClr val="555555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Times New Roman" panose="02020603050405020304"/>
            </a:endParaRPr>
          </a:p>
        </p:txBody>
      </p:sp>
      <p:sp>
        <p:nvSpPr>
          <p:cNvPr id="91" name="Google Shape;91;p13"/>
          <p:cNvSpPr txBox="1"/>
          <p:nvPr/>
        </p:nvSpPr>
        <p:spPr>
          <a:xfrm>
            <a:off x="3562350" y="4795837"/>
            <a:ext cx="50673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555555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Times New Roman" panose="02020603050405020304"/>
              </a:rPr>
              <a:t>日   期：</a:t>
            </a:r>
            <a:r>
              <a:rPr lang="en-US" sz="1500" b="0" i="0" u="none" strike="noStrike" cap="none">
                <a:solidFill>
                  <a:srgbClr val="555555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Times New Roman" panose="02020603050405020304"/>
              </a:rPr>
              <a:t>2026年7月</a:t>
            </a:r>
            <a:endParaRPr lang="en-US" sz="1500" b="0" i="0" u="none" strike="noStrike" cap="none">
              <a:solidFill>
                <a:srgbClr val="555555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Times New Roman" panose="020206030504050203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190750" y="372110"/>
            <a:ext cx="1285875" cy="523240"/>
          </a:xfrm>
          <a:prstGeom prst="rect">
            <a:avLst/>
          </a:prstGeom>
          <a:solidFill>
            <a:srgbClr val="E5F2EB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80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pic>
        <p:nvPicPr>
          <p:cNvPr id="96" name="Google Shape;96;p14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476250" y="381000"/>
            <a:ext cx="1508125" cy="514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4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0287000" y="404812"/>
            <a:ext cx="1428750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4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476250" y="1590675"/>
            <a:ext cx="11239500" cy="4886325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4"/>
          <p:cNvSpPr txBox="1"/>
          <p:nvPr/>
        </p:nvSpPr>
        <p:spPr>
          <a:xfrm>
            <a:off x="723900" y="1063308"/>
            <a:ext cx="10991850" cy="368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研究背景与意义</a:t>
            </a:r>
            <a:endParaRPr lang="en-US" sz="2400" b="1" i="0" u="none" strike="noStrike" cap="none">
              <a:solidFill>
                <a:srgbClr val="222222"/>
              </a:solidFill>
              <a:latin typeface="Times New Roman" panose="02020603050405020304" charset="0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pic>
        <p:nvPicPr>
          <p:cNvPr id="105" name="Google Shape;105;p14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476250" y="1162050"/>
            <a:ext cx="1333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4"/>
          <p:cNvSpPr txBox="1"/>
          <p:nvPr/>
        </p:nvSpPr>
        <p:spPr>
          <a:xfrm>
            <a:off x="504825" y="471487"/>
            <a:ext cx="1450925" cy="215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>
                <a:solidFill>
                  <a:srgbClr val="FFFFFF"/>
                </a:solidFill>
                <a:latin typeface="Times New Roman" panose="02020603050405020304" charset="0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研究背景及现状</a:t>
            </a:r>
            <a:endParaRPr lang="en-US" b="1" i="0" u="none" strike="noStrike" cap="none">
              <a:solidFill>
                <a:srgbClr val="FFFFFF"/>
              </a:solidFill>
              <a:latin typeface="Times New Roman" panose="02020603050405020304" charset="0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504825" y="671512"/>
            <a:ext cx="1450925" cy="135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0" b="0" i="0" u="none" strike="noStrike" cap="none">
                <a:solidFill>
                  <a:srgbClr val="FFFFFF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Times New Roman" panose="02020603050405020304"/>
              </a:rPr>
              <a:t>Research Background</a:t>
            </a:r>
            <a:endParaRPr lang="en-US" sz="880" b="0" i="0" u="none" strike="noStrike" cap="none">
              <a:solidFill>
                <a:srgbClr val="FFFFFF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Times New Roman" panose="02020603050405020304"/>
            </a:endParaRPr>
          </a:p>
        </p:txBody>
      </p:sp>
      <p:sp>
        <p:nvSpPr>
          <p:cNvPr id="108" name="Google Shape;108;p14"/>
          <p:cNvSpPr/>
          <p:nvPr/>
        </p:nvSpPr>
        <p:spPr>
          <a:xfrm>
            <a:off x="485775" y="1600200"/>
            <a:ext cx="11220450" cy="381000"/>
          </a:xfrm>
          <a:prstGeom prst="rect">
            <a:avLst/>
          </a:prstGeom>
          <a:solidFill>
            <a:srgbClr val="1B7A4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Calibri" panose="020F0502020204030204"/>
            </a:endParaRPr>
          </a:p>
        </p:txBody>
      </p:sp>
      <p:sp>
        <p:nvSpPr>
          <p:cNvPr id="109" name="Google Shape;109;p14"/>
          <p:cNvSpPr txBox="1"/>
          <p:nvPr/>
        </p:nvSpPr>
        <p:spPr>
          <a:xfrm>
            <a:off x="485775" y="1676400"/>
            <a:ext cx="11220450" cy="2457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Times New Roman" panose="02020603050405020304" charset="0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行业需求层面：慢性病防控的迫切性</a:t>
            </a:r>
            <a:endParaRPr lang="en-US" sz="1600" b="1" i="0" u="none" strike="noStrike" cap="none">
              <a:solidFill>
                <a:srgbClr val="FFFFFF"/>
              </a:solidFill>
              <a:latin typeface="Times New Roman" panose="02020603050405020304" charset="0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676275" y="2171700"/>
            <a:ext cx="4797176" cy="78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333333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Times New Roman" panose="02020603050405020304"/>
              </a:rPr>
              <a:t>临床痛点：</a:t>
            </a:r>
            <a:r>
              <a:rPr lang="en-US" sz="1600" b="0" i="0" u="none" strike="noStrike" cap="none">
                <a:solidFill>
                  <a:srgbClr val="333333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Times New Roman" panose="02020603050405020304"/>
              </a:rPr>
              <a:t>我国慢性病患者超4亿，传统筛查滞后。基层医疗机构缺乏高效的风险评估工具，防控压力突出。</a:t>
            </a:r>
            <a:endParaRPr lang="en-US" sz="1600" b="0" i="0" u="none" strike="noStrike" cap="none">
              <a:solidFill>
                <a:srgbClr val="333333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Times New Roman" panose="02020603050405020304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676275" y="2849760"/>
            <a:ext cx="4797176" cy="78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333333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Times New Roman" panose="02020603050405020304"/>
              </a:rPr>
              <a:t>技术瓶颈：</a:t>
            </a:r>
            <a:r>
              <a:rPr lang="en-US" sz="1600" b="0" i="0" u="none" strike="noStrike" cap="none">
                <a:solidFill>
                  <a:srgbClr val="333333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Times New Roman" panose="02020603050405020304"/>
              </a:rPr>
              <a:t>AI医疗落地率不足30%，慢病预测模型多适配三甲医院，基层场景适配性缺口显著。</a:t>
            </a:r>
            <a:endParaRPr lang="en-US" sz="1600" b="0" i="0" u="none" strike="noStrike" cap="none">
              <a:solidFill>
                <a:srgbClr val="333333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Times New Roman" panose="02020603050405020304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676275" y="3527821"/>
            <a:ext cx="4797176" cy="118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333333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/>
                <a:sym typeface="Times New Roman" panose="02020603050405020304"/>
              </a:rPr>
              <a:t>应对策略：</a:t>
            </a:r>
            <a:r>
              <a:rPr lang="en-US" sz="1600" b="0" i="0" u="none" strike="noStrike" cap="none">
                <a:solidFill>
                  <a:srgbClr val="333333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/>
                <a:sym typeface="Times New Roman" panose="02020603050405020304"/>
              </a:rPr>
              <a:t>本研究旨在构建轻量化、高精度的多模态预测模型，填补基层医疗在慢性病智能预警方面的技术空白。</a:t>
            </a:r>
            <a:endParaRPr lang="en-US" sz="1600" b="0" i="0" u="none" strike="noStrike" cap="none">
              <a:solidFill>
                <a:srgbClr val="333333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/>
              <a:sym typeface="Times New Roman" panose="02020603050405020304"/>
            </a:endParaRPr>
          </a:p>
        </p:txBody>
      </p:sp>
      <p:pic>
        <p:nvPicPr>
          <p:cNvPr id="113" name="Google Shape;113;p14" descr="image.png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8494514" y="3927127"/>
            <a:ext cx="28575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4"/>
          <p:cNvSpPr txBox="1"/>
          <p:nvPr/>
        </p:nvSpPr>
        <p:spPr>
          <a:xfrm>
            <a:off x="7303889" y="4308127"/>
            <a:ext cx="2667000" cy="688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>
                <a:solidFill>
                  <a:srgbClr val="666666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/>
                <a:sym typeface="Times New Roman" panose="02020603050405020304"/>
              </a:rPr>
              <a:t>此处可插入人口老龄化或慢性病增长趋势图表</a:t>
            </a:r>
            <a:endParaRPr lang="en-US" b="0" i="0" u="none" strike="noStrike" cap="none">
              <a:solidFill>
                <a:srgbClr val="666666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66" name="Google Shape;166;p16"/>
          <p:cNvSpPr txBox="1"/>
          <p:nvPr/>
        </p:nvSpPr>
        <p:spPr>
          <a:xfrm>
            <a:off x="2079575" y="484187"/>
            <a:ext cx="1450925" cy="215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>
                <a:solidFill>
                  <a:srgbClr val="358960"/>
                </a:solidFill>
                <a:latin typeface="Times New Roman" panose="02020603050405020304" charset="0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研究目标和内容</a:t>
            </a:r>
            <a:endParaRPr lang="en-US" b="1" i="0" u="none" strike="noStrike" cap="none">
              <a:solidFill>
                <a:srgbClr val="358960"/>
              </a:solidFill>
              <a:latin typeface="Times New Roman" panose="02020603050405020304" charset="0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67" name="Google Shape;167;p16"/>
          <p:cNvSpPr txBox="1"/>
          <p:nvPr/>
        </p:nvSpPr>
        <p:spPr>
          <a:xfrm>
            <a:off x="2108150" y="682942"/>
            <a:ext cx="1450925" cy="135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0" b="0" i="0" u="none" strike="noStrike" cap="none">
                <a:solidFill>
                  <a:srgbClr val="35896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Times New Roman" panose="02020603050405020304"/>
              </a:rPr>
              <a:t>Objectives</a:t>
            </a:r>
            <a:endParaRPr lang="en-US" sz="880" b="0" i="0" u="none" strike="noStrike" cap="none">
              <a:solidFill>
                <a:srgbClr val="358960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Times New Roman" panose="02020603050405020304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3711575" y="372110"/>
            <a:ext cx="1285875" cy="523240"/>
          </a:xfrm>
          <a:prstGeom prst="rect">
            <a:avLst/>
          </a:prstGeom>
          <a:solidFill>
            <a:srgbClr val="E5F2EB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80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5255260" y="372110"/>
            <a:ext cx="1430020" cy="523240"/>
          </a:xfrm>
          <a:prstGeom prst="rect">
            <a:avLst/>
          </a:prstGeom>
          <a:solidFill>
            <a:srgbClr val="E5F2EB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80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6863080" y="372110"/>
            <a:ext cx="1445895" cy="523240"/>
          </a:xfrm>
          <a:prstGeom prst="rect">
            <a:avLst/>
          </a:prstGeom>
          <a:solidFill>
            <a:srgbClr val="E5F2EB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80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8493760" y="372110"/>
            <a:ext cx="1424940" cy="523240"/>
          </a:xfrm>
          <a:prstGeom prst="rect">
            <a:avLst/>
          </a:prstGeom>
          <a:solidFill>
            <a:srgbClr val="E5F2EB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80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224" name="Google Shape;224;p17"/>
          <p:cNvSpPr txBox="1"/>
          <p:nvPr/>
        </p:nvSpPr>
        <p:spPr>
          <a:xfrm>
            <a:off x="5284321" y="501967"/>
            <a:ext cx="1450925" cy="215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>
                <a:solidFill>
                  <a:srgbClr val="358960"/>
                </a:solidFill>
                <a:latin typeface="Times New Roman" panose="02020603050405020304" charset="0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关键技术与创新</a:t>
            </a:r>
            <a:endParaRPr lang="en-US" b="1" i="0" u="none" strike="noStrike" cap="none">
              <a:solidFill>
                <a:srgbClr val="358960"/>
              </a:solidFill>
              <a:latin typeface="Times New Roman" panose="02020603050405020304" charset="0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225" name="Google Shape;225;p17"/>
          <p:cNvSpPr txBox="1"/>
          <p:nvPr/>
        </p:nvSpPr>
        <p:spPr>
          <a:xfrm>
            <a:off x="5304641" y="701992"/>
            <a:ext cx="1450925" cy="135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0" b="0" i="0" u="none" strike="noStrike" cap="none">
                <a:solidFill>
                  <a:srgbClr val="35896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Times New Roman" panose="02020603050405020304"/>
              </a:rPr>
              <a:t>Technologies</a:t>
            </a:r>
            <a:endParaRPr lang="en-US" sz="880" b="0" i="0" u="none" strike="noStrike" cap="none">
              <a:solidFill>
                <a:srgbClr val="358960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Times New Roman" panose="02020603050405020304"/>
            </a:endParaRPr>
          </a:p>
        </p:txBody>
      </p:sp>
      <p:sp>
        <p:nvSpPr>
          <p:cNvPr id="264" name="Google Shape;264;p18"/>
          <p:cNvSpPr txBox="1"/>
          <p:nvPr/>
        </p:nvSpPr>
        <p:spPr>
          <a:xfrm>
            <a:off x="3625750" y="471487"/>
            <a:ext cx="1450925" cy="215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>
                <a:solidFill>
                  <a:srgbClr val="358960"/>
                </a:solidFill>
                <a:latin typeface="Times New Roman" panose="02020603050405020304" charset="0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研究方法与思路</a:t>
            </a:r>
            <a:endParaRPr lang="en-US" b="1" i="0" u="none" strike="noStrike" cap="none">
              <a:solidFill>
                <a:srgbClr val="358960"/>
              </a:solidFill>
              <a:latin typeface="Times New Roman" panose="02020603050405020304" charset="0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265" name="Google Shape;265;p18"/>
          <p:cNvSpPr txBox="1"/>
          <p:nvPr/>
        </p:nvSpPr>
        <p:spPr>
          <a:xfrm>
            <a:off x="3625750" y="681672"/>
            <a:ext cx="1450925" cy="135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0" b="0" i="0" u="none" strike="noStrike" cap="none">
                <a:solidFill>
                  <a:srgbClr val="35896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Times New Roman" panose="02020603050405020304"/>
              </a:rPr>
              <a:t>Methods</a:t>
            </a:r>
            <a:endParaRPr lang="en-US" sz="880" b="0" i="0" u="none" strike="noStrike" cap="none">
              <a:solidFill>
                <a:srgbClr val="358960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Times New Roman" panose="02020603050405020304"/>
            </a:endParaRPr>
          </a:p>
        </p:txBody>
      </p:sp>
      <p:sp>
        <p:nvSpPr>
          <p:cNvPr id="306" name="Google Shape;306;p19"/>
          <p:cNvSpPr txBox="1"/>
          <p:nvPr/>
        </p:nvSpPr>
        <p:spPr>
          <a:xfrm>
            <a:off x="6918126" y="471487"/>
            <a:ext cx="1450925" cy="215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>
                <a:solidFill>
                  <a:srgbClr val="358960"/>
                </a:solidFill>
                <a:latin typeface="Times New Roman" panose="02020603050405020304" charset="0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已开展工作</a:t>
            </a:r>
            <a:endParaRPr lang="en-US" b="1" i="0" u="none" strike="noStrike" cap="none">
              <a:solidFill>
                <a:srgbClr val="358960"/>
              </a:solidFill>
              <a:latin typeface="Times New Roman" panose="02020603050405020304" charset="0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307" name="Google Shape;307;p19"/>
          <p:cNvSpPr txBox="1"/>
          <p:nvPr/>
        </p:nvSpPr>
        <p:spPr>
          <a:xfrm>
            <a:off x="6918126" y="671512"/>
            <a:ext cx="1450925" cy="135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0" b="0" i="0" u="none" strike="noStrike" cap="none">
                <a:solidFill>
                  <a:srgbClr val="35896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Times New Roman" panose="02020603050405020304"/>
              </a:rPr>
              <a:t>Work Carried Out</a:t>
            </a:r>
            <a:endParaRPr lang="en-US" sz="880" b="0" i="0" u="none" strike="noStrike" cap="none">
              <a:solidFill>
                <a:srgbClr val="358960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Times New Roman" panose="02020603050405020304"/>
            </a:endParaRPr>
          </a:p>
        </p:txBody>
      </p:sp>
      <p:sp>
        <p:nvSpPr>
          <p:cNvPr id="354" name="Google Shape;354;p21"/>
          <p:cNvSpPr txBox="1"/>
          <p:nvPr/>
        </p:nvSpPr>
        <p:spPr>
          <a:xfrm>
            <a:off x="8521451" y="471487"/>
            <a:ext cx="1450925" cy="215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>
                <a:solidFill>
                  <a:srgbClr val="358960"/>
                </a:solidFill>
                <a:latin typeface="Times New Roman" panose="02020603050405020304" charset="0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预期成果</a:t>
            </a:r>
            <a:endParaRPr lang="en-US" b="1" i="0" u="none" strike="noStrike" cap="none">
              <a:solidFill>
                <a:srgbClr val="358960"/>
              </a:solidFill>
              <a:latin typeface="Times New Roman" panose="02020603050405020304" charset="0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355" name="Google Shape;355;p21"/>
          <p:cNvSpPr txBox="1"/>
          <p:nvPr/>
        </p:nvSpPr>
        <p:spPr>
          <a:xfrm>
            <a:off x="8521451" y="671512"/>
            <a:ext cx="1450925" cy="135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0" b="0" i="0" u="none" strike="noStrike" cap="none">
                <a:solidFill>
                  <a:srgbClr val="35896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Times New Roman" panose="02020603050405020304"/>
              </a:rPr>
              <a:t>Outcomes</a:t>
            </a:r>
            <a:endParaRPr lang="en-US" sz="880" b="0" i="0" u="none" strike="noStrike" cap="none">
              <a:solidFill>
                <a:srgbClr val="358960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Times New Roman" panose="020206030504050203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15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10287000" y="404812"/>
            <a:ext cx="1428750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5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476250" y="1590675"/>
            <a:ext cx="5476875" cy="4886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15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6238875" y="1590675"/>
            <a:ext cx="5476875" cy="4886325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5"/>
          <p:cNvSpPr txBox="1"/>
          <p:nvPr/>
        </p:nvSpPr>
        <p:spPr>
          <a:xfrm>
            <a:off x="723900" y="1095375"/>
            <a:ext cx="109918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国内外研究现状对比</a:t>
            </a:r>
            <a:endParaRPr lang="en-US" sz="1800" b="1" i="0" u="none" strike="noStrike" cap="none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pic>
        <p:nvPicPr>
          <p:cNvPr id="129" name="Google Shape;129;p15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476250" y="1162050"/>
            <a:ext cx="1333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5"/>
          <p:cNvSpPr/>
          <p:nvPr/>
        </p:nvSpPr>
        <p:spPr>
          <a:xfrm>
            <a:off x="485775" y="1600200"/>
            <a:ext cx="5457825" cy="381000"/>
          </a:xfrm>
          <a:prstGeom prst="rect">
            <a:avLst/>
          </a:prstGeom>
          <a:solidFill>
            <a:srgbClr val="1B7A4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33" name="Google Shape;133;p15"/>
          <p:cNvSpPr txBox="1"/>
          <p:nvPr/>
        </p:nvSpPr>
        <p:spPr>
          <a:xfrm>
            <a:off x="485775" y="1676400"/>
            <a:ext cx="545782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国内研究现状</a:t>
            </a:r>
            <a:endParaRPr lang="en-US" sz="1350" b="1" i="0" u="none" strike="noStrike" cap="non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34" name="Google Shape;134;p15"/>
          <p:cNvSpPr/>
          <p:nvPr/>
        </p:nvSpPr>
        <p:spPr>
          <a:xfrm>
            <a:off x="6248400" y="1600200"/>
            <a:ext cx="5457825" cy="381000"/>
          </a:xfrm>
          <a:prstGeom prst="rect">
            <a:avLst/>
          </a:prstGeom>
          <a:solidFill>
            <a:srgbClr val="1B7A4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35" name="Google Shape;135;p15"/>
          <p:cNvSpPr txBox="1"/>
          <p:nvPr/>
        </p:nvSpPr>
        <p:spPr>
          <a:xfrm>
            <a:off x="6248400" y="1676400"/>
            <a:ext cx="545782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国外研究现状</a:t>
            </a:r>
            <a:endParaRPr lang="en-US" sz="1350" b="1" i="0" u="none" strike="noStrike" cap="non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36" name="Google Shape;136;p15"/>
          <p:cNvSpPr txBox="1"/>
          <p:nvPr/>
        </p:nvSpPr>
        <p:spPr>
          <a:xfrm>
            <a:off x="676275" y="2171700"/>
            <a:ext cx="50768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333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国内侧重居家社区协同，2025年基层护理覆盖率预计提升至52.3%。</a:t>
            </a:r>
            <a:endParaRPr lang="en-US" sz="1200" b="0" i="0" u="none" strike="noStrike" cap="none">
              <a:solidFill>
                <a:srgbClr val="333333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37" name="Google Shape;137;p15"/>
          <p:cNvSpPr txBox="1"/>
          <p:nvPr/>
        </p:nvSpPr>
        <p:spPr>
          <a:xfrm>
            <a:off x="6438900" y="2171700"/>
            <a:ext cx="50768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333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国外聚焦长期护理体系完善，2024年欧美社区护理覆盖率达68.5%。</a:t>
            </a:r>
            <a:endParaRPr lang="en-US" sz="1200" b="0" i="0" u="none" strike="noStrike" cap="none">
              <a:solidFill>
                <a:srgbClr val="333333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pic>
        <p:nvPicPr>
          <p:cNvPr id="138" name="Google Shape;138;p15" descr="image.png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3052762" y="3805237"/>
            <a:ext cx="32385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5"/>
          <p:cNvSpPr txBox="1"/>
          <p:nvPr/>
        </p:nvSpPr>
        <p:spPr>
          <a:xfrm>
            <a:off x="2081212" y="4186237"/>
            <a:ext cx="2266950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6666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此处插入国内相关系统架构图或生态图</a:t>
            </a:r>
            <a:endParaRPr lang="en-US" sz="1050" b="0" i="0" u="none" strike="noStrike" cap="none">
              <a:solidFill>
                <a:srgbClr val="66666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40" name="Google Shape;140;p15"/>
          <p:cNvSpPr txBox="1"/>
          <p:nvPr>
            <p:custDataLst>
              <p:tags r:id="rId6"/>
            </p:custDataLst>
          </p:nvPr>
        </p:nvSpPr>
        <p:spPr>
          <a:xfrm>
            <a:off x="809625" y="5787509"/>
            <a:ext cx="57150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555555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•</a:t>
            </a:r>
            <a:endParaRPr lang="en-US" sz="1200" b="0" i="0" u="none" strike="noStrike" cap="none">
              <a:solidFill>
                <a:srgbClr val="555555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41" name="Google Shape;141;p15"/>
          <p:cNvSpPr txBox="1"/>
          <p:nvPr>
            <p:custDataLst>
              <p:tags r:id="rId7"/>
            </p:custDataLst>
          </p:nvPr>
        </p:nvSpPr>
        <p:spPr>
          <a:xfrm>
            <a:off x="866775" y="5789414"/>
            <a:ext cx="48863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555555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优势：政策支持力度大，数据来源广泛。</a:t>
            </a:r>
            <a:endParaRPr lang="en-US" sz="1200" b="0" i="0" u="none" strike="noStrike" cap="none">
              <a:solidFill>
                <a:srgbClr val="555555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42" name="Google Shape;142;p15"/>
          <p:cNvSpPr txBox="1"/>
          <p:nvPr>
            <p:custDataLst>
              <p:tags r:id="rId8"/>
            </p:custDataLst>
          </p:nvPr>
        </p:nvSpPr>
        <p:spPr>
          <a:xfrm>
            <a:off x="809625" y="6031289"/>
            <a:ext cx="57150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555555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•</a:t>
            </a:r>
            <a:endParaRPr lang="en-US" sz="1200" b="0" i="0" u="none" strike="noStrike" cap="none">
              <a:solidFill>
                <a:srgbClr val="555555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43" name="Google Shape;143;p15"/>
          <p:cNvSpPr txBox="1"/>
          <p:nvPr>
            <p:custDataLst>
              <p:tags r:id="rId9"/>
            </p:custDataLst>
          </p:nvPr>
        </p:nvSpPr>
        <p:spPr>
          <a:xfrm>
            <a:off x="866775" y="6033194"/>
            <a:ext cx="48863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555555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劣势：各机构间数据孤岛现象严重。</a:t>
            </a:r>
            <a:endParaRPr lang="en-US" sz="1200" b="0" i="0" u="none" strike="noStrike" cap="none">
              <a:solidFill>
                <a:srgbClr val="555555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pic>
        <p:nvPicPr>
          <p:cNvPr id="144" name="Google Shape;144;p15" descr="image.png"/>
          <p:cNvPicPr preferRelativeResize="0"/>
          <p:nvPr/>
        </p:nvPicPr>
        <p:blipFill rotWithShape="1">
          <a:blip r:embed="rId10"/>
          <a:srcRect/>
          <a:stretch>
            <a:fillRect/>
          </a:stretch>
        </p:blipFill>
        <p:spPr>
          <a:xfrm>
            <a:off x="8834437" y="3805237"/>
            <a:ext cx="28575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5"/>
          <p:cNvSpPr txBox="1"/>
          <p:nvPr/>
        </p:nvSpPr>
        <p:spPr>
          <a:xfrm>
            <a:off x="7777162" y="4186237"/>
            <a:ext cx="2400300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6666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此处插入国外先进医疗设备或预警模型图</a:t>
            </a:r>
            <a:endParaRPr lang="en-US" sz="1050" b="0" i="0" u="none" strike="noStrike" cap="none">
              <a:solidFill>
                <a:srgbClr val="66666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46" name="Google Shape;146;p15"/>
          <p:cNvSpPr txBox="1"/>
          <p:nvPr>
            <p:custDataLst>
              <p:tags r:id="rId11"/>
            </p:custDataLst>
          </p:nvPr>
        </p:nvSpPr>
        <p:spPr>
          <a:xfrm>
            <a:off x="6572250" y="5787509"/>
            <a:ext cx="57150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555555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•</a:t>
            </a:r>
            <a:endParaRPr lang="en-US" sz="1200" b="0" i="0" u="none" strike="noStrike" cap="none">
              <a:solidFill>
                <a:srgbClr val="555555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47" name="Google Shape;147;p15"/>
          <p:cNvSpPr txBox="1"/>
          <p:nvPr>
            <p:custDataLst>
              <p:tags r:id="rId12"/>
            </p:custDataLst>
          </p:nvPr>
        </p:nvSpPr>
        <p:spPr>
          <a:xfrm>
            <a:off x="6629400" y="5789414"/>
            <a:ext cx="48863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555555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优势：算法成熟，临床验证周期长。</a:t>
            </a:r>
            <a:endParaRPr lang="en-US" sz="1200" b="0" i="0" u="none" strike="noStrike" cap="none">
              <a:solidFill>
                <a:srgbClr val="555555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48" name="Google Shape;148;p15"/>
          <p:cNvSpPr txBox="1"/>
          <p:nvPr>
            <p:custDataLst>
              <p:tags r:id="rId13"/>
            </p:custDataLst>
          </p:nvPr>
        </p:nvSpPr>
        <p:spPr>
          <a:xfrm>
            <a:off x="6572250" y="6031289"/>
            <a:ext cx="57150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555555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•</a:t>
            </a:r>
            <a:endParaRPr lang="en-US" sz="1200" b="0" i="0" u="none" strike="noStrike" cap="none">
              <a:solidFill>
                <a:srgbClr val="555555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49" name="Google Shape;149;p15"/>
          <p:cNvSpPr txBox="1"/>
          <p:nvPr>
            <p:custDataLst>
              <p:tags r:id="rId14"/>
            </p:custDataLst>
          </p:nvPr>
        </p:nvSpPr>
        <p:spPr>
          <a:xfrm>
            <a:off x="6629400" y="6033194"/>
            <a:ext cx="48863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555555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劣势：模型复杂度高，难以在低算力设备部署。</a:t>
            </a:r>
            <a:endParaRPr lang="en-US" sz="1200" b="0" i="0" u="none" strike="noStrike" cap="none">
              <a:solidFill>
                <a:srgbClr val="555555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" name="矩形 0"/>
          <p:cNvSpPr/>
          <p:nvPr/>
        </p:nvSpPr>
        <p:spPr>
          <a:xfrm>
            <a:off x="2190750" y="372110"/>
            <a:ext cx="1285875" cy="523240"/>
          </a:xfrm>
          <a:prstGeom prst="rect">
            <a:avLst/>
          </a:prstGeom>
          <a:solidFill>
            <a:srgbClr val="E5F2EB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80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pic>
        <p:nvPicPr>
          <p:cNvPr id="3" name="Google Shape;96;p14" descr="image.png"/>
          <p:cNvPicPr preferRelativeResize="0"/>
          <p:nvPr/>
        </p:nvPicPr>
        <p:blipFill rotWithShape="1">
          <a:blip r:embed="rId15"/>
          <a:srcRect/>
          <a:stretch>
            <a:fillRect/>
          </a:stretch>
        </p:blipFill>
        <p:spPr>
          <a:xfrm>
            <a:off x="476250" y="381000"/>
            <a:ext cx="1508125" cy="51435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106;p14"/>
          <p:cNvSpPr txBox="1"/>
          <p:nvPr/>
        </p:nvSpPr>
        <p:spPr>
          <a:xfrm>
            <a:off x="504825" y="471487"/>
            <a:ext cx="1450925" cy="215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>
                <a:solidFill>
                  <a:srgbClr val="FFFFFF"/>
                </a:solidFill>
                <a:latin typeface="Times New Roman" panose="02020603050405020304" charset="0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研究背景及现状</a:t>
            </a:r>
            <a:endParaRPr lang="en-US" b="1" i="0" u="none" strike="noStrike" cap="none">
              <a:solidFill>
                <a:srgbClr val="FFFFFF"/>
              </a:solidFill>
              <a:latin typeface="Times New Roman" panose="02020603050405020304" charset="0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5" name="Google Shape;107;p14"/>
          <p:cNvSpPr txBox="1"/>
          <p:nvPr/>
        </p:nvSpPr>
        <p:spPr>
          <a:xfrm>
            <a:off x="504825" y="671512"/>
            <a:ext cx="1450925" cy="135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0" b="0" i="0" u="none" strike="noStrike" cap="none">
                <a:solidFill>
                  <a:srgbClr val="FFFFFF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Times New Roman" panose="02020603050405020304"/>
              </a:rPr>
              <a:t>Research Background</a:t>
            </a:r>
            <a:endParaRPr lang="en-US" sz="880" b="0" i="0" u="none" strike="noStrike" cap="none">
              <a:solidFill>
                <a:srgbClr val="FFFFFF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Times New Roman" panose="02020603050405020304"/>
            </a:endParaRPr>
          </a:p>
        </p:txBody>
      </p:sp>
      <p:sp>
        <p:nvSpPr>
          <p:cNvPr id="10" name="Google Shape;166;p16"/>
          <p:cNvSpPr txBox="1"/>
          <p:nvPr/>
        </p:nvSpPr>
        <p:spPr>
          <a:xfrm>
            <a:off x="2079575" y="484187"/>
            <a:ext cx="1450925" cy="215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>
                <a:solidFill>
                  <a:srgbClr val="358960"/>
                </a:solidFill>
                <a:latin typeface="Times New Roman" panose="02020603050405020304" charset="0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研究目标和内容</a:t>
            </a:r>
            <a:endParaRPr lang="en-US" b="1" i="0" u="none" strike="noStrike" cap="none">
              <a:solidFill>
                <a:srgbClr val="358960"/>
              </a:solidFill>
              <a:latin typeface="Times New Roman" panose="02020603050405020304" charset="0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1" name="Google Shape;167;p16"/>
          <p:cNvSpPr txBox="1"/>
          <p:nvPr/>
        </p:nvSpPr>
        <p:spPr>
          <a:xfrm>
            <a:off x="2108150" y="682942"/>
            <a:ext cx="1450925" cy="135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0" b="0" i="0" u="none" strike="noStrike" cap="none">
                <a:solidFill>
                  <a:srgbClr val="35896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Times New Roman" panose="02020603050405020304"/>
              </a:rPr>
              <a:t>Objectives</a:t>
            </a:r>
            <a:endParaRPr lang="en-US" sz="880" b="0" i="0" u="none" strike="noStrike" cap="none">
              <a:solidFill>
                <a:srgbClr val="358960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Times New Roman" panose="02020603050405020304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3711575" y="372110"/>
            <a:ext cx="1285875" cy="523240"/>
          </a:xfrm>
          <a:prstGeom prst="rect">
            <a:avLst/>
          </a:prstGeom>
          <a:solidFill>
            <a:srgbClr val="E5F2EB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80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5255260" y="372110"/>
            <a:ext cx="1430020" cy="523240"/>
          </a:xfrm>
          <a:prstGeom prst="rect">
            <a:avLst/>
          </a:prstGeom>
          <a:solidFill>
            <a:srgbClr val="E5F2EB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80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6863080" y="372110"/>
            <a:ext cx="1445895" cy="523240"/>
          </a:xfrm>
          <a:prstGeom prst="rect">
            <a:avLst/>
          </a:prstGeom>
          <a:solidFill>
            <a:srgbClr val="E5F2EB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80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8493760" y="372110"/>
            <a:ext cx="1424940" cy="523240"/>
          </a:xfrm>
          <a:prstGeom prst="rect">
            <a:avLst/>
          </a:prstGeom>
          <a:solidFill>
            <a:srgbClr val="E5F2EB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80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16" name="Google Shape;224;p17"/>
          <p:cNvSpPr txBox="1"/>
          <p:nvPr/>
        </p:nvSpPr>
        <p:spPr>
          <a:xfrm>
            <a:off x="5284321" y="501967"/>
            <a:ext cx="1450925" cy="215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>
                <a:solidFill>
                  <a:srgbClr val="358960"/>
                </a:solidFill>
                <a:latin typeface="Times New Roman" panose="02020603050405020304" charset="0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关键技术与创新</a:t>
            </a:r>
            <a:endParaRPr lang="en-US" b="1" i="0" u="none" strike="noStrike" cap="none">
              <a:solidFill>
                <a:srgbClr val="358960"/>
              </a:solidFill>
              <a:latin typeface="Times New Roman" panose="02020603050405020304" charset="0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7" name="Google Shape;225;p17"/>
          <p:cNvSpPr txBox="1"/>
          <p:nvPr/>
        </p:nvSpPr>
        <p:spPr>
          <a:xfrm>
            <a:off x="5304641" y="701992"/>
            <a:ext cx="1450925" cy="135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0" b="0" i="0" u="none" strike="noStrike" cap="none">
                <a:solidFill>
                  <a:srgbClr val="35896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Times New Roman" panose="02020603050405020304"/>
              </a:rPr>
              <a:t>Technologies</a:t>
            </a:r>
            <a:endParaRPr lang="en-US" sz="880" b="0" i="0" u="none" strike="noStrike" cap="none">
              <a:solidFill>
                <a:srgbClr val="358960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Times New Roman" panose="02020603050405020304"/>
            </a:endParaRPr>
          </a:p>
        </p:txBody>
      </p:sp>
      <p:sp>
        <p:nvSpPr>
          <p:cNvPr id="18" name="Google Shape;264;p18"/>
          <p:cNvSpPr txBox="1"/>
          <p:nvPr/>
        </p:nvSpPr>
        <p:spPr>
          <a:xfrm>
            <a:off x="3625750" y="471487"/>
            <a:ext cx="1450925" cy="215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>
                <a:solidFill>
                  <a:srgbClr val="358960"/>
                </a:solidFill>
                <a:latin typeface="Times New Roman" panose="02020603050405020304" charset="0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研究方法与思路</a:t>
            </a:r>
            <a:endParaRPr lang="en-US" b="1" i="0" u="none" strike="noStrike" cap="none">
              <a:solidFill>
                <a:srgbClr val="358960"/>
              </a:solidFill>
              <a:latin typeface="Times New Roman" panose="02020603050405020304" charset="0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9" name="Google Shape;265;p18"/>
          <p:cNvSpPr txBox="1"/>
          <p:nvPr/>
        </p:nvSpPr>
        <p:spPr>
          <a:xfrm>
            <a:off x="3625750" y="681672"/>
            <a:ext cx="1450925" cy="135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0" b="0" i="0" u="none" strike="noStrike" cap="none">
                <a:solidFill>
                  <a:srgbClr val="35896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Times New Roman" panose="02020603050405020304"/>
              </a:rPr>
              <a:t>Methods</a:t>
            </a:r>
            <a:endParaRPr lang="en-US" sz="880" b="0" i="0" u="none" strike="noStrike" cap="none">
              <a:solidFill>
                <a:srgbClr val="358960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Times New Roman" panose="02020603050405020304"/>
            </a:endParaRPr>
          </a:p>
        </p:txBody>
      </p:sp>
      <p:sp>
        <p:nvSpPr>
          <p:cNvPr id="20" name="Google Shape;306;p19"/>
          <p:cNvSpPr txBox="1"/>
          <p:nvPr/>
        </p:nvSpPr>
        <p:spPr>
          <a:xfrm>
            <a:off x="6918126" y="471487"/>
            <a:ext cx="1450925" cy="215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>
                <a:solidFill>
                  <a:srgbClr val="358960"/>
                </a:solidFill>
                <a:latin typeface="Times New Roman" panose="02020603050405020304" charset="0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已开展工作</a:t>
            </a:r>
            <a:endParaRPr lang="en-US" b="1" i="0" u="none" strike="noStrike" cap="none">
              <a:solidFill>
                <a:srgbClr val="358960"/>
              </a:solidFill>
              <a:latin typeface="Times New Roman" panose="02020603050405020304" charset="0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21" name="Google Shape;307;p19"/>
          <p:cNvSpPr txBox="1"/>
          <p:nvPr/>
        </p:nvSpPr>
        <p:spPr>
          <a:xfrm>
            <a:off x="6918126" y="671512"/>
            <a:ext cx="1450925" cy="135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0" b="0" i="0" u="none" strike="noStrike" cap="none">
                <a:solidFill>
                  <a:srgbClr val="35896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Times New Roman" panose="02020603050405020304"/>
              </a:rPr>
              <a:t>Work Carried Out</a:t>
            </a:r>
            <a:endParaRPr lang="en-US" sz="880" b="0" i="0" u="none" strike="noStrike" cap="none">
              <a:solidFill>
                <a:srgbClr val="358960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Times New Roman" panose="02020603050405020304"/>
            </a:endParaRPr>
          </a:p>
        </p:txBody>
      </p:sp>
      <p:sp>
        <p:nvSpPr>
          <p:cNvPr id="22" name="Google Shape;354;p21"/>
          <p:cNvSpPr txBox="1"/>
          <p:nvPr/>
        </p:nvSpPr>
        <p:spPr>
          <a:xfrm>
            <a:off x="8521451" y="471487"/>
            <a:ext cx="1450925" cy="215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>
                <a:solidFill>
                  <a:srgbClr val="358960"/>
                </a:solidFill>
                <a:latin typeface="Times New Roman" panose="02020603050405020304" charset="0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预期成果</a:t>
            </a:r>
            <a:endParaRPr lang="en-US" b="1" i="0" u="none" strike="noStrike" cap="none">
              <a:solidFill>
                <a:srgbClr val="358960"/>
              </a:solidFill>
              <a:latin typeface="Times New Roman" panose="02020603050405020304" charset="0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23" name="Google Shape;355;p21"/>
          <p:cNvSpPr txBox="1"/>
          <p:nvPr/>
        </p:nvSpPr>
        <p:spPr>
          <a:xfrm>
            <a:off x="8521451" y="671512"/>
            <a:ext cx="1450925" cy="135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0" b="0" i="0" u="none" strike="noStrike" cap="none">
                <a:solidFill>
                  <a:srgbClr val="35896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Times New Roman" panose="02020603050405020304"/>
              </a:rPr>
              <a:t>Outcomes</a:t>
            </a:r>
            <a:endParaRPr lang="en-US" sz="880" b="0" i="0" u="none" strike="noStrike" cap="none">
              <a:solidFill>
                <a:srgbClr val="358960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Times New Roman" panose="020206030504050203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16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2079575" y="381000"/>
            <a:ext cx="1508075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16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0287000" y="404812"/>
            <a:ext cx="1428750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16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476250" y="1590675"/>
            <a:ext cx="3587650" cy="4886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16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4302025" y="1590675"/>
            <a:ext cx="3587799" cy="4886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16" descr="image.png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8127950" y="1590675"/>
            <a:ext cx="3587650" cy="4886325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6"/>
          <p:cNvSpPr txBox="1"/>
          <p:nvPr/>
        </p:nvSpPr>
        <p:spPr>
          <a:xfrm>
            <a:off x="723900" y="1095375"/>
            <a:ext cx="109918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研究内容框架</a:t>
            </a:r>
            <a:endParaRPr lang="en-US" sz="1800" b="1" i="0" u="none" strike="noStrike" cap="none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pic>
        <p:nvPicPr>
          <p:cNvPr id="165" name="Google Shape;165;p16" descr="image.png"/>
          <p:cNvPicPr preferRelativeResize="0"/>
          <p:nvPr/>
        </p:nvPicPr>
        <p:blipFill rotWithShape="1">
          <a:blip r:embed="rId6"/>
          <a:srcRect/>
          <a:stretch>
            <a:fillRect/>
          </a:stretch>
        </p:blipFill>
        <p:spPr>
          <a:xfrm>
            <a:off x="476250" y="1162050"/>
            <a:ext cx="1333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6"/>
          <p:cNvSpPr txBox="1"/>
          <p:nvPr/>
        </p:nvSpPr>
        <p:spPr>
          <a:xfrm>
            <a:off x="2108150" y="471487"/>
            <a:ext cx="1450925" cy="215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研究目标和内容</a:t>
            </a:r>
            <a:endParaRPr lang="en-US" b="1" i="0" u="none" strike="noStrike" cap="non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67" name="Google Shape;167;p16"/>
          <p:cNvSpPr txBox="1"/>
          <p:nvPr/>
        </p:nvSpPr>
        <p:spPr>
          <a:xfrm>
            <a:off x="2108150" y="671512"/>
            <a:ext cx="1450925" cy="135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0" b="0" i="0" u="none" strike="noStrike" cap="none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Objectives</a:t>
            </a:r>
            <a:endParaRPr lang="en-US" sz="880" b="0" i="0" u="none" strike="noStrike" cap="none">
              <a:solidFill>
                <a:srgbClr val="FFFFF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68" name="Google Shape;168;p16"/>
          <p:cNvSpPr/>
          <p:nvPr/>
        </p:nvSpPr>
        <p:spPr>
          <a:xfrm>
            <a:off x="485775" y="1600200"/>
            <a:ext cx="3568600" cy="381000"/>
          </a:xfrm>
          <a:prstGeom prst="rect">
            <a:avLst/>
          </a:prstGeom>
          <a:solidFill>
            <a:srgbClr val="1B7A4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69" name="Google Shape;169;p16"/>
          <p:cNvSpPr txBox="1"/>
          <p:nvPr/>
        </p:nvSpPr>
        <p:spPr>
          <a:xfrm>
            <a:off x="485775" y="1676400"/>
            <a:ext cx="3568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研究内容一</a:t>
            </a:r>
            <a:endParaRPr lang="en-US" sz="1350" b="1" i="0" u="none" strike="noStrike" cap="non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70" name="Google Shape;170;p16"/>
          <p:cNvSpPr/>
          <p:nvPr/>
        </p:nvSpPr>
        <p:spPr>
          <a:xfrm>
            <a:off x="4311550" y="1600200"/>
            <a:ext cx="3568749" cy="381000"/>
          </a:xfrm>
          <a:prstGeom prst="rect">
            <a:avLst/>
          </a:prstGeom>
          <a:solidFill>
            <a:srgbClr val="1B7A4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71" name="Google Shape;171;p16"/>
          <p:cNvSpPr txBox="1"/>
          <p:nvPr/>
        </p:nvSpPr>
        <p:spPr>
          <a:xfrm>
            <a:off x="4311550" y="1676400"/>
            <a:ext cx="3568749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研究内容二</a:t>
            </a:r>
            <a:endParaRPr lang="en-US" sz="1350" b="1" i="0" u="none" strike="noStrike" cap="non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72" name="Google Shape;172;p16"/>
          <p:cNvSpPr/>
          <p:nvPr/>
        </p:nvSpPr>
        <p:spPr>
          <a:xfrm>
            <a:off x="8137475" y="1600200"/>
            <a:ext cx="3568600" cy="381000"/>
          </a:xfrm>
          <a:prstGeom prst="rect">
            <a:avLst/>
          </a:prstGeom>
          <a:solidFill>
            <a:srgbClr val="1B7A4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73" name="Google Shape;173;p16"/>
          <p:cNvSpPr txBox="1"/>
          <p:nvPr/>
        </p:nvSpPr>
        <p:spPr>
          <a:xfrm>
            <a:off x="8137475" y="1676400"/>
            <a:ext cx="3568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研究内容三</a:t>
            </a:r>
            <a:endParaRPr lang="en-US" sz="1350" b="1" i="0" u="none" strike="noStrike" cap="non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74" name="Google Shape;174;p16"/>
          <p:cNvSpPr txBox="1"/>
          <p:nvPr/>
        </p:nvSpPr>
        <p:spPr>
          <a:xfrm>
            <a:off x="596584" y="2171700"/>
            <a:ext cx="3346980" cy="2851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5" b="1" i="0" u="none" strike="noStrike" cap="none">
                <a:solidFill>
                  <a:srgbClr val="1B7A4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聚焦基层慢病防控</a:t>
            </a:r>
            <a:endParaRPr lang="en-US" sz="1405" b="1" i="0" u="none" strike="noStrike" cap="none">
              <a:solidFill>
                <a:srgbClr val="1B7A4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75" name="Google Shape;175;p16"/>
          <p:cNvSpPr txBox="1"/>
          <p:nvPr/>
        </p:nvSpPr>
        <p:spPr>
          <a:xfrm>
            <a:off x="4422357" y="2171700"/>
            <a:ext cx="3347137" cy="2851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5" b="1" i="0" u="none" strike="noStrike" cap="none">
                <a:solidFill>
                  <a:srgbClr val="1B7A4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构建共病预测模型</a:t>
            </a:r>
            <a:endParaRPr lang="en-US" sz="1405" b="1" i="0" u="none" strike="noStrike" cap="none">
              <a:solidFill>
                <a:srgbClr val="1B7A4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76" name="Google Shape;176;p16"/>
          <p:cNvSpPr txBox="1"/>
          <p:nvPr/>
        </p:nvSpPr>
        <p:spPr>
          <a:xfrm>
            <a:off x="8248285" y="2171700"/>
            <a:ext cx="3346980" cy="2851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5" b="1" i="0" u="none" strike="noStrike" cap="none">
                <a:solidFill>
                  <a:srgbClr val="1B7A4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医疗智能设备升级</a:t>
            </a:r>
            <a:endParaRPr lang="en-US" sz="1405" b="1" i="0" u="none" strike="noStrike" cap="none">
              <a:solidFill>
                <a:srgbClr val="1B7A4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77" name="Google Shape;177;p16"/>
          <p:cNvSpPr txBox="1"/>
          <p:nvPr/>
        </p:nvSpPr>
        <p:spPr>
          <a:xfrm>
            <a:off x="809625" y="2599729"/>
            <a:ext cx="571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333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•</a:t>
            </a:r>
            <a:endParaRPr lang="en-US" sz="1200" b="0" i="0" u="none" strike="noStrike" cap="none">
              <a:solidFill>
                <a:srgbClr val="333333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78" name="Google Shape;178;p16"/>
          <p:cNvSpPr txBox="1"/>
          <p:nvPr/>
        </p:nvSpPr>
        <p:spPr>
          <a:xfrm>
            <a:off x="866775" y="2599729"/>
            <a:ext cx="29971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333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梳理基层慢病临床与行为数据特征；</a:t>
            </a:r>
            <a:endParaRPr lang="en-US" sz="1200" b="0" i="0" u="none" strike="noStrike" cap="none">
              <a:solidFill>
                <a:srgbClr val="333333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79" name="Google Shape;179;p16"/>
          <p:cNvSpPr txBox="1"/>
          <p:nvPr/>
        </p:nvSpPr>
        <p:spPr>
          <a:xfrm>
            <a:off x="809625" y="2904529"/>
            <a:ext cx="571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333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•</a:t>
            </a:r>
            <a:endParaRPr lang="en-US" sz="1200" b="0" i="0" u="none" strike="noStrike" cap="none">
              <a:solidFill>
                <a:srgbClr val="333333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80" name="Google Shape;180;p16"/>
          <p:cNvSpPr txBox="1"/>
          <p:nvPr/>
        </p:nvSpPr>
        <p:spPr>
          <a:xfrm>
            <a:off x="866775" y="2904529"/>
            <a:ext cx="29971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333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构建标准化多模态数据集；</a:t>
            </a:r>
            <a:endParaRPr lang="en-US" sz="1200" b="0" i="0" u="none" strike="noStrike" cap="none">
              <a:solidFill>
                <a:srgbClr val="333333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81" name="Google Shape;181;p16"/>
          <p:cNvSpPr txBox="1"/>
          <p:nvPr/>
        </p:nvSpPr>
        <p:spPr>
          <a:xfrm>
            <a:off x="809625" y="3209329"/>
            <a:ext cx="571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333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•</a:t>
            </a:r>
            <a:endParaRPr lang="en-US" sz="1200" b="0" i="0" u="none" strike="noStrike" cap="none">
              <a:solidFill>
                <a:srgbClr val="333333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82" name="Google Shape;182;p16"/>
          <p:cNvSpPr txBox="1"/>
          <p:nvPr/>
        </p:nvSpPr>
        <p:spPr>
          <a:xfrm>
            <a:off x="866775" y="3209329"/>
            <a:ext cx="29971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333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建立数据清洗与标注规范；</a:t>
            </a:r>
            <a:endParaRPr lang="en-US" sz="1200" b="0" i="0" u="none" strike="noStrike" cap="none">
              <a:solidFill>
                <a:srgbClr val="333333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83" name="Google Shape;183;p16"/>
          <p:cNvSpPr txBox="1"/>
          <p:nvPr/>
        </p:nvSpPr>
        <p:spPr>
          <a:xfrm>
            <a:off x="809625" y="3514129"/>
            <a:ext cx="571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333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•</a:t>
            </a:r>
            <a:endParaRPr lang="en-US" sz="1200" b="0" i="0" u="none" strike="noStrike" cap="none">
              <a:solidFill>
                <a:srgbClr val="333333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84" name="Google Shape;184;p16"/>
          <p:cNvSpPr txBox="1"/>
          <p:nvPr/>
        </p:nvSpPr>
        <p:spPr>
          <a:xfrm>
            <a:off x="866775" y="3514129"/>
            <a:ext cx="29971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333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完成伦理审查与隐私保护脱敏。</a:t>
            </a:r>
            <a:endParaRPr lang="en-US" sz="1200" b="0" i="0" u="none" strike="noStrike" cap="none">
              <a:solidFill>
                <a:srgbClr val="333333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pic>
        <p:nvPicPr>
          <p:cNvPr id="185" name="Google Shape;185;p16" descr="image.png"/>
          <p:cNvPicPr preferRelativeResize="0"/>
          <p:nvPr/>
        </p:nvPicPr>
        <p:blipFill rotWithShape="1">
          <a:blip r:embed="rId7"/>
          <a:srcRect/>
          <a:stretch>
            <a:fillRect/>
          </a:stretch>
        </p:blipFill>
        <p:spPr>
          <a:xfrm>
            <a:off x="2146250" y="4845992"/>
            <a:ext cx="24765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16"/>
          <p:cNvSpPr txBox="1"/>
          <p:nvPr/>
        </p:nvSpPr>
        <p:spPr>
          <a:xfrm>
            <a:off x="1803350" y="5226992"/>
            <a:ext cx="933450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6666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数据清洗流程图</a:t>
            </a:r>
            <a:endParaRPr lang="en-US" sz="1050" b="0" i="0" u="none" strike="noStrike" cap="none">
              <a:solidFill>
                <a:srgbClr val="66666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87" name="Google Shape;187;p16"/>
          <p:cNvSpPr txBox="1"/>
          <p:nvPr/>
        </p:nvSpPr>
        <p:spPr>
          <a:xfrm>
            <a:off x="4635400" y="2599729"/>
            <a:ext cx="571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333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•</a:t>
            </a:r>
            <a:endParaRPr lang="en-US" sz="1200" b="0" i="0" u="none" strike="noStrike" cap="none">
              <a:solidFill>
                <a:srgbClr val="333333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88" name="Google Shape;188;p16"/>
          <p:cNvSpPr txBox="1"/>
          <p:nvPr/>
        </p:nvSpPr>
        <p:spPr>
          <a:xfrm>
            <a:off x="4692550" y="2599729"/>
            <a:ext cx="2997249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333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优化Transformer模型核心结构；</a:t>
            </a:r>
            <a:endParaRPr lang="en-US" sz="1200" b="0" i="0" u="none" strike="noStrike" cap="none">
              <a:solidFill>
                <a:srgbClr val="333333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89" name="Google Shape;189;p16"/>
          <p:cNvSpPr txBox="1"/>
          <p:nvPr/>
        </p:nvSpPr>
        <p:spPr>
          <a:xfrm>
            <a:off x="4635400" y="2904529"/>
            <a:ext cx="571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333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•</a:t>
            </a:r>
            <a:endParaRPr lang="en-US" sz="1200" b="0" i="0" u="none" strike="noStrike" cap="none">
              <a:solidFill>
                <a:srgbClr val="333333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90" name="Google Shape;190;p16"/>
          <p:cNvSpPr txBox="1"/>
          <p:nvPr/>
        </p:nvSpPr>
        <p:spPr>
          <a:xfrm>
            <a:off x="4692550" y="2904529"/>
            <a:ext cx="2997249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333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融入注意力机制提升特征提取精度；</a:t>
            </a:r>
            <a:endParaRPr lang="en-US" sz="1200" b="0" i="0" u="none" strike="noStrike" cap="none">
              <a:solidFill>
                <a:srgbClr val="333333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91" name="Google Shape;191;p16"/>
          <p:cNvSpPr txBox="1"/>
          <p:nvPr/>
        </p:nvSpPr>
        <p:spPr>
          <a:xfrm>
            <a:off x="4635400" y="3209329"/>
            <a:ext cx="571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333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•</a:t>
            </a:r>
            <a:endParaRPr lang="en-US" sz="1200" b="0" i="0" u="none" strike="noStrike" cap="none">
              <a:solidFill>
                <a:srgbClr val="333333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92" name="Google Shape;192;p16"/>
          <p:cNvSpPr txBox="1"/>
          <p:nvPr/>
        </p:nvSpPr>
        <p:spPr>
          <a:xfrm>
            <a:off x="4692550" y="3209329"/>
            <a:ext cx="2997249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333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引入时序图神经网络(T-GNN)；</a:t>
            </a:r>
            <a:endParaRPr lang="en-US" sz="1200" b="0" i="0" u="none" strike="noStrike" cap="none">
              <a:solidFill>
                <a:srgbClr val="333333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93" name="Google Shape;193;p16"/>
          <p:cNvSpPr txBox="1"/>
          <p:nvPr/>
        </p:nvSpPr>
        <p:spPr>
          <a:xfrm>
            <a:off x="4635400" y="3514129"/>
            <a:ext cx="571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333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•</a:t>
            </a:r>
            <a:endParaRPr lang="en-US" sz="1200" b="0" i="0" u="none" strike="noStrike" cap="none">
              <a:solidFill>
                <a:srgbClr val="333333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94" name="Google Shape;194;p16"/>
          <p:cNvSpPr txBox="1"/>
          <p:nvPr/>
        </p:nvSpPr>
        <p:spPr>
          <a:xfrm>
            <a:off x="4692550" y="3514129"/>
            <a:ext cx="2997249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333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实现跨模态特征融合。</a:t>
            </a:r>
            <a:endParaRPr lang="en-US" sz="1200" b="0" i="0" u="none" strike="noStrike" cap="none">
              <a:solidFill>
                <a:srgbClr val="333333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pic>
        <p:nvPicPr>
          <p:cNvPr id="195" name="Google Shape;195;p16" descr="image.png"/>
          <p:cNvPicPr preferRelativeResize="0"/>
          <p:nvPr/>
        </p:nvPicPr>
        <p:blipFill rotWithShape="1">
          <a:blip r:embed="rId8"/>
          <a:srcRect/>
          <a:stretch>
            <a:fillRect/>
          </a:stretch>
        </p:blipFill>
        <p:spPr>
          <a:xfrm>
            <a:off x="5914876" y="4845992"/>
            <a:ext cx="36195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16"/>
          <p:cNvSpPr txBox="1"/>
          <p:nvPr/>
        </p:nvSpPr>
        <p:spPr>
          <a:xfrm>
            <a:off x="5762476" y="5226992"/>
            <a:ext cx="666750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6666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算法架构图</a:t>
            </a:r>
            <a:endParaRPr lang="en-US" sz="1050" b="0" i="0" u="none" strike="noStrike" cap="none">
              <a:solidFill>
                <a:srgbClr val="66666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97" name="Google Shape;197;p16"/>
          <p:cNvSpPr txBox="1"/>
          <p:nvPr/>
        </p:nvSpPr>
        <p:spPr>
          <a:xfrm>
            <a:off x="8461325" y="2599729"/>
            <a:ext cx="571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333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•</a:t>
            </a:r>
            <a:endParaRPr lang="en-US" sz="1200" b="0" i="0" u="none" strike="noStrike" cap="none">
              <a:solidFill>
                <a:srgbClr val="333333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98" name="Google Shape;198;p16"/>
          <p:cNvSpPr txBox="1"/>
          <p:nvPr/>
        </p:nvSpPr>
        <p:spPr>
          <a:xfrm>
            <a:off x="8518475" y="2599729"/>
            <a:ext cx="29971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333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验证基层医疗机构算力适配性；</a:t>
            </a:r>
            <a:endParaRPr lang="en-US" sz="1200" b="0" i="0" u="none" strike="noStrike" cap="none">
              <a:solidFill>
                <a:srgbClr val="333333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99" name="Google Shape;199;p16"/>
          <p:cNvSpPr txBox="1"/>
          <p:nvPr/>
        </p:nvSpPr>
        <p:spPr>
          <a:xfrm>
            <a:off x="8461325" y="2904529"/>
            <a:ext cx="571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333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•</a:t>
            </a:r>
            <a:endParaRPr lang="en-US" sz="1200" b="0" i="0" u="none" strike="noStrike" cap="none">
              <a:solidFill>
                <a:srgbClr val="333333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00" name="Google Shape;200;p16"/>
          <p:cNvSpPr txBox="1"/>
          <p:nvPr/>
        </p:nvSpPr>
        <p:spPr>
          <a:xfrm>
            <a:off x="8518475" y="2904529"/>
            <a:ext cx="29971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333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测试模型跨场景泛化能力；</a:t>
            </a:r>
            <a:endParaRPr lang="en-US" sz="1200" b="0" i="0" u="none" strike="noStrike" cap="none">
              <a:solidFill>
                <a:srgbClr val="333333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01" name="Google Shape;201;p16"/>
          <p:cNvSpPr txBox="1"/>
          <p:nvPr/>
        </p:nvSpPr>
        <p:spPr>
          <a:xfrm>
            <a:off x="8461325" y="3209329"/>
            <a:ext cx="571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333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•</a:t>
            </a:r>
            <a:endParaRPr lang="en-US" sz="1200" b="0" i="0" u="none" strike="noStrike" cap="none">
              <a:solidFill>
                <a:srgbClr val="333333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02" name="Google Shape;202;p16"/>
          <p:cNvSpPr txBox="1"/>
          <p:nvPr/>
        </p:nvSpPr>
        <p:spPr>
          <a:xfrm>
            <a:off x="8518475" y="3209329"/>
            <a:ext cx="29971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333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开发轻量化部署插件；</a:t>
            </a:r>
            <a:endParaRPr lang="en-US" sz="1200" b="0" i="0" u="none" strike="noStrike" cap="none">
              <a:solidFill>
                <a:srgbClr val="333333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03" name="Google Shape;203;p16"/>
          <p:cNvSpPr txBox="1"/>
          <p:nvPr/>
        </p:nvSpPr>
        <p:spPr>
          <a:xfrm>
            <a:off x="8461325" y="3514129"/>
            <a:ext cx="571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333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•</a:t>
            </a:r>
            <a:endParaRPr lang="en-US" sz="1200" b="0" i="0" u="none" strike="noStrike" cap="none">
              <a:solidFill>
                <a:srgbClr val="333333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04" name="Google Shape;204;p16"/>
          <p:cNvSpPr txBox="1"/>
          <p:nvPr/>
        </p:nvSpPr>
        <p:spPr>
          <a:xfrm>
            <a:off x="8518475" y="3514129"/>
            <a:ext cx="29971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333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进行多中心联合前瞻性测试。</a:t>
            </a:r>
            <a:endParaRPr lang="en-US" sz="1200" b="0" i="0" u="none" strike="noStrike" cap="none">
              <a:solidFill>
                <a:srgbClr val="333333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pic>
        <p:nvPicPr>
          <p:cNvPr id="205" name="Google Shape;205;p16" descr="image.png"/>
          <p:cNvPicPr preferRelativeResize="0"/>
          <p:nvPr/>
        </p:nvPicPr>
        <p:blipFill rotWithShape="1">
          <a:blip r:embed="rId9"/>
          <a:srcRect/>
          <a:stretch>
            <a:fillRect/>
          </a:stretch>
        </p:blipFill>
        <p:spPr>
          <a:xfrm>
            <a:off x="9740800" y="4845992"/>
            <a:ext cx="36195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16"/>
          <p:cNvSpPr txBox="1"/>
          <p:nvPr/>
        </p:nvSpPr>
        <p:spPr>
          <a:xfrm>
            <a:off x="9455050" y="5226992"/>
            <a:ext cx="933450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6666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终端部署拓扑图</a:t>
            </a:r>
            <a:endParaRPr lang="en-US" sz="1050" b="0" i="0" u="none" strike="noStrike" cap="none">
              <a:solidFill>
                <a:srgbClr val="66666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517525" y="404495"/>
            <a:ext cx="1450975" cy="523240"/>
          </a:xfrm>
          <a:prstGeom prst="rect">
            <a:avLst/>
          </a:prstGeom>
          <a:solidFill>
            <a:srgbClr val="E5F2EB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80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14" name="Google Shape;166;p16"/>
          <p:cNvSpPr txBox="1"/>
          <p:nvPr/>
        </p:nvSpPr>
        <p:spPr>
          <a:xfrm>
            <a:off x="517475" y="471487"/>
            <a:ext cx="1450925" cy="430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b="1" i="0" u="none" strike="noStrike" cap="none">
                <a:solidFill>
                  <a:srgbClr val="358960"/>
                </a:solidFill>
                <a:latin typeface="Times New Roman" panose="02020603050405020304" charset="0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研究背景及现状</a:t>
            </a:r>
            <a:endParaRPr lang="zh-CN" altLang="en-US" b="1" i="0" u="none" strike="noStrike" cap="none">
              <a:solidFill>
                <a:srgbClr val="358960"/>
              </a:solidFill>
              <a:latin typeface="Times New Roman" panose="02020603050405020304" charset="0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zh-CN" altLang="en-US" b="1" i="0" u="none" strike="noStrike" cap="none">
              <a:solidFill>
                <a:srgbClr val="358960"/>
              </a:solidFill>
              <a:latin typeface="Times New Roman" panose="02020603050405020304" charset="0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5" name="Google Shape;167;p16"/>
          <p:cNvSpPr txBox="1"/>
          <p:nvPr/>
        </p:nvSpPr>
        <p:spPr>
          <a:xfrm>
            <a:off x="517475" y="671512"/>
            <a:ext cx="1450925" cy="2705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880" b="0" i="0" u="none" strike="noStrike" cap="none">
                <a:solidFill>
                  <a:srgbClr val="35896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Times New Roman" panose="02020603050405020304"/>
              </a:rPr>
              <a:t>Research Background</a:t>
            </a:r>
            <a:endParaRPr lang="en-US" altLang="zh-CN" sz="880" b="0" i="0" u="none" strike="noStrike" cap="none">
              <a:solidFill>
                <a:srgbClr val="358960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Times New Roman" panose="02020603050405020304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880" b="0" i="0" u="none" strike="noStrike" cap="none">
              <a:solidFill>
                <a:srgbClr val="358960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Times New Roman" panose="02020603050405020304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3711575" y="341630"/>
            <a:ext cx="1285875" cy="523240"/>
          </a:xfrm>
          <a:prstGeom prst="rect">
            <a:avLst/>
          </a:prstGeom>
          <a:solidFill>
            <a:srgbClr val="E5F2EB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80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5255260" y="341630"/>
            <a:ext cx="1430020" cy="523240"/>
          </a:xfrm>
          <a:prstGeom prst="rect">
            <a:avLst/>
          </a:prstGeom>
          <a:solidFill>
            <a:srgbClr val="E5F2EB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80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6863080" y="341630"/>
            <a:ext cx="1445895" cy="523240"/>
          </a:xfrm>
          <a:prstGeom prst="rect">
            <a:avLst/>
          </a:prstGeom>
          <a:solidFill>
            <a:srgbClr val="E5F2EB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80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8493760" y="341630"/>
            <a:ext cx="1424940" cy="523240"/>
          </a:xfrm>
          <a:prstGeom prst="rect">
            <a:avLst/>
          </a:prstGeom>
          <a:solidFill>
            <a:srgbClr val="E5F2EB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80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20" name="Google Shape;224;p17"/>
          <p:cNvSpPr txBox="1"/>
          <p:nvPr/>
        </p:nvSpPr>
        <p:spPr>
          <a:xfrm>
            <a:off x="5284321" y="471487"/>
            <a:ext cx="1450925" cy="215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>
                <a:solidFill>
                  <a:srgbClr val="358960"/>
                </a:solidFill>
                <a:latin typeface="Times New Roman" panose="02020603050405020304" charset="0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关键技术与创新</a:t>
            </a:r>
            <a:endParaRPr lang="en-US" b="1" i="0" u="none" strike="noStrike" cap="none">
              <a:solidFill>
                <a:srgbClr val="358960"/>
              </a:solidFill>
              <a:latin typeface="Times New Roman" panose="02020603050405020304" charset="0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21" name="Google Shape;225;p17"/>
          <p:cNvSpPr txBox="1"/>
          <p:nvPr/>
        </p:nvSpPr>
        <p:spPr>
          <a:xfrm>
            <a:off x="5304641" y="671512"/>
            <a:ext cx="1450925" cy="135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0" b="0" i="0" u="none" strike="noStrike" cap="none">
                <a:solidFill>
                  <a:srgbClr val="35896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Times New Roman" panose="02020603050405020304"/>
              </a:rPr>
              <a:t>Technologies</a:t>
            </a:r>
            <a:endParaRPr lang="en-US" sz="880" b="0" i="0" u="none" strike="noStrike" cap="none">
              <a:solidFill>
                <a:srgbClr val="358960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Times New Roman" panose="02020603050405020304"/>
            </a:endParaRPr>
          </a:p>
        </p:txBody>
      </p:sp>
      <p:sp>
        <p:nvSpPr>
          <p:cNvPr id="22" name="Google Shape;264;p18"/>
          <p:cNvSpPr txBox="1"/>
          <p:nvPr/>
        </p:nvSpPr>
        <p:spPr>
          <a:xfrm>
            <a:off x="3625750" y="441007"/>
            <a:ext cx="1450925" cy="215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>
                <a:solidFill>
                  <a:srgbClr val="358960"/>
                </a:solidFill>
                <a:latin typeface="Times New Roman" panose="02020603050405020304" charset="0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研究方法与思路</a:t>
            </a:r>
            <a:endParaRPr lang="en-US" b="1" i="0" u="none" strike="noStrike" cap="none">
              <a:solidFill>
                <a:srgbClr val="358960"/>
              </a:solidFill>
              <a:latin typeface="Times New Roman" panose="02020603050405020304" charset="0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23" name="Google Shape;265;p18"/>
          <p:cNvSpPr txBox="1"/>
          <p:nvPr/>
        </p:nvSpPr>
        <p:spPr>
          <a:xfrm>
            <a:off x="3625750" y="651192"/>
            <a:ext cx="1450925" cy="135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0" b="0" i="0" u="none" strike="noStrike" cap="none">
                <a:solidFill>
                  <a:srgbClr val="35896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Times New Roman" panose="02020603050405020304"/>
              </a:rPr>
              <a:t>Methods</a:t>
            </a:r>
            <a:endParaRPr lang="en-US" sz="880" b="0" i="0" u="none" strike="noStrike" cap="none">
              <a:solidFill>
                <a:srgbClr val="358960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Times New Roman" panose="02020603050405020304"/>
            </a:endParaRPr>
          </a:p>
        </p:txBody>
      </p:sp>
      <p:sp>
        <p:nvSpPr>
          <p:cNvPr id="24" name="Google Shape;306;p19"/>
          <p:cNvSpPr txBox="1"/>
          <p:nvPr/>
        </p:nvSpPr>
        <p:spPr>
          <a:xfrm>
            <a:off x="6918126" y="441007"/>
            <a:ext cx="1450925" cy="215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>
                <a:solidFill>
                  <a:srgbClr val="358960"/>
                </a:solidFill>
                <a:latin typeface="Times New Roman" panose="02020603050405020304" charset="0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已开展工作</a:t>
            </a:r>
            <a:endParaRPr lang="en-US" b="1" i="0" u="none" strike="noStrike" cap="none">
              <a:solidFill>
                <a:srgbClr val="358960"/>
              </a:solidFill>
              <a:latin typeface="Times New Roman" panose="02020603050405020304" charset="0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25" name="Google Shape;307;p19"/>
          <p:cNvSpPr txBox="1"/>
          <p:nvPr/>
        </p:nvSpPr>
        <p:spPr>
          <a:xfrm>
            <a:off x="6918126" y="641032"/>
            <a:ext cx="1450925" cy="135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0" b="0" i="0" u="none" strike="noStrike" cap="none">
                <a:solidFill>
                  <a:srgbClr val="35896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Times New Roman" panose="02020603050405020304"/>
              </a:rPr>
              <a:t>Work Carried Out</a:t>
            </a:r>
            <a:endParaRPr lang="en-US" sz="880" b="0" i="0" u="none" strike="noStrike" cap="none">
              <a:solidFill>
                <a:srgbClr val="358960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Times New Roman" panose="02020603050405020304"/>
            </a:endParaRPr>
          </a:p>
        </p:txBody>
      </p:sp>
      <p:sp>
        <p:nvSpPr>
          <p:cNvPr id="26" name="Google Shape;354;p21"/>
          <p:cNvSpPr txBox="1"/>
          <p:nvPr/>
        </p:nvSpPr>
        <p:spPr>
          <a:xfrm>
            <a:off x="8521451" y="441007"/>
            <a:ext cx="1450925" cy="215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>
                <a:solidFill>
                  <a:srgbClr val="358960"/>
                </a:solidFill>
                <a:latin typeface="Times New Roman" panose="02020603050405020304" charset="0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预期成果</a:t>
            </a:r>
            <a:endParaRPr lang="en-US" b="1" i="0" u="none" strike="noStrike" cap="none">
              <a:solidFill>
                <a:srgbClr val="358960"/>
              </a:solidFill>
              <a:latin typeface="Times New Roman" panose="02020603050405020304" charset="0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27" name="Google Shape;355;p21"/>
          <p:cNvSpPr txBox="1"/>
          <p:nvPr/>
        </p:nvSpPr>
        <p:spPr>
          <a:xfrm>
            <a:off x="8521451" y="641032"/>
            <a:ext cx="1450925" cy="135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0" b="0" i="0" u="none" strike="noStrike" cap="none">
                <a:solidFill>
                  <a:srgbClr val="35896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Times New Roman" panose="02020603050405020304"/>
              </a:rPr>
              <a:t>Outcomes</a:t>
            </a:r>
            <a:endParaRPr lang="en-US" sz="880" b="0" i="0" u="none" strike="noStrike" cap="none">
              <a:solidFill>
                <a:srgbClr val="358960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Times New Roman" panose="020206030504050203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2" name="Google Shape;252;p18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3682900" y="381000"/>
            <a:ext cx="1508075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" name="Google Shape;256;p18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0287000" y="404812"/>
            <a:ext cx="1428750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" name="Google Shape;257;p18" descr="image.png"/>
          <p:cNvPicPr preferRelativeResize="0"/>
          <p:nvPr>
            <p:custDataLst>
              <p:tags r:id="rId3"/>
            </p:custDataLst>
          </p:nvPr>
        </p:nvPicPr>
        <p:blipFill rotWithShape="1">
          <a:blip r:embed="rId4"/>
          <a:srcRect/>
          <a:stretch>
            <a:fillRect/>
          </a:stretch>
        </p:blipFill>
        <p:spPr>
          <a:xfrm>
            <a:off x="476250" y="4652962"/>
            <a:ext cx="1950690" cy="152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18" descr="image.png"/>
          <p:cNvPicPr preferRelativeResize="0"/>
          <p:nvPr>
            <p:custDataLst>
              <p:tags r:id="rId5"/>
            </p:custDataLst>
          </p:nvPr>
        </p:nvPicPr>
        <p:blipFill rotWithShape="1">
          <a:blip r:embed="rId6"/>
          <a:srcRect/>
          <a:stretch>
            <a:fillRect/>
          </a:stretch>
        </p:blipFill>
        <p:spPr>
          <a:xfrm>
            <a:off x="2798415" y="4652962"/>
            <a:ext cx="1950690" cy="152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p18" descr="image.png"/>
          <p:cNvPicPr preferRelativeResize="0"/>
          <p:nvPr>
            <p:custDataLst>
              <p:tags r:id="rId7"/>
            </p:custDataLst>
          </p:nvPr>
        </p:nvPicPr>
        <p:blipFill rotWithShape="1">
          <a:blip r:embed="rId8"/>
          <a:srcRect/>
          <a:stretch>
            <a:fillRect/>
          </a:stretch>
        </p:blipFill>
        <p:spPr>
          <a:xfrm>
            <a:off x="5120580" y="4652962"/>
            <a:ext cx="1950690" cy="152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18" descr="image.png"/>
          <p:cNvPicPr preferRelativeResize="0"/>
          <p:nvPr>
            <p:custDataLst>
              <p:tags r:id="rId9"/>
            </p:custDataLst>
          </p:nvPr>
        </p:nvPicPr>
        <p:blipFill rotWithShape="1">
          <a:blip r:embed="rId10"/>
          <a:srcRect/>
          <a:stretch>
            <a:fillRect/>
          </a:stretch>
        </p:blipFill>
        <p:spPr>
          <a:xfrm>
            <a:off x="7442745" y="4652962"/>
            <a:ext cx="1950690" cy="152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18" descr="image.png"/>
          <p:cNvPicPr preferRelativeResize="0"/>
          <p:nvPr>
            <p:custDataLst>
              <p:tags r:id="rId11"/>
            </p:custDataLst>
          </p:nvPr>
        </p:nvPicPr>
        <p:blipFill rotWithShape="1">
          <a:blip r:embed="rId12"/>
          <a:srcRect/>
          <a:stretch>
            <a:fillRect/>
          </a:stretch>
        </p:blipFill>
        <p:spPr>
          <a:xfrm>
            <a:off x="9764910" y="4652962"/>
            <a:ext cx="1950690" cy="1524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18"/>
          <p:cNvSpPr txBox="1"/>
          <p:nvPr/>
        </p:nvSpPr>
        <p:spPr>
          <a:xfrm>
            <a:off x="723900" y="1095375"/>
            <a:ext cx="109918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整体研究思路与路线</a:t>
            </a:r>
            <a:endParaRPr lang="en-US" sz="1800" b="1" i="0" u="none" strike="noStrike" cap="none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pic>
        <p:nvPicPr>
          <p:cNvPr id="263" name="Google Shape;263;p18" descr="image.png"/>
          <p:cNvPicPr preferRelativeResize="0"/>
          <p:nvPr/>
        </p:nvPicPr>
        <p:blipFill rotWithShape="1">
          <a:blip r:embed="rId13"/>
          <a:srcRect/>
          <a:stretch>
            <a:fillRect/>
          </a:stretch>
        </p:blipFill>
        <p:spPr>
          <a:xfrm>
            <a:off x="476250" y="1162050"/>
            <a:ext cx="1333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18"/>
          <p:cNvSpPr txBox="1"/>
          <p:nvPr/>
        </p:nvSpPr>
        <p:spPr>
          <a:xfrm>
            <a:off x="3711475" y="471487"/>
            <a:ext cx="1450925" cy="215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研究方法与思路</a:t>
            </a:r>
            <a:endParaRPr lang="en-US" b="1" i="0" u="none" strike="noStrike" cap="non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265" name="Google Shape;265;p18"/>
          <p:cNvSpPr txBox="1"/>
          <p:nvPr/>
        </p:nvSpPr>
        <p:spPr>
          <a:xfrm>
            <a:off x="3711475" y="671512"/>
            <a:ext cx="1450925" cy="135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0" b="1" i="0" u="none" strike="noStrike" cap="none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Methods</a:t>
            </a:r>
            <a:endParaRPr lang="en-US" sz="880" b="1" i="0" u="none" strike="noStrike" cap="none">
              <a:solidFill>
                <a:srgbClr val="FFFFF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pic>
        <p:nvPicPr>
          <p:cNvPr id="266" name="Google Shape;266;p18" descr="image.png"/>
          <p:cNvPicPr preferRelativeResize="0"/>
          <p:nvPr/>
        </p:nvPicPr>
        <p:blipFill rotWithShape="1">
          <a:blip r:embed="rId14"/>
          <a:srcRect/>
          <a:stretch>
            <a:fillRect/>
          </a:stretch>
        </p:blipFill>
        <p:spPr>
          <a:xfrm>
            <a:off x="5934075" y="2805112"/>
            <a:ext cx="32385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18"/>
          <p:cNvSpPr txBox="1"/>
          <p:nvPr/>
        </p:nvSpPr>
        <p:spPr>
          <a:xfrm>
            <a:off x="4964459" y="3186112"/>
            <a:ext cx="226308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6666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此处插入研究技术路线总图 (Flowchart)</a:t>
            </a:r>
            <a:endParaRPr lang="en-US" sz="1050" b="0" i="0" u="none" strike="noStrike" cap="none">
              <a:solidFill>
                <a:srgbClr val="66666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68" name="Google Shape;268;p18"/>
          <p:cNvSpPr/>
          <p:nvPr>
            <p:custDataLst>
              <p:tags r:id="rId15"/>
            </p:custDataLst>
          </p:nvPr>
        </p:nvSpPr>
        <p:spPr>
          <a:xfrm>
            <a:off x="495300" y="4672012"/>
            <a:ext cx="1912590" cy="390525"/>
          </a:xfrm>
          <a:prstGeom prst="rect">
            <a:avLst/>
          </a:prstGeom>
          <a:solidFill>
            <a:srgbClr val="1B7A4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69" name="Google Shape;269;p18"/>
          <p:cNvSpPr txBox="1"/>
          <p:nvPr>
            <p:custDataLst>
              <p:tags r:id="rId16"/>
            </p:custDataLst>
          </p:nvPr>
        </p:nvSpPr>
        <p:spPr>
          <a:xfrm>
            <a:off x="495300" y="4767262"/>
            <a:ext cx="191259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STEP 1</a:t>
            </a:r>
            <a:endParaRPr lang="en-US" sz="1350" b="1" i="0" u="none" strike="noStrike" cap="none">
              <a:solidFill>
                <a:srgbClr val="FFFFF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70" name="Google Shape;270;p18"/>
          <p:cNvSpPr txBox="1"/>
          <p:nvPr>
            <p:custDataLst>
              <p:tags r:id="rId17"/>
            </p:custDataLst>
          </p:nvPr>
        </p:nvSpPr>
        <p:spPr>
          <a:xfrm>
            <a:off x="638175" y="5205412"/>
            <a:ext cx="1626840" cy="809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33333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梳理科学问题与临床需求</a:t>
            </a:r>
            <a:endParaRPr lang="en-US" sz="1125" b="0" i="0" u="none" strike="noStrike" cap="none">
              <a:solidFill>
                <a:srgbClr val="333333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pic>
        <p:nvPicPr>
          <p:cNvPr id="271" name="Google Shape;271;p18" descr="image.png"/>
          <p:cNvPicPr preferRelativeResize="0"/>
          <p:nvPr>
            <p:custDataLst>
              <p:tags r:id="rId18"/>
            </p:custDataLst>
          </p:nvPr>
        </p:nvPicPr>
        <p:blipFill rotWithShape="1">
          <a:blip r:embed="rId19"/>
          <a:srcRect/>
          <a:stretch>
            <a:fillRect/>
          </a:stretch>
        </p:blipFill>
        <p:spPr>
          <a:xfrm>
            <a:off x="2522190" y="5272087"/>
            <a:ext cx="180975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18"/>
          <p:cNvSpPr/>
          <p:nvPr>
            <p:custDataLst>
              <p:tags r:id="rId20"/>
            </p:custDataLst>
          </p:nvPr>
        </p:nvSpPr>
        <p:spPr>
          <a:xfrm>
            <a:off x="2817465" y="4672012"/>
            <a:ext cx="1912590" cy="390525"/>
          </a:xfrm>
          <a:prstGeom prst="rect">
            <a:avLst/>
          </a:prstGeom>
          <a:solidFill>
            <a:srgbClr val="1B7A4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73" name="Google Shape;273;p18"/>
          <p:cNvSpPr txBox="1"/>
          <p:nvPr>
            <p:custDataLst>
              <p:tags r:id="rId21"/>
            </p:custDataLst>
          </p:nvPr>
        </p:nvSpPr>
        <p:spPr>
          <a:xfrm>
            <a:off x="2817465" y="4767262"/>
            <a:ext cx="191259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STEP 2</a:t>
            </a:r>
            <a:endParaRPr lang="en-US" sz="1350" b="1" i="0" u="none" strike="noStrike" cap="none">
              <a:solidFill>
                <a:srgbClr val="FFFFF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74" name="Google Shape;274;p18"/>
          <p:cNvSpPr txBox="1"/>
          <p:nvPr>
            <p:custDataLst>
              <p:tags r:id="rId22"/>
            </p:custDataLst>
          </p:nvPr>
        </p:nvSpPr>
        <p:spPr>
          <a:xfrm>
            <a:off x="2960340" y="5205412"/>
            <a:ext cx="1626840" cy="809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33333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构建多模态异构数据集</a:t>
            </a:r>
            <a:endParaRPr lang="en-US" sz="1125" b="0" i="0" u="none" strike="noStrike" cap="none">
              <a:solidFill>
                <a:srgbClr val="333333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pic>
        <p:nvPicPr>
          <p:cNvPr id="275" name="Google Shape;275;p18" descr="image.png"/>
          <p:cNvPicPr preferRelativeResize="0"/>
          <p:nvPr>
            <p:custDataLst>
              <p:tags r:id="rId23"/>
            </p:custDataLst>
          </p:nvPr>
        </p:nvPicPr>
        <p:blipFill rotWithShape="1">
          <a:blip r:embed="rId19"/>
          <a:srcRect/>
          <a:stretch>
            <a:fillRect/>
          </a:stretch>
        </p:blipFill>
        <p:spPr>
          <a:xfrm>
            <a:off x="4844355" y="5272087"/>
            <a:ext cx="180975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18"/>
          <p:cNvSpPr/>
          <p:nvPr>
            <p:custDataLst>
              <p:tags r:id="rId24"/>
            </p:custDataLst>
          </p:nvPr>
        </p:nvSpPr>
        <p:spPr>
          <a:xfrm>
            <a:off x="5139630" y="4672012"/>
            <a:ext cx="1912590" cy="390525"/>
          </a:xfrm>
          <a:prstGeom prst="rect">
            <a:avLst/>
          </a:prstGeom>
          <a:solidFill>
            <a:srgbClr val="1B7A4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77" name="Google Shape;277;p18"/>
          <p:cNvSpPr txBox="1"/>
          <p:nvPr>
            <p:custDataLst>
              <p:tags r:id="rId25"/>
            </p:custDataLst>
          </p:nvPr>
        </p:nvSpPr>
        <p:spPr>
          <a:xfrm>
            <a:off x="5139630" y="4767262"/>
            <a:ext cx="191259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STEP 3</a:t>
            </a:r>
            <a:endParaRPr lang="en-US" sz="1350" b="1" i="0" u="none" strike="noStrike" cap="none">
              <a:solidFill>
                <a:srgbClr val="FFFFF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78" name="Google Shape;278;p18"/>
          <p:cNvSpPr txBox="1"/>
          <p:nvPr>
            <p:custDataLst>
              <p:tags r:id="rId26"/>
            </p:custDataLst>
          </p:nvPr>
        </p:nvSpPr>
        <p:spPr>
          <a:xfrm>
            <a:off x="5282505" y="5205412"/>
            <a:ext cx="1626840" cy="809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33333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研发预测算法与模型优化</a:t>
            </a:r>
            <a:endParaRPr lang="en-US" sz="1125" b="0" i="0" u="none" strike="noStrike" cap="none">
              <a:solidFill>
                <a:srgbClr val="333333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pic>
        <p:nvPicPr>
          <p:cNvPr id="279" name="Google Shape;279;p18" descr="image.png"/>
          <p:cNvPicPr preferRelativeResize="0"/>
          <p:nvPr>
            <p:custDataLst>
              <p:tags r:id="rId27"/>
            </p:custDataLst>
          </p:nvPr>
        </p:nvPicPr>
        <p:blipFill rotWithShape="1">
          <a:blip r:embed="rId28"/>
          <a:srcRect/>
          <a:stretch>
            <a:fillRect/>
          </a:stretch>
        </p:blipFill>
        <p:spPr>
          <a:xfrm>
            <a:off x="7166520" y="5272087"/>
            <a:ext cx="180975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18"/>
          <p:cNvSpPr/>
          <p:nvPr>
            <p:custDataLst>
              <p:tags r:id="rId29"/>
            </p:custDataLst>
          </p:nvPr>
        </p:nvSpPr>
        <p:spPr>
          <a:xfrm>
            <a:off x="7461795" y="4672012"/>
            <a:ext cx="1912590" cy="390525"/>
          </a:xfrm>
          <a:prstGeom prst="rect">
            <a:avLst/>
          </a:prstGeom>
          <a:solidFill>
            <a:srgbClr val="1B7A4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81" name="Google Shape;281;p18"/>
          <p:cNvSpPr txBox="1"/>
          <p:nvPr>
            <p:custDataLst>
              <p:tags r:id="rId30"/>
            </p:custDataLst>
          </p:nvPr>
        </p:nvSpPr>
        <p:spPr>
          <a:xfrm>
            <a:off x="7461795" y="4767262"/>
            <a:ext cx="191259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STEP 4</a:t>
            </a:r>
            <a:endParaRPr lang="en-US" sz="1350" b="1" i="0" u="none" strike="noStrike" cap="none">
              <a:solidFill>
                <a:srgbClr val="FFFFF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82" name="Google Shape;282;p18"/>
          <p:cNvSpPr txBox="1"/>
          <p:nvPr>
            <p:custDataLst>
              <p:tags r:id="rId31"/>
            </p:custDataLst>
          </p:nvPr>
        </p:nvSpPr>
        <p:spPr>
          <a:xfrm>
            <a:off x="7604670" y="5205412"/>
            <a:ext cx="1626840" cy="809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33333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体外细胞与动物模型验证</a:t>
            </a:r>
            <a:endParaRPr lang="en-US" sz="1125" b="0" i="0" u="none" strike="noStrike" cap="none">
              <a:solidFill>
                <a:srgbClr val="333333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pic>
        <p:nvPicPr>
          <p:cNvPr id="283" name="Google Shape;283;p18" descr="image.png"/>
          <p:cNvPicPr preferRelativeResize="0"/>
          <p:nvPr>
            <p:custDataLst>
              <p:tags r:id="rId32"/>
            </p:custDataLst>
          </p:nvPr>
        </p:nvPicPr>
        <p:blipFill rotWithShape="1">
          <a:blip r:embed="rId28"/>
          <a:srcRect/>
          <a:stretch>
            <a:fillRect/>
          </a:stretch>
        </p:blipFill>
        <p:spPr>
          <a:xfrm>
            <a:off x="9488685" y="5272087"/>
            <a:ext cx="180975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18"/>
          <p:cNvSpPr/>
          <p:nvPr>
            <p:custDataLst>
              <p:tags r:id="rId33"/>
            </p:custDataLst>
          </p:nvPr>
        </p:nvSpPr>
        <p:spPr>
          <a:xfrm>
            <a:off x="9783960" y="4672012"/>
            <a:ext cx="1912590" cy="390525"/>
          </a:xfrm>
          <a:prstGeom prst="rect">
            <a:avLst/>
          </a:prstGeom>
          <a:solidFill>
            <a:srgbClr val="1B7A4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85" name="Google Shape;285;p18"/>
          <p:cNvSpPr txBox="1"/>
          <p:nvPr>
            <p:custDataLst>
              <p:tags r:id="rId34"/>
            </p:custDataLst>
          </p:nvPr>
        </p:nvSpPr>
        <p:spPr>
          <a:xfrm>
            <a:off x="9783960" y="4767262"/>
            <a:ext cx="191259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STEP 5</a:t>
            </a:r>
            <a:endParaRPr lang="en-US" sz="1350" b="1" i="0" u="none" strike="noStrike" cap="none">
              <a:solidFill>
                <a:srgbClr val="FFFFF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86" name="Google Shape;286;p18"/>
          <p:cNvSpPr txBox="1"/>
          <p:nvPr>
            <p:custDataLst>
              <p:tags r:id="rId35"/>
            </p:custDataLst>
          </p:nvPr>
        </p:nvSpPr>
        <p:spPr>
          <a:xfrm>
            <a:off x="9926835" y="5205412"/>
            <a:ext cx="1626840" cy="809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33333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临床多中心前瞻性测试</a:t>
            </a:r>
            <a:endParaRPr lang="en-US" sz="1125" b="0" i="0" u="none" strike="noStrike" cap="none">
              <a:solidFill>
                <a:srgbClr val="333333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5255260" y="372110"/>
            <a:ext cx="1430020" cy="523240"/>
          </a:xfrm>
          <a:prstGeom prst="rect">
            <a:avLst/>
          </a:prstGeom>
          <a:solidFill>
            <a:srgbClr val="E5F2EB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80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6863080" y="372110"/>
            <a:ext cx="1445895" cy="523240"/>
          </a:xfrm>
          <a:prstGeom prst="rect">
            <a:avLst/>
          </a:prstGeom>
          <a:solidFill>
            <a:srgbClr val="E5F2EB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80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8493760" y="372110"/>
            <a:ext cx="1424940" cy="523240"/>
          </a:xfrm>
          <a:prstGeom prst="rect">
            <a:avLst/>
          </a:prstGeom>
          <a:solidFill>
            <a:srgbClr val="E5F2EB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80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16" name="Google Shape;224;p17"/>
          <p:cNvSpPr txBox="1"/>
          <p:nvPr/>
        </p:nvSpPr>
        <p:spPr>
          <a:xfrm>
            <a:off x="5284321" y="501967"/>
            <a:ext cx="1450925" cy="215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>
                <a:solidFill>
                  <a:srgbClr val="358960"/>
                </a:solidFill>
                <a:latin typeface="Times New Roman" panose="02020603050405020304" charset="0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关键技术与创新</a:t>
            </a:r>
            <a:endParaRPr lang="en-US" b="1" i="0" u="none" strike="noStrike" cap="none">
              <a:solidFill>
                <a:srgbClr val="358960"/>
              </a:solidFill>
              <a:latin typeface="Times New Roman" panose="02020603050405020304" charset="0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7" name="Google Shape;225;p17"/>
          <p:cNvSpPr txBox="1"/>
          <p:nvPr/>
        </p:nvSpPr>
        <p:spPr>
          <a:xfrm>
            <a:off x="5304641" y="701992"/>
            <a:ext cx="1450925" cy="135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0" b="0" i="0" u="none" strike="noStrike" cap="none">
                <a:solidFill>
                  <a:srgbClr val="35896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Times New Roman" panose="02020603050405020304"/>
              </a:rPr>
              <a:t>Technologies</a:t>
            </a:r>
            <a:endParaRPr lang="en-US" sz="880" b="0" i="0" u="none" strike="noStrike" cap="none">
              <a:solidFill>
                <a:srgbClr val="358960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Times New Roman" panose="02020603050405020304"/>
            </a:endParaRPr>
          </a:p>
        </p:txBody>
      </p:sp>
      <p:sp>
        <p:nvSpPr>
          <p:cNvPr id="20" name="Google Shape;306;p19"/>
          <p:cNvSpPr txBox="1"/>
          <p:nvPr/>
        </p:nvSpPr>
        <p:spPr>
          <a:xfrm>
            <a:off x="6918126" y="471487"/>
            <a:ext cx="1450925" cy="215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>
                <a:solidFill>
                  <a:srgbClr val="358960"/>
                </a:solidFill>
                <a:latin typeface="Times New Roman" panose="02020603050405020304" charset="0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已开展工作</a:t>
            </a:r>
            <a:endParaRPr lang="en-US" b="1" i="0" u="none" strike="noStrike" cap="none">
              <a:solidFill>
                <a:srgbClr val="358960"/>
              </a:solidFill>
              <a:latin typeface="Times New Roman" panose="02020603050405020304" charset="0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21" name="Google Shape;307;p19"/>
          <p:cNvSpPr txBox="1"/>
          <p:nvPr/>
        </p:nvSpPr>
        <p:spPr>
          <a:xfrm>
            <a:off x="6918126" y="671512"/>
            <a:ext cx="1450925" cy="135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0" b="0" i="0" u="none" strike="noStrike" cap="none">
                <a:solidFill>
                  <a:srgbClr val="35896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Times New Roman" panose="02020603050405020304"/>
              </a:rPr>
              <a:t>Work Carried Out</a:t>
            </a:r>
            <a:endParaRPr lang="en-US" sz="880" b="0" i="0" u="none" strike="noStrike" cap="none">
              <a:solidFill>
                <a:srgbClr val="358960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Times New Roman" panose="02020603050405020304"/>
            </a:endParaRPr>
          </a:p>
        </p:txBody>
      </p:sp>
      <p:sp>
        <p:nvSpPr>
          <p:cNvPr id="22" name="Google Shape;354;p21"/>
          <p:cNvSpPr txBox="1"/>
          <p:nvPr/>
        </p:nvSpPr>
        <p:spPr>
          <a:xfrm>
            <a:off x="8521451" y="471487"/>
            <a:ext cx="1450925" cy="215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>
                <a:solidFill>
                  <a:srgbClr val="358960"/>
                </a:solidFill>
                <a:latin typeface="Times New Roman" panose="02020603050405020304" charset="0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预期成果</a:t>
            </a:r>
            <a:endParaRPr lang="en-US" b="1" i="0" u="none" strike="noStrike" cap="none">
              <a:solidFill>
                <a:srgbClr val="358960"/>
              </a:solidFill>
              <a:latin typeface="Times New Roman" panose="02020603050405020304" charset="0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23" name="Google Shape;355;p21"/>
          <p:cNvSpPr txBox="1"/>
          <p:nvPr/>
        </p:nvSpPr>
        <p:spPr>
          <a:xfrm>
            <a:off x="8521451" y="671512"/>
            <a:ext cx="1450925" cy="135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0" b="0" i="0" u="none" strike="noStrike" cap="none">
                <a:solidFill>
                  <a:srgbClr val="35896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Times New Roman" panose="02020603050405020304"/>
              </a:rPr>
              <a:t>Outcomes</a:t>
            </a:r>
            <a:endParaRPr lang="en-US" sz="880" b="0" i="0" u="none" strike="noStrike" cap="none">
              <a:solidFill>
                <a:srgbClr val="358960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Times New Roman" panose="02020603050405020304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2079625" y="372110"/>
            <a:ext cx="1479550" cy="523240"/>
          </a:xfrm>
          <a:prstGeom prst="rect">
            <a:avLst/>
          </a:prstGeom>
          <a:solidFill>
            <a:srgbClr val="E5F2EB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80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166" name="Google Shape;166;p16"/>
          <p:cNvSpPr txBox="1"/>
          <p:nvPr/>
        </p:nvSpPr>
        <p:spPr>
          <a:xfrm>
            <a:off x="2079575" y="484187"/>
            <a:ext cx="1450925" cy="215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>
                <a:solidFill>
                  <a:srgbClr val="358960"/>
                </a:solidFill>
                <a:latin typeface="Times New Roman" panose="02020603050405020304" charset="0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研究目标和内容</a:t>
            </a:r>
            <a:endParaRPr lang="en-US" b="1" i="0" u="none" strike="noStrike" cap="none">
              <a:solidFill>
                <a:srgbClr val="358960"/>
              </a:solidFill>
              <a:latin typeface="Times New Roman" panose="02020603050405020304" charset="0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67" name="Google Shape;167;p16"/>
          <p:cNvSpPr txBox="1"/>
          <p:nvPr/>
        </p:nvSpPr>
        <p:spPr>
          <a:xfrm>
            <a:off x="2108150" y="682942"/>
            <a:ext cx="1450925" cy="135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0" b="0" i="0" u="none" strike="noStrike" cap="none">
                <a:solidFill>
                  <a:srgbClr val="35896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Times New Roman" panose="02020603050405020304"/>
              </a:rPr>
              <a:t>Objectives</a:t>
            </a:r>
            <a:endParaRPr lang="en-US" sz="880" b="0" i="0" u="none" strike="noStrike" cap="none">
              <a:solidFill>
                <a:srgbClr val="358960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Times New Roman" panose="02020603050405020304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517525" y="404495"/>
            <a:ext cx="1450975" cy="523240"/>
          </a:xfrm>
          <a:prstGeom prst="rect">
            <a:avLst/>
          </a:prstGeom>
          <a:solidFill>
            <a:srgbClr val="E5F2EB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80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1" name="Google Shape;166;p16"/>
          <p:cNvSpPr txBox="1"/>
          <p:nvPr/>
        </p:nvSpPr>
        <p:spPr>
          <a:xfrm>
            <a:off x="517475" y="471487"/>
            <a:ext cx="1450925" cy="430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b="1" i="0" u="none" strike="noStrike" cap="none">
                <a:solidFill>
                  <a:srgbClr val="358960"/>
                </a:solidFill>
                <a:latin typeface="Times New Roman" panose="02020603050405020304" charset="0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研究背景及现状</a:t>
            </a:r>
            <a:endParaRPr lang="zh-CN" altLang="en-US" b="1" i="0" u="none" strike="noStrike" cap="none">
              <a:solidFill>
                <a:srgbClr val="358960"/>
              </a:solidFill>
              <a:latin typeface="Times New Roman" panose="02020603050405020304" charset="0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zh-CN" altLang="en-US" b="1" i="0" u="none" strike="noStrike" cap="none">
              <a:solidFill>
                <a:srgbClr val="358960"/>
              </a:solidFill>
              <a:latin typeface="Times New Roman" panose="02020603050405020304" charset="0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3" name="Google Shape;167;p16"/>
          <p:cNvSpPr txBox="1"/>
          <p:nvPr/>
        </p:nvSpPr>
        <p:spPr>
          <a:xfrm>
            <a:off x="517475" y="671512"/>
            <a:ext cx="1450925" cy="2705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880" b="0" i="0" u="none" strike="noStrike" cap="none">
                <a:solidFill>
                  <a:srgbClr val="35896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Times New Roman" panose="02020603050405020304"/>
              </a:rPr>
              <a:t>Research Background</a:t>
            </a:r>
            <a:endParaRPr lang="en-US" altLang="zh-CN" sz="880" b="0" i="0" u="none" strike="noStrike" cap="none">
              <a:solidFill>
                <a:srgbClr val="358960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Times New Roman" panose="02020603050405020304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880" b="0" i="0" u="none" strike="noStrike" cap="none">
              <a:solidFill>
                <a:srgbClr val="358960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Times New Roman" panose="020206030504050203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4" name="Google Shape;214;p17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5286226" y="381000"/>
            <a:ext cx="1508075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17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0287000" y="404812"/>
            <a:ext cx="1428750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17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476250" y="1590675"/>
            <a:ext cx="2667000" cy="4886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17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3333750" y="1590675"/>
            <a:ext cx="2667000" cy="4886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17" descr="image.png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6191250" y="1590675"/>
            <a:ext cx="2667000" cy="4886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17" descr="image.png"/>
          <p:cNvPicPr preferRelativeResize="0"/>
          <p:nvPr/>
        </p:nvPicPr>
        <p:blipFill rotWithShape="1">
          <a:blip r:embed="rId6"/>
          <a:srcRect/>
          <a:stretch>
            <a:fillRect/>
          </a:stretch>
        </p:blipFill>
        <p:spPr>
          <a:xfrm>
            <a:off x="9048750" y="1590675"/>
            <a:ext cx="2667000" cy="4886325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17"/>
          <p:cNvSpPr txBox="1"/>
          <p:nvPr/>
        </p:nvSpPr>
        <p:spPr>
          <a:xfrm>
            <a:off x="723900" y="1095375"/>
            <a:ext cx="109918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关键技术突破点</a:t>
            </a:r>
            <a:endParaRPr lang="en-US" sz="1800" b="1" i="0" u="none" strike="noStrike" cap="none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pic>
        <p:nvPicPr>
          <p:cNvPr id="223" name="Google Shape;223;p17" descr="image.png"/>
          <p:cNvPicPr preferRelativeResize="0"/>
          <p:nvPr/>
        </p:nvPicPr>
        <p:blipFill rotWithShape="1">
          <a:blip r:embed="rId7"/>
          <a:srcRect/>
          <a:stretch>
            <a:fillRect/>
          </a:stretch>
        </p:blipFill>
        <p:spPr>
          <a:xfrm>
            <a:off x="476250" y="1162050"/>
            <a:ext cx="1333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17"/>
          <p:cNvSpPr txBox="1"/>
          <p:nvPr/>
        </p:nvSpPr>
        <p:spPr>
          <a:xfrm>
            <a:off x="5314801" y="471487"/>
            <a:ext cx="1450925" cy="215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关键技术与创新</a:t>
            </a:r>
            <a:endParaRPr lang="en-US" b="1" i="0" u="none" strike="noStrike" cap="non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225" name="Google Shape;225;p17"/>
          <p:cNvSpPr txBox="1"/>
          <p:nvPr/>
        </p:nvSpPr>
        <p:spPr>
          <a:xfrm>
            <a:off x="5314801" y="671512"/>
            <a:ext cx="1450925" cy="135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0" b="0" i="0" u="none" strike="noStrike" cap="none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Technologies</a:t>
            </a:r>
            <a:endParaRPr lang="en-US" sz="880" b="0" i="0" u="none" strike="noStrike" cap="none">
              <a:solidFill>
                <a:srgbClr val="FFFFF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26" name="Google Shape;226;p17"/>
          <p:cNvSpPr/>
          <p:nvPr/>
        </p:nvSpPr>
        <p:spPr>
          <a:xfrm>
            <a:off x="485775" y="1600200"/>
            <a:ext cx="2647950" cy="381000"/>
          </a:xfrm>
          <a:prstGeom prst="rect">
            <a:avLst/>
          </a:prstGeom>
          <a:solidFill>
            <a:srgbClr val="1B7A4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27" name="Google Shape;227;p17"/>
          <p:cNvSpPr txBox="1"/>
          <p:nvPr/>
        </p:nvSpPr>
        <p:spPr>
          <a:xfrm>
            <a:off x="485775" y="1676400"/>
            <a:ext cx="26479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突破点一</a:t>
            </a:r>
            <a:endParaRPr lang="en-US" sz="1350" b="1" i="0" u="none" strike="noStrike" cap="non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228" name="Google Shape;228;p17"/>
          <p:cNvSpPr/>
          <p:nvPr/>
        </p:nvSpPr>
        <p:spPr>
          <a:xfrm>
            <a:off x="3343275" y="1600200"/>
            <a:ext cx="2647950" cy="381000"/>
          </a:xfrm>
          <a:prstGeom prst="rect">
            <a:avLst/>
          </a:prstGeom>
          <a:solidFill>
            <a:srgbClr val="1B7A4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29" name="Google Shape;229;p17"/>
          <p:cNvSpPr txBox="1"/>
          <p:nvPr/>
        </p:nvSpPr>
        <p:spPr>
          <a:xfrm>
            <a:off x="3343275" y="1676400"/>
            <a:ext cx="26479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突破点二</a:t>
            </a:r>
            <a:endParaRPr lang="en-US" sz="1350" b="1" i="0" u="none" strike="noStrike" cap="non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230" name="Google Shape;230;p17"/>
          <p:cNvSpPr/>
          <p:nvPr/>
        </p:nvSpPr>
        <p:spPr>
          <a:xfrm>
            <a:off x="6200775" y="1600200"/>
            <a:ext cx="2647950" cy="381000"/>
          </a:xfrm>
          <a:prstGeom prst="rect">
            <a:avLst/>
          </a:prstGeom>
          <a:solidFill>
            <a:srgbClr val="1B7A4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31" name="Google Shape;231;p17"/>
          <p:cNvSpPr txBox="1"/>
          <p:nvPr/>
        </p:nvSpPr>
        <p:spPr>
          <a:xfrm>
            <a:off x="6200775" y="1676400"/>
            <a:ext cx="26479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突破点三</a:t>
            </a:r>
            <a:endParaRPr lang="en-US" sz="1350" b="1" i="0" u="none" strike="noStrike" cap="non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232" name="Google Shape;232;p17"/>
          <p:cNvSpPr/>
          <p:nvPr/>
        </p:nvSpPr>
        <p:spPr>
          <a:xfrm>
            <a:off x="9058275" y="1600200"/>
            <a:ext cx="2647950" cy="381000"/>
          </a:xfrm>
          <a:prstGeom prst="rect">
            <a:avLst/>
          </a:prstGeom>
          <a:solidFill>
            <a:srgbClr val="1B7A4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33" name="Google Shape;233;p17"/>
          <p:cNvSpPr txBox="1"/>
          <p:nvPr/>
        </p:nvSpPr>
        <p:spPr>
          <a:xfrm>
            <a:off x="9058275" y="1676400"/>
            <a:ext cx="26479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突破点四</a:t>
            </a:r>
            <a:endParaRPr lang="en-US" sz="1350" b="1" i="0" u="none" strike="noStrike" cap="non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pic>
        <p:nvPicPr>
          <p:cNvPr id="234" name="Google Shape;234;p17" descr="image.png"/>
          <p:cNvPicPr preferRelativeResize="0"/>
          <p:nvPr/>
        </p:nvPicPr>
        <p:blipFill rotWithShape="1">
          <a:blip r:embed="rId8"/>
          <a:srcRect/>
          <a:stretch>
            <a:fillRect/>
          </a:stretch>
        </p:blipFill>
        <p:spPr>
          <a:xfrm>
            <a:off x="676275" y="2314575"/>
            <a:ext cx="22669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17"/>
          <p:cNvSpPr txBox="1"/>
          <p:nvPr/>
        </p:nvSpPr>
        <p:spPr>
          <a:xfrm>
            <a:off x="619601" y="2838450"/>
            <a:ext cx="2380297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33333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多组学数据对齐</a:t>
            </a:r>
            <a:endParaRPr lang="en-US" sz="1200" b="1" i="0" u="none" strike="noStrike" cap="none">
              <a:solidFill>
                <a:srgbClr val="333333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36" name="Google Shape;236;p17"/>
          <p:cNvSpPr txBox="1"/>
          <p:nvPr/>
        </p:nvSpPr>
        <p:spPr>
          <a:xfrm>
            <a:off x="676275" y="3225105"/>
            <a:ext cx="2266950" cy="639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555555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利用图注意力网络解决临床文本、影像及组学数据在时间维度上的不对齐问题，提升特征表达。</a:t>
            </a:r>
            <a:endParaRPr lang="en-US" sz="1050" b="0" i="0" u="none" strike="noStrike" cap="none">
              <a:solidFill>
                <a:srgbClr val="555555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pic>
        <p:nvPicPr>
          <p:cNvPr id="237" name="Google Shape;237;p17" descr="image.png"/>
          <p:cNvPicPr preferRelativeResize="0"/>
          <p:nvPr/>
        </p:nvPicPr>
        <p:blipFill rotWithShape="1">
          <a:blip r:embed="rId9"/>
          <a:srcRect/>
          <a:stretch>
            <a:fillRect/>
          </a:stretch>
        </p:blipFill>
        <p:spPr>
          <a:xfrm>
            <a:off x="3533775" y="2314575"/>
            <a:ext cx="22669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17"/>
          <p:cNvSpPr txBox="1"/>
          <p:nvPr/>
        </p:nvSpPr>
        <p:spPr>
          <a:xfrm>
            <a:off x="3477101" y="2838450"/>
            <a:ext cx="2380297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33333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靶向基因编辑验证</a:t>
            </a:r>
            <a:endParaRPr lang="en-US" sz="1200" b="1" i="0" u="none" strike="noStrike" cap="none">
              <a:solidFill>
                <a:srgbClr val="333333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39" name="Google Shape;239;p17"/>
          <p:cNvSpPr txBox="1"/>
          <p:nvPr/>
        </p:nvSpPr>
        <p:spPr>
          <a:xfrm>
            <a:off x="3533775" y="3225105"/>
            <a:ext cx="2266950" cy="639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555555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通过CRISPR/Cas9构建基因敲除模型，在细胞层面验证预测模型的分子标志物，形成计算与实验闭环。</a:t>
            </a:r>
            <a:endParaRPr lang="en-US" sz="1050" b="0" i="0" u="none" strike="noStrike" cap="none">
              <a:solidFill>
                <a:srgbClr val="555555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pic>
        <p:nvPicPr>
          <p:cNvPr id="240" name="Google Shape;240;p17" descr="image.png"/>
          <p:cNvPicPr preferRelativeResize="0"/>
          <p:nvPr/>
        </p:nvPicPr>
        <p:blipFill rotWithShape="1">
          <a:blip r:embed="rId10"/>
          <a:srcRect/>
          <a:stretch>
            <a:fillRect/>
          </a:stretch>
        </p:blipFill>
        <p:spPr>
          <a:xfrm>
            <a:off x="6391275" y="2314575"/>
            <a:ext cx="22669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17"/>
          <p:cNvSpPr txBox="1"/>
          <p:nvPr/>
        </p:nvSpPr>
        <p:spPr>
          <a:xfrm>
            <a:off x="6334601" y="2838450"/>
            <a:ext cx="2380297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33333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模型轻量化蒸馏</a:t>
            </a:r>
            <a:endParaRPr lang="en-US" sz="1200" b="1" i="0" u="none" strike="noStrike" cap="none">
              <a:solidFill>
                <a:srgbClr val="333333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42" name="Google Shape;242;p17"/>
          <p:cNvSpPr txBox="1"/>
          <p:nvPr/>
        </p:nvSpPr>
        <p:spPr>
          <a:xfrm>
            <a:off x="6391275" y="3225105"/>
            <a:ext cx="2266950" cy="639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555555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采用知识蒸馏技术，将千亿级参数的大模型压缩至百万级，使其完美适配基层低配置硬件。</a:t>
            </a:r>
            <a:endParaRPr lang="en-US" sz="1050" b="0" i="0" u="none" strike="noStrike" cap="none">
              <a:solidFill>
                <a:srgbClr val="555555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pic>
        <p:nvPicPr>
          <p:cNvPr id="243" name="Google Shape;243;p17" descr="image.png"/>
          <p:cNvPicPr preferRelativeResize="0"/>
          <p:nvPr/>
        </p:nvPicPr>
        <p:blipFill rotWithShape="1">
          <a:blip r:embed="rId11"/>
          <a:srcRect/>
          <a:stretch>
            <a:fillRect/>
          </a:stretch>
        </p:blipFill>
        <p:spPr>
          <a:xfrm>
            <a:off x="9248775" y="2314575"/>
            <a:ext cx="22669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17"/>
          <p:cNvSpPr txBox="1"/>
          <p:nvPr/>
        </p:nvSpPr>
        <p:spPr>
          <a:xfrm>
            <a:off x="9192101" y="2838450"/>
            <a:ext cx="2380297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33333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联邦学习隐私保护</a:t>
            </a:r>
            <a:endParaRPr lang="en-US" sz="1200" b="1" i="0" u="none" strike="noStrike" cap="none">
              <a:solidFill>
                <a:srgbClr val="333333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45" name="Google Shape;245;p17"/>
          <p:cNvSpPr txBox="1"/>
          <p:nvPr/>
        </p:nvSpPr>
        <p:spPr>
          <a:xfrm>
            <a:off x="9248775" y="3225105"/>
            <a:ext cx="2266950" cy="639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555555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引入联邦学习框架，实现“数据不出院”的多中心联合建模，完全满足医疗数据安全合规要求。</a:t>
            </a:r>
            <a:endParaRPr lang="en-US" sz="1050" b="0" i="0" u="none" strike="noStrike" cap="none">
              <a:solidFill>
                <a:srgbClr val="555555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2079625" y="372110"/>
            <a:ext cx="1479550" cy="523240"/>
          </a:xfrm>
          <a:prstGeom prst="rect">
            <a:avLst/>
          </a:prstGeom>
          <a:solidFill>
            <a:srgbClr val="E5F2EB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80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166" name="Google Shape;166;p16"/>
          <p:cNvSpPr txBox="1"/>
          <p:nvPr/>
        </p:nvSpPr>
        <p:spPr>
          <a:xfrm>
            <a:off x="2079575" y="484187"/>
            <a:ext cx="1450925" cy="215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>
                <a:solidFill>
                  <a:srgbClr val="358960"/>
                </a:solidFill>
                <a:latin typeface="Times New Roman" panose="02020603050405020304" charset="0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研究目标和内容</a:t>
            </a:r>
            <a:endParaRPr lang="en-US" b="1" i="0" u="none" strike="noStrike" cap="none">
              <a:solidFill>
                <a:srgbClr val="358960"/>
              </a:solidFill>
              <a:latin typeface="Times New Roman" panose="02020603050405020304" charset="0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67" name="Google Shape;167;p16"/>
          <p:cNvSpPr txBox="1"/>
          <p:nvPr/>
        </p:nvSpPr>
        <p:spPr>
          <a:xfrm>
            <a:off x="2108150" y="682942"/>
            <a:ext cx="1450925" cy="135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0" b="0" i="0" u="none" strike="noStrike" cap="none">
                <a:solidFill>
                  <a:srgbClr val="35896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Times New Roman" panose="02020603050405020304"/>
              </a:rPr>
              <a:t>Objectives</a:t>
            </a:r>
            <a:endParaRPr lang="en-US" sz="880" b="0" i="0" u="none" strike="noStrike" cap="none">
              <a:solidFill>
                <a:srgbClr val="358960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Times New Roman" panose="02020603050405020304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517525" y="404495"/>
            <a:ext cx="1450975" cy="523240"/>
          </a:xfrm>
          <a:prstGeom prst="rect">
            <a:avLst/>
          </a:prstGeom>
          <a:solidFill>
            <a:srgbClr val="E5F2EB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80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1" name="Google Shape;166;p16"/>
          <p:cNvSpPr txBox="1"/>
          <p:nvPr/>
        </p:nvSpPr>
        <p:spPr>
          <a:xfrm>
            <a:off x="517475" y="471487"/>
            <a:ext cx="1450925" cy="430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b="1" i="0" u="none" strike="noStrike" cap="none">
                <a:solidFill>
                  <a:srgbClr val="358960"/>
                </a:solidFill>
                <a:latin typeface="Times New Roman" panose="02020603050405020304" charset="0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研究背景及现状</a:t>
            </a:r>
            <a:endParaRPr lang="zh-CN" altLang="en-US" b="1" i="0" u="none" strike="noStrike" cap="none">
              <a:solidFill>
                <a:srgbClr val="358960"/>
              </a:solidFill>
              <a:latin typeface="Times New Roman" panose="02020603050405020304" charset="0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zh-CN" altLang="en-US" b="1" i="0" u="none" strike="noStrike" cap="none">
              <a:solidFill>
                <a:srgbClr val="358960"/>
              </a:solidFill>
              <a:latin typeface="Times New Roman" panose="02020603050405020304" charset="0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3" name="Google Shape;167;p16"/>
          <p:cNvSpPr txBox="1"/>
          <p:nvPr/>
        </p:nvSpPr>
        <p:spPr>
          <a:xfrm>
            <a:off x="517475" y="671512"/>
            <a:ext cx="1450925" cy="2705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880" b="0" i="0" u="none" strike="noStrike" cap="none">
                <a:solidFill>
                  <a:srgbClr val="35896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Times New Roman" panose="02020603050405020304"/>
              </a:rPr>
              <a:t>Research Background</a:t>
            </a:r>
            <a:endParaRPr lang="en-US" altLang="zh-CN" sz="880" b="0" i="0" u="none" strike="noStrike" cap="none">
              <a:solidFill>
                <a:srgbClr val="358960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Times New Roman" panose="02020603050405020304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880" b="0" i="0" u="none" strike="noStrike" cap="none">
              <a:solidFill>
                <a:srgbClr val="358960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Times New Roman" panose="02020603050405020304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6863080" y="372110"/>
            <a:ext cx="1445895" cy="523240"/>
          </a:xfrm>
          <a:prstGeom prst="rect">
            <a:avLst/>
          </a:prstGeom>
          <a:solidFill>
            <a:srgbClr val="E5F2EB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80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8493760" y="372110"/>
            <a:ext cx="1424940" cy="523240"/>
          </a:xfrm>
          <a:prstGeom prst="rect">
            <a:avLst/>
          </a:prstGeom>
          <a:solidFill>
            <a:srgbClr val="E5F2EB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80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5" name="Google Shape;306;p19"/>
          <p:cNvSpPr txBox="1"/>
          <p:nvPr/>
        </p:nvSpPr>
        <p:spPr>
          <a:xfrm>
            <a:off x="6918126" y="471487"/>
            <a:ext cx="1450925" cy="215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>
                <a:solidFill>
                  <a:srgbClr val="358960"/>
                </a:solidFill>
                <a:latin typeface="Times New Roman" panose="02020603050405020304" charset="0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已开展工作</a:t>
            </a:r>
            <a:endParaRPr lang="en-US" b="1" i="0" u="none" strike="noStrike" cap="none">
              <a:solidFill>
                <a:srgbClr val="358960"/>
              </a:solidFill>
              <a:latin typeface="Times New Roman" panose="02020603050405020304" charset="0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6" name="Google Shape;307;p19"/>
          <p:cNvSpPr txBox="1"/>
          <p:nvPr/>
        </p:nvSpPr>
        <p:spPr>
          <a:xfrm>
            <a:off x="6918126" y="671512"/>
            <a:ext cx="1450925" cy="135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0" b="0" i="0" u="none" strike="noStrike" cap="none">
                <a:solidFill>
                  <a:srgbClr val="35896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Times New Roman" panose="02020603050405020304"/>
              </a:rPr>
              <a:t>Work Carried Out</a:t>
            </a:r>
            <a:endParaRPr lang="en-US" sz="880" b="0" i="0" u="none" strike="noStrike" cap="none">
              <a:solidFill>
                <a:srgbClr val="358960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Times New Roman" panose="02020603050405020304"/>
            </a:endParaRPr>
          </a:p>
        </p:txBody>
      </p:sp>
      <p:sp>
        <p:nvSpPr>
          <p:cNvPr id="7" name="Google Shape;354;p21"/>
          <p:cNvSpPr txBox="1"/>
          <p:nvPr/>
        </p:nvSpPr>
        <p:spPr>
          <a:xfrm>
            <a:off x="8521451" y="471487"/>
            <a:ext cx="1450925" cy="215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>
                <a:solidFill>
                  <a:srgbClr val="358960"/>
                </a:solidFill>
                <a:latin typeface="Times New Roman" panose="02020603050405020304" charset="0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预期成果</a:t>
            </a:r>
            <a:endParaRPr lang="en-US" b="1" i="0" u="none" strike="noStrike" cap="none">
              <a:solidFill>
                <a:srgbClr val="358960"/>
              </a:solidFill>
              <a:latin typeface="Times New Roman" panose="02020603050405020304" charset="0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8" name="Google Shape;355;p21"/>
          <p:cNvSpPr txBox="1"/>
          <p:nvPr/>
        </p:nvSpPr>
        <p:spPr>
          <a:xfrm>
            <a:off x="8521451" y="671512"/>
            <a:ext cx="1450925" cy="135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0" b="0" i="0" u="none" strike="noStrike" cap="none">
                <a:solidFill>
                  <a:srgbClr val="35896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Times New Roman" panose="02020603050405020304"/>
              </a:rPr>
              <a:t>Outcomes</a:t>
            </a:r>
            <a:endParaRPr lang="en-US" sz="880" b="0" i="0" u="none" strike="noStrike" cap="none">
              <a:solidFill>
                <a:srgbClr val="358960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Times New Roman" panose="02020603050405020304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3711575" y="341630"/>
            <a:ext cx="1365250" cy="523240"/>
          </a:xfrm>
          <a:prstGeom prst="rect">
            <a:avLst/>
          </a:prstGeom>
          <a:solidFill>
            <a:srgbClr val="E5F2EB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80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9" name="Google Shape;264;p18"/>
          <p:cNvSpPr txBox="1"/>
          <p:nvPr/>
        </p:nvSpPr>
        <p:spPr>
          <a:xfrm>
            <a:off x="3625750" y="435927"/>
            <a:ext cx="1450925" cy="215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>
                <a:solidFill>
                  <a:srgbClr val="358960"/>
                </a:solidFill>
                <a:latin typeface="Times New Roman" panose="02020603050405020304" charset="0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研究方法与思路</a:t>
            </a:r>
            <a:endParaRPr lang="en-US" b="1" i="0" u="none" strike="noStrike" cap="none">
              <a:solidFill>
                <a:srgbClr val="358960"/>
              </a:solidFill>
              <a:latin typeface="Times New Roman" panose="02020603050405020304" charset="0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1" name="Google Shape;265;p18"/>
          <p:cNvSpPr txBox="1"/>
          <p:nvPr/>
        </p:nvSpPr>
        <p:spPr>
          <a:xfrm>
            <a:off x="3625750" y="651192"/>
            <a:ext cx="1450925" cy="135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0" b="0" i="0" u="none" strike="noStrike" cap="none">
                <a:solidFill>
                  <a:srgbClr val="35896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Times New Roman" panose="02020603050405020304"/>
              </a:rPr>
              <a:t>Methods</a:t>
            </a:r>
            <a:endParaRPr lang="en-US" sz="880" b="0" i="0" u="none" strike="noStrike" cap="none">
              <a:solidFill>
                <a:srgbClr val="358960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Times New Roman" panose="020206030504050203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5" name="Google Shape;295;p19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6889551" y="381000"/>
            <a:ext cx="1508075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7" name="Google Shape;297;p19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0287000" y="404812"/>
            <a:ext cx="1428750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8" name="Google Shape;298;p19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476250" y="1590675"/>
            <a:ext cx="3619500" cy="2347912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" name="Google Shape;299;p19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4286250" y="1590675"/>
            <a:ext cx="3619500" cy="2347912"/>
          </a:xfrm>
          <a:prstGeom prst="rect">
            <a:avLst/>
          </a:prstGeom>
          <a:noFill/>
          <a:ln>
            <a:noFill/>
          </a:ln>
        </p:spPr>
      </p:pic>
      <p:pic>
        <p:nvPicPr>
          <p:cNvPr id="300" name="Google Shape;300;p19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8096250" y="1590675"/>
            <a:ext cx="3619500" cy="2347912"/>
          </a:xfrm>
          <a:prstGeom prst="rect">
            <a:avLst/>
          </a:prstGeom>
          <a:noFill/>
          <a:ln>
            <a:noFill/>
          </a:ln>
        </p:spPr>
      </p:pic>
      <p:pic>
        <p:nvPicPr>
          <p:cNvPr id="301" name="Google Shape;301;p19" descr="image.png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476250" y="4129087"/>
            <a:ext cx="3619500" cy="2347912"/>
          </a:xfrm>
          <a:prstGeom prst="rect">
            <a:avLst/>
          </a:prstGeom>
          <a:noFill/>
          <a:ln>
            <a:noFill/>
          </a:ln>
        </p:spPr>
      </p:pic>
      <p:pic>
        <p:nvPicPr>
          <p:cNvPr id="302" name="Google Shape;302;p19" descr="image.png"/>
          <p:cNvPicPr preferRelativeResize="0"/>
          <p:nvPr/>
        </p:nvPicPr>
        <p:blipFill rotWithShape="1">
          <a:blip r:embed="rId6"/>
          <a:srcRect/>
          <a:stretch>
            <a:fillRect/>
          </a:stretch>
        </p:blipFill>
        <p:spPr>
          <a:xfrm>
            <a:off x="4286250" y="4129087"/>
            <a:ext cx="3619500" cy="2347912"/>
          </a:xfrm>
          <a:prstGeom prst="rect">
            <a:avLst/>
          </a:prstGeom>
          <a:noFill/>
          <a:ln>
            <a:noFill/>
          </a:ln>
        </p:spPr>
      </p:pic>
      <p:pic>
        <p:nvPicPr>
          <p:cNvPr id="303" name="Google Shape;303;p19" descr="image.png"/>
          <p:cNvPicPr preferRelativeResize="0"/>
          <p:nvPr/>
        </p:nvPicPr>
        <p:blipFill rotWithShape="1">
          <a:blip r:embed="rId6"/>
          <a:srcRect/>
          <a:stretch>
            <a:fillRect/>
          </a:stretch>
        </p:blipFill>
        <p:spPr>
          <a:xfrm>
            <a:off x="8096250" y="4129087"/>
            <a:ext cx="3619500" cy="2347912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19"/>
          <p:cNvSpPr txBox="1"/>
          <p:nvPr/>
        </p:nvSpPr>
        <p:spPr>
          <a:xfrm>
            <a:off x="723900" y="1095375"/>
            <a:ext cx="109918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前期实验结果与图表展示</a:t>
            </a:r>
            <a:endParaRPr lang="en-US" sz="1800" b="1" i="0" u="none" strike="noStrike" cap="none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pic>
        <p:nvPicPr>
          <p:cNvPr id="305" name="Google Shape;305;p19" descr="image.png"/>
          <p:cNvPicPr preferRelativeResize="0"/>
          <p:nvPr/>
        </p:nvPicPr>
        <p:blipFill rotWithShape="1">
          <a:blip r:embed="rId7"/>
          <a:srcRect/>
          <a:stretch>
            <a:fillRect/>
          </a:stretch>
        </p:blipFill>
        <p:spPr>
          <a:xfrm>
            <a:off x="476250" y="1162050"/>
            <a:ext cx="1333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19"/>
          <p:cNvSpPr txBox="1"/>
          <p:nvPr/>
        </p:nvSpPr>
        <p:spPr>
          <a:xfrm>
            <a:off x="6918126" y="471487"/>
            <a:ext cx="1450925" cy="215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已开展工作</a:t>
            </a:r>
            <a:endParaRPr lang="en-US" b="1" i="0" u="none" strike="noStrike" cap="non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307" name="Google Shape;307;p19"/>
          <p:cNvSpPr txBox="1"/>
          <p:nvPr/>
        </p:nvSpPr>
        <p:spPr>
          <a:xfrm>
            <a:off x="6918126" y="671512"/>
            <a:ext cx="1450925" cy="135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0" b="0" i="0" u="none" strike="noStrike" cap="none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Work Carried Out</a:t>
            </a:r>
            <a:endParaRPr lang="en-US" sz="880" b="0" i="0" u="none" strike="noStrike" cap="none">
              <a:solidFill>
                <a:srgbClr val="FFFFF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308" name="Google Shape;308;p19"/>
          <p:cNvSpPr txBox="1"/>
          <p:nvPr/>
        </p:nvSpPr>
        <p:spPr>
          <a:xfrm>
            <a:off x="1585595" y="1695450"/>
            <a:ext cx="1655445" cy="154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1B7A4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图1：医学数据大盘监控</a:t>
            </a:r>
            <a:endParaRPr lang="en-US" sz="1050" b="1" i="0" u="none" strike="noStrike" cap="none">
              <a:solidFill>
                <a:srgbClr val="1B7A4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309" name="Google Shape;309;p19"/>
          <p:cNvSpPr txBox="1"/>
          <p:nvPr/>
        </p:nvSpPr>
        <p:spPr>
          <a:xfrm>
            <a:off x="5328920" y="1695450"/>
            <a:ext cx="1872615" cy="135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1B7A4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图2：细胞显微镜观察形态</a:t>
            </a:r>
            <a:endParaRPr lang="en-US" sz="1050" b="1" i="0" u="none" strike="noStrike" cap="none">
              <a:solidFill>
                <a:srgbClr val="1B7A4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310" name="Google Shape;310;p19"/>
          <p:cNvSpPr txBox="1"/>
          <p:nvPr/>
        </p:nvSpPr>
        <p:spPr>
          <a:xfrm>
            <a:off x="8950325" y="1695450"/>
            <a:ext cx="2086610" cy="144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1B7A4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图3：Western Blot 蛋白表达检测</a:t>
            </a:r>
            <a:endParaRPr lang="en-US" sz="1050" b="1" i="0" u="none" strike="noStrike" cap="none">
              <a:solidFill>
                <a:srgbClr val="1B7A4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311" name="Google Shape;311;p19"/>
          <p:cNvSpPr txBox="1"/>
          <p:nvPr/>
        </p:nvSpPr>
        <p:spPr>
          <a:xfrm>
            <a:off x="1437640" y="4233545"/>
            <a:ext cx="1901825" cy="161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1B7A4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图4：3D蛋白质分子结构模型</a:t>
            </a:r>
            <a:endParaRPr lang="en-US" sz="1050" b="1" i="0" u="none" strike="noStrike" cap="none">
              <a:solidFill>
                <a:srgbClr val="1B7A4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312" name="Google Shape;312;p19"/>
          <p:cNvSpPr txBox="1"/>
          <p:nvPr/>
        </p:nvSpPr>
        <p:spPr>
          <a:xfrm>
            <a:off x="5395595" y="4233545"/>
            <a:ext cx="1762125" cy="2482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1B7A4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图5：基因测序序列分析</a:t>
            </a:r>
            <a:endParaRPr lang="en-US" sz="1050" b="1" i="0" u="none" strike="noStrike" cap="none">
              <a:solidFill>
                <a:srgbClr val="1B7A4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313" name="Google Shape;313;p19"/>
          <p:cNvSpPr txBox="1"/>
          <p:nvPr/>
        </p:nvSpPr>
        <p:spPr>
          <a:xfrm>
            <a:off x="9205595" y="4233545"/>
            <a:ext cx="1667510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1B7A4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图6：流式细胞术散点图</a:t>
            </a:r>
            <a:endParaRPr lang="en-US" sz="1050" b="1" i="0" u="none" strike="noStrike" cap="none">
              <a:solidFill>
                <a:srgbClr val="1B7A4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pic>
        <p:nvPicPr>
          <p:cNvPr id="314" name="Google Shape;314;p19" descr="image.png"/>
          <p:cNvPicPr preferRelativeResize="0"/>
          <p:nvPr/>
        </p:nvPicPr>
        <p:blipFill rotWithShape="1">
          <a:blip r:embed="rId8"/>
          <a:srcRect/>
          <a:stretch>
            <a:fillRect/>
          </a:stretch>
        </p:blipFill>
        <p:spPr>
          <a:xfrm>
            <a:off x="867965" y="1943100"/>
            <a:ext cx="2836068" cy="1890712"/>
          </a:xfrm>
          <a:prstGeom prst="rect">
            <a:avLst/>
          </a:prstGeom>
          <a:noFill/>
          <a:ln>
            <a:noFill/>
          </a:ln>
        </p:spPr>
      </p:pic>
      <p:pic>
        <p:nvPicPr>
          <p:cNvPr id="315" name="Google Shape;315;p19" descr="image.png"/>
          <p:cNvPicPr preferRelativeResize="0"/>
          <p:nvPr/>
        </p:nvPicPr>
        <p:blipFill rotWithShape="1">
          <a:blip r:embed="rId8"/>
          <a:srcRect/>
          <a:stretch>
            <a:fillRect/>
          </a:stretch>
        </p:blipFill>
        <p:spPr>
          <a:xfrm>
            <a:off x="4677965" y="1943100"/>
            <a:ext cx="2836068" cy="1890712"/>
          </a:xfrm>
          <a:prstGeom prst="rect">
            <a:avLst/>
          </a:prstGeom>
          <a:noFill/>
          <a:ln>
            <a:noFill/>
          </a:ln>
        </p:spPr>
      </p:pic>
      <p:pic>
        <p:nvPicPr>
          <p:cNvPr id="316" name="Google Shape;316;p19" descr="image.png"/>
          <p:cNvPicPr preferRelativeResize="0"/>
          <p:nvPr/>
        </p:nvPicPr>
        <p:blipFill rotWithShape="1">
          <a:blip r:embed="rId8"/>
          <a:srcRect/>
          <a:stretch>
            <a:fillRect/>
          </a:stretch>
        </p:blipFill>
        <p:spPr>
          <a:xfrm>
            <a:off x="8487965" y="1943100"/>
            <a:ext cx="2836068" cy="1890712"/>
          </a:xfrm>
          <a:prstGeom prst="rect">
            <a:avLst/>
          </a:prstGeom>
          <a:noFill/>
          <a:ln>
            <a:noFill/>
          </a:ln>
        </p:spPr>
      </p:pic>
      <p:pic>
        <p:nvPicPr>
          <p:cNvPr id="317" name="Google Shape;317;p19" descr="image.png"/>
          <p:cNvPicPr preferRelativeResize="0"/>
          <p:nvPr/>
        </p:nvPicPr>
        <p:blipFill rotWithShape="1">
          <a:blip r:embed="rId9"/>
          <a:srcRect/>
          <a:stretch>
            <a:fillRect/>
          </a:stretch>
        </p:blipFill>
        <p:spPr>
          <a:xfrm>
            <a:off x="867965" y="4481512"/>
            <a:ext cx="2836068" cy="1890712"/>
          </a:xfrm>
          <a:prstGeom prst="rect">
            <a:avLst/>
          </a:prstGeom>
          <a:noFill/>
          <a:ln>
            <a:noFill/>
          </a:ln>
        </p:spPr>
      </p:pic>
      <p:pic>
        <p:nvPicPr>
          <p:cNvPr id="318" name="Google Shape;318;p19" descr="image.png"/>
          <p:cNvPicPr preferRelativeResize="0"/>
          <p:nvPr/>
        </p:nvPicPr>
        <p:blipFill rotWithShape="1">
          <a:blip r:embed="rId10"/>
          <a:srcRect/>
          <a:stretch>
            <a:fillRect/>
          </a:stretch>
        </p:blipFill>
        <p:spPr>
          <a:xfrm>
            <a:off x="5953125" y="5150643"/>
            <a:ext cx="28575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19"/>
          <p:cNvSpPr txBox="1"/>
          <p:nvPr/>
        </p:nvSpPr>
        <p:spPr>
          <a:xfrm>
            <a:off x="5562600" y="5531643"/>
            <a:ext cx="10668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6666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替换为测序分析图</a:t>
            </a:r>
            <a:endParaRPr lang="en-US" sz="1050" b="0" i="0" u="none" strike="noStrike" cap="none">
              <a:solidFill>
                <a:srgbClr val="66666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pic>
        <p:nvPicPr>
          <p:cNvPr id="320" name="Google Shape;320;p19" descr="image.png"/>
          <p:cNvPicPr preferRelativeResize="0"/>
          <p:nvPr/>
        </p:nvPicPr>
        <p:blipFill rotWithShape="1">
          <a:blip r:embed="rId11"/>
          <a:srcRect/>
          <a:stretch>
            <a:fillRect/>
          </a:stretch>
        </p:blipFill>
        <p:spPr>
          <a:xfrm>
            <a:off x="9725025" y="5150643"/>
            <a:ext cx="36195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p19"/>
          <p:cNvSpPr txBox="1"/>
          <p:nvPr/>
        </p:nvSpPr>
        <p:spPr>
          <a:xfrm>
            <a:off x="9372600" y="5531643"/>
            <a:ext cx="10668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6666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替换为流式散点图</a:t>
            </a:r>
            <a:endParaRPr lang="en-US" sz="1050" b="0" i="0" u="none" strike="noStrike" cap="none">
              <a:solidFill>
                <a:srgbClr val="66666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8493760" y="372110"/>
            <a:ext cx="1424940" cy="523240"/>
          </a:xfrm>
          <a:prstGeom prst="rect">
            <a:avLst/>
          </a:prstGeom>
          <a:solidFill>
            <a:srgbClr val="E5F2EB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80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22" name="Google Shape;354;p21"/>
          <p:cNvSpPr txBox="1"/>
          <p:nvPr/>
        </p:nvSpPr>
        <p:spPr>
          <a:xfrm>
            <a:off x="8521451" y="471487"/>
            <a:ext cx="1450925" cy="215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>
                <a:solidFill>
                  <a:srgbClr val="358960"/>
                </a:solidFill>
                <a:latin typeface="Times New Roman" panose="02020603050405020304" charset="0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预期成果</a:t>
            </a:r>
            <a:endParaRPr lang="en-US" b="1" i="0" u="none" strike="noStrike" cap="none">
              <a:solidFill>
                <a:srgbClr val="358960"/>
              </a:solidFill>
              <a:latin typeface="Times New Roman" panose="02020603050405020304" charset="0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23" name="Google Shape;355;p21"/>
          <p:cNvSpPr txBox="1"/>
          <p:nvPr/>
        </p:nvSpPr>
        <p:spPr>
          <a:xfrm>
            <a:off x="8521451" y="671512"/>
            <a:ext cx="1450925" cy="135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0" b="0" i="0" u="none" strike="noStrike" cap="none">
                <a:solidFill>
                  <a:srgbClr val="35896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Times New Roman" panose="02020603050405020304"/>
              </a:rPr>
              <a:t>Outcomes</a:t>
            </a:r>
            <a:endParaRPr lang="en-US" sz="880" b="0" i="0" u="none" strike="noStrike" cap="none">
              <a:solidFill>
                <a:srgbClr val="358960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Times New Roman" panose="02020603050405020304"/>
            </a:endParaRPr>
          </a:p>
        </p:txBody>
      </p:sp>
      <p:sp>
        <p:nvSpPr>
          <p:cNvPr id="1" name="矩形 0"/>
          <p:cNvSpPr/>
          <p:nvPr/>
        </p:nvSpPr>
        <p:spPr>
          <a:xfrm>
            <a:off x="2190750" y="372110"/>
            <a:ext cx="1285875" cy="523240"/>
          </a:xfrm>
          <a:prstGeom prst="rect">
            <a:avLst/>
          </a:prstGeom>
          <a:solidFill>
            <a:srgbClr val="E5F2EB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80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10" name="Google Shape;166;p16"/>
          <p:cNvSpPr txBox="1"/>
          <p:nvPr/>
        </p:nvSpPr>
        <p:spPr>
          <a:xfrm>
            <a:off x="2079575" y="484187"/>
            <a:ext cx="1450925" cy="215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>
                <a:solidFill>
                  <a:srgbClr val="358960"/>
                </a:solidFill>
                <a:latin typeface="Times New Roman" panose="02020603050405020304" charset="0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研究目标和内容</a:t>
            </a:r>
            <a:endParaRPr lang="en-US" b="1" i="0" u="none" strike="noStrike" cap="none">
              <a:solidFill>
                <a:srgbClr val="358960"/>
              </a:solidFill>
              <a:latin typeface="Times New Roman" panose="02020603050405020304" charset="0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1" name="Google Shape;167;p16"/>
          <p:cNvSpPr txBox="1"/>
          <p:nvPr/>
        </p:nvSpPr>
        <p:spPr>
          <a:xfrm>
            <a:off x="2108150" y="682942"/>
            <a:ext cx="1450925" cy="135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0" b="0" i="0" u="none" strike="noStrike" cap="none">
                <a:solidFill>
                  <a:srgbClr val="35896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Times New Roman" panose="02020603050405020304"/>
              </a:rPr>
              <a:t>Objectives</a:t>
            </a:r>
            <a:endParaRPr lang="en-US" sz="880" b="0" i="0" u="none" strike="noStrike" cap="none">
              <a:solidFill>
                <a:srgbClr val="358960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Times New Roman" panose="02020603050405020304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3711575" y="372110"/>
            <a:ext cx="1285875" cy="523240"/>
          </a:xfrm>
          <a:prstGeom prst="rect">
            <a:avLst/>
          </a:prstGeom>
          <a:solidFill>
            <a:srgbClr val="E5F2EB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80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5255260" y="372110"/>
            <a:ext cx="1430020" cy="523240"/>
          </a:xfrm>
          <a:prstGeom prst="rect">
            <a:avLst/>
          </a:prstGeom>
          <a:solidFill>
            <a:srgbClr val="E5F2EB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80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16" name="Google Shape;224;p17"/>
          <p:cNvSpPr txBox="1"/>
          <p:nvPr/>
        </p:nvSpPr>
        <p:spPr>
          <a:xfrm>
            <a:off x="5284321" y="501967"/>
            <a:ext cx="1450925" cy="215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>
                <a:solidFill>
                  <a:srgbClr val="358960"/>
                </a:solidFill>
                <a:latin typeface="Times New Roman" panose="02020603050405020304" charset="0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关键技术与创新</a:t>
            </a:r>
            <a:endParaRPr lang="en-US" b="1" i="0" u="none" strike="noStrike" cap="none">
              <a:solidFill>
                <a:srgbClr val="358960"/>
              </a:solidFill>
              <a:latin typeface="Times New Roman" panose="02020603050405020304" charset="0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7" name="Google Shape;225;p17"/>
          <p:cNvSpPr txBox="1"/>
          <p:nvPr/>
        </p:nvSpPr>
        <p:spPr>
          <a:xfrm>
            <a:off x="5304641" y="701992"/>
            <a:ext cx="1450925" cy="135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0" b="0" i="0" u="none" strike="noStrike" cap="none">
                <a:solidFill>
                  <a:srgbClr val="35896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Times New Roman" panose="02020603050405020304"/>
              </a:rPr>
              <a:t>Technologies</a:t>
            </a:r>
            <a:endParaRPr lang="en-US" sz="880" b="0" i="0" u="none" strike="noStrike" cap="none">
              <a:solidFill>
                <a:srgbClr val="358960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Times New Roman" panose="02020603050405020304"/>
            </a:endParaRPr>
          </a:p>
        </p:txBody>
      </p:sp>
      <p:sp>
        <p:nvSpPr>
          <p:cNvPr id="18" name="Google Shape;264;p18"/>
          <p:cNvSpPr txBox="1"/>
          <p:nvPr/>
        </p:nvSpPr>
        <p:spPr>
          <a:xfrm>
            <a:off x="3625750" y="471487"/>
            <a:ext cx="1450925" cy="215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>
                <a:solidFill>
                  <a:srgbClr val="358960"/>
                </a:solidFill>
                <a:latin typeface="Times New Roman" panose="02020603050405020304" charset="0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研究方法与思路</a:t>
            </a:r>
            <a:endParaRPr lang="en-US" b="1" i="0" u="none" strike="noStrike" cap="none">
              <a:solidFill>
                <a:srgbClr val="358960"/>
              </a:solidFill>
              <a:latin typeface="Times New Roman" panose="02020603050405020304" charset="0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9" name="Google Shape;265;p18"/>
          <p:cNvSpPr txBox="1"/>
          <p:nvPr/>
        </p:nvSpPr>
        <p:spPr>
          <a:xfrm>
            <a:off x="3625750" y="681672"/>
            <a:ext cx="1450925" cy="135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0" b="0" i="0" u="none" strike="noStrike" cap="none">
                <a:solidFill>
                  <a:srgbClr val="35896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Times New Roman" panose="02020603050405020304"/>
              </a:rPr>
              <a:t>Methods</a:t>
            </a:r>
            <a:endParaRPr lang="en-US" sz="880" b="0" i="0" u="none" strike="noStrike" cap="none">
              <a:solidFill>
                <a:srgbClr val="358960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Times New Roman" panose="02020603050405020304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517525" y="404495"/>
            <a:ext cx="1450975" cy="523240"/>
          </a:xfrm>
          <a:prstGeom prst="rect">
            <a:avLst/>
          </a:prstGeom>
          <a:solidFill>
            <a:srgbClr val="E5F2EB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80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3" name="Google Shape;166;p16"/>
          <p:cNvSpPr txBox="1"/>
          <p:nvPr/>
        </p:nvSpPr>
        <p:spPr>
          <a:xfrm>
            <a:off x="517475" y="471487"/>
            <a:ext cx="1450925" cy="430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b="1" i="0" u="none" strike="noStrike" cap="none">
                <a:solidFill>
                  <a:srgbClr val="358960"/>
                </a:solidFill>
                <a:latin typeface="Times New Roman" panose="02020603050405020304" charset="0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研究背景及现状</a:t>
            </a:r>
            <a:endParaRPr lang="zh-CN" altLang="en-US" b="1" i="0" u="none" strike="noStrike" cap="none">
              <a:solidFill>
                <a:srgbClr val="358960"/>
              </a:solidFill>
              <a:latin typeface="Times New Roman" panose="02020603050405020304" charset="0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zh-CN" altLang="en-US" b="1" i="0" u="none" strike="noStrike" cap="none">
              <a:solidFill>
                <a:srgbClr val="358960"/>
              </a:solidFill>
              <a:latin typeface="Times New Roman" panose="02020603050405020304" charset="0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4" name="Google Shape;167;p16"/>
          <p:cNvSpPr txBox="1"/>
          <p:nvPr/>
        </p:nvSpPr>
        <p:spPr>
          <a:xfrm>
            <a:off x="517475" y="671512"/>
            <a:ext cx="1450925" cy="2705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880" b="0" i="0" u="none" strike="noStrike" cap="none">
                <a:solidFill>
                  <a:srgbClr val="35896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Times New Roman" panose="02020603050405020304"/>
              </a:rPr>
              <a:t>Research Background</a:t>
            </a:r>
            <a:endParaRPr lang="en-US" altLang="zh-CN" sz="880" b="0" i="0" u="none" strike="noStrike" cap="none">
              <a:solidFill>
                <a:srgbClr val="358960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Times New Roman" panose="02020603050405020304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880" b="0" i="0" u="none" strike="noStrike" cap="none">
              <a:solidFill>
                <a:srgbClr val="358960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Times New Roman" panose="0202060305040502030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2" name="Google Shape;332;p20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10287000" y="404812"/>
            <a:ext cx="1428750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3" name="Google Shape;333;p20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476250" y="4514850"/>
            <a:ext cx="11239500" cy="781050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20"/>
          <p:cNvSpPr txBox="1"/>
          <p:nvPr/>
        </p:nvSpPr>
        <p:spPr>
          <a:xfrm>
            <a:off x="723900" y="1095375"/>
            <a:ext cx="109918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预测模型性能评估对比表</a:t>
            </a:r>
            <a:endParaRPr lang="en-US" sz="1800" b="1" i="0" u="none" strike="noStrike" cap="none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pic>
        <p:nvPicPr>
          <p:cNvPr id="335" name="Google Shape;335;p20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476250" y="1162050"/>
            <a:ext cx="133350" cy="17145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36" name="Google Shape;336;p20"/>
          <p:cNvGraphicFramePr/>
          <p:nvPr/>
        </p:nvGraphicFramePr>
        <p:xfrm>
          <a:off x="476250" y="1590675"/>
          <a:ext cx="11229950" cy="3000000"/>
        </p:xfrm>
        <a:graphic>
          <a:graphicData uri="http://schemas.openxmlformats.org/drawingml/2006/table">
            <a:tbl>
              <a:tblPr firstRow="1" bandRow="1">
                <a:noFill/>
                <a:tableStyleId>{711A8503-B6E6-43A9-B52B-A52082B53DA4}</a:tableStyleId>
              </a:tblPr>
              <a:tblGrid>
                <a:gridCol w="2515500"/>
                <a:gridCol w="1995625"/>
                <a:gridCol w="2095050"/>
                <a:gridCol w="2095050"/>
                <a:gridCol w="942825"/>
                <a:gridCol w="1585900"/>
              </a:tblGrid>
              <a:tr h="4397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模型算法</a:t>
                      </a:r>
                      <a:endParaRPr lang="en-US" sz="1200" b="1" i="0" u="none" strike="noStrike" cap="none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微软雅黑" panose="020B0503020204020204" charset="-122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B7A4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准确率 (Accuracy)</a:t>
                      </a:r>
                      <a:endParaRPr lang="en-US" sz="1200" b="1" i="0" u="none" strike="noStrike" cap="none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微软雅黑" panose="020B0503020204020204" charset="-122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B7A4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灵敏度 (Sensitivity)</a:t>
                      </a:r>
                      <a:endParaRPr lang="en-US" sz="1200" b="1" i="0" u="none" strike="noStrike" cap="none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微软雅黑" panose="020B0503020204020204" charset="-122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B7A4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特异度 (Specificity)</a:t>
                      </a:r>
                      <a:endParaRPr lang="en-US" sz="1200" b="1" i="0" u="none" strike="noStrike" cap="none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微软雅黑" panose="020B0503020204020204" charset="-122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B7A4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AUC值</a:t>
                      </a:r>
                      <a:endParaRPr lang="en-US" sz="1200" b="1" i="0" u="none" strike="noStrike" cap="none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微软雅黑" panose="020B0503020204020204" charset="-122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B7A4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推理耗时 (ms)</a:t>
                      </a:r>
                      <a:endParaRPr lang="en-US" sz="1200" b="1" i="0" u="none" strike="noStrike" cap="none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微软雅黑" panose="020B0503020204020204" charset="-122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B7A4C"/>
                    </a:solidFill>
                  </a:tcPr>
                </a:tc>
              </a:tr>
              <a:tr h="4397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3333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传统Logistic回归 (基线)</a:t>
                      </a:r>
                      <a:endParaRPr lang="en-US" sz="1200" b="0" i="0" u="none" strike="noStrike" cap="none">
                        <a:solidFill>
                          <a:srgbClr val="333333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3333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72.4%</a:t>
                      </a:r>
                      <a:endParaRPr lang="en-US" sz="1200" b="0" i="0" u="none" strike="noStrike" cap="none">
                        <a:solidFill>
                          <a:srgbClr val="333333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3333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68.1%</a:t>
                      </a:r>
                      <a:endParaRPr lang="en-US" sz="1200" b="0" i="0" u="none" strike="noStrike" cap="none">
                        <a:solidFill>
                          <a:srgbClr val="333333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3333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75.2%</a:t>
                      </a:r>
                      <a:endParaRPr lang="en-US" sz="1200" b="0" i="0" u="none" strike="noStrike" cap="none">
                        <a:solidFill>
                          <a:srgbClr val="333333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3333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0.73</a:t>
                      </a:r>
                      <a:endParaRPr lang="en-US" sz="1200" b="0" i="0" u="none" strike="noStrike" cap="none">
                        <a:solidFill>
                          <a:srgbClr val="333333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333333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12</a:t>
                      </a:r>
                      <a:endParaRPr lang="en-US" sz="1200" b="1" i="0" u="none" strike="noStrike" cap="none">
                        <a:solidFill>
                          <a:srgbClr val="333333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397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3333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支持向量机 (SVM)</a:t>
                      </a:r>
                      <a:endParaRPr lang="en-US" sz="1200" b="0" i="0" u="none" strike="noStrike" cap="none">
                        <a:solidFill>
                          <a:srgbClr val="333333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F8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3333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76.8%</a:t>
                      </a:r>
                      <a:endParaRPr lang="en-US" sz="1200" b="0" i="0" u="none" strike="noStrike" cap="none">
                        <a:solidFill>
                          <a:srgbClr val="333333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F8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3333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73.5%</a:t>
                      </a:r>
                      <a:endParaRPr lang="en-US" sz="1200" b="0" i="0" u="none" strike="noStrike" cap="none">
                        <a:solidFill>
                          <a:srgbClr val="333333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F8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3333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78.4%</a:t>
                      </a:r>
                      <a:endParaRPr lang="en-US" sz="1200" b="0" i="0" u="none" strike="noStrike" cap="none">
                        <a:solidFill>
                          <a:srgbClr val="333333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F8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3333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0.77</a:t>
                      </a:r>
                      <a:endParaRPr lang="en-US" sz="1200" b="0" i="0" u="none" strike="noStrike" cap="none">
                        <a:solidFill>
                          <a:srgbClr val="333333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F8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3333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45</a:t>
                      </a:r>
                      <a:endParaRPr lang="en-US" sz="1200" b="0" i="0" u="none" strike="noStrike" cap="none">
                        <a:solidFill>
                          <a:srgbClr val="333333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F8F6"/>
                    </a:solidFill>
                  </a:tcPr>
                </a:tc>
              </a:tr>
              <a:tr h="4397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3333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随机森林 (Random Forest)</a:t>
                      </a:r>
                      <a:endParaRPr lang="en-US" sz="1200" b="0" i="0" u="none" strike="noStrike" cap="none">
                        <a:solidFill>
                          <a:srgbClr val="333333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3333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81.2%</a:t>
                      </a:r>
                      <a:endParaRPr lang="en-US" sz="1200" b="0" i="0" u="none" strike="noStrike" cap="none">
                        <a:solidFill>
                          <a:srgbClr val="333333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3333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79.4%</a:t>
                      </a:r>
                      <a:endParaRPr lang="en-US" sz="1200" b="0" i="0" u="none" strike="noStrike" cap="none">
                        <a:solidFill>
                          <a:srgbClr val="333333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3333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82.1%</a:t>
                      </a:r>
                      <a:endParaRPr lang="en-US" sz="1200" b="0" i="0" u="none" strike="noStrike" cap="none">
                        <a:solidFill>
                          <a:srgbClr val="333333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3333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0.82</a:t>
                      </a:r>
                      <a:endParaRPr lang="en-US" sz="1200" b="0" i="0" u="none" strike="noStrike" cap="none">
                        <a:solidFill>
                          <a:srgbClr val="333333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3333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38</a:t>
                      </a:r>
                      <a:endParaRPr lang="en-US" sz="1200" b="0" i="0" u="none" strike="noStrike" cap="none">
                        <a:solidFill>
                          <a:srgbClr val="333333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397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3333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标准Transformer大模型</a:t>
                      </a:r>
                      <a:endParaRPr lang="en-US" sz="1200" b="0" i="0" u="none" strike="noStrike" cap="none">
                        <a:solidFill>
                          <a:srgbClr val="333333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F8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3333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86.5%</a:t>
                      </a:r>
                      <a:endParaRPr lang="en-US" sz="1200" b="0" i="0" u="none" strike="noStrike" cap="none">
                        <a:solidFill>
                          <a:srgbClr val="333333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F8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3333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85.2%</a:t>
                      </a:r>
                      <a:endParaRPr lang="en-US" sz="1200" b="0" i="0" u="none" strike="noStrike" cap="none">
                        <a:solidFill>
                          <a:srgbClr val="333333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F8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3333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87.4%</a:t>
                      </a:r>
                      <a:endParaRPr lang="en-US" sz="1200" b="0" i="0" u="none" strike="noStrike" cap="none">
                        <a:solidFill>
                          <a:srgbClr val="333333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F8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3333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0.88</a:t>
                      </a:r>
                      <a:endParaRPr lang="en-US" sz="1200" b="0" i="0" u="none" strike="noStrike" cap="none">
                        <a:solidFill>
                          <a:srgbClr val="333333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F8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3333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350</a:t>
                      </a:r>
                      <a:endParaRPr lang="en-US" sz="1200" b="0" i="0" u="none" strike="noStrike" cap="none">
                        <a:solidFill>
                          <a:srgbClr val="333333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F8F6"/>
                    </a:solidFill>
                  </a:tcPr>
                </a:tc>
              </a:tr>
              <a:tr h="4397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1B7A4C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本文优化模型 (Light-T)</a:t>
                      </a:r>
                      <a:endParaRPr lang="en-US" sz="1200" b="1" i="0" u="none" strike="noStrike" cap="none">
                        <a:solidFill>
                          <a:srgbClr val="1B7A4C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1B7A4C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88.9%</a:t>
                      </a:r>
                      <a:endParaRPr lang="en-US" sz="1200" b="1" i="0" u="none" strike="noStrike" cap="none">
                        <a:solidFill>
                          <a:srgbClr val="1B7A4C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1B7A4C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87.6%</a:t>
                      </a:r>
                      <a:endParaRPr lang="en-US" sz="1200" b="1" i="0" u="none" strike="noStrike" cap="none">
                        <a:solidFill>
                          <a:srgbClr val="1B7A4C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1B7A4C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89.3%</a:t>
                      </a:r>
                      <a:endParaRPr lang="en-US" sz="1200" b="1" i="0" u="none" strike="noStrike" cap="none">
                        <a:solidFill>
                          <a:srgbClr val="1B7A4C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1B7A4C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0.91</a:t>
                      </a:r>
                      <a:endParaRPr lang="en-US" sz="1200" b="1" i="0" u="none" strike="noStrike" cap="none">
                        <a:solidFill>
                          <a:srgbClr val="1B7A4C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1B7A4C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42</a:t>
                      </a:r>
                      <a:endParaRPr lang="en-US" sz="1200" b="1" i="0" u="none" strike="noStrike" cap="none">
                        <a:solidFill>
                          <a:srgbClr val="1B7A4C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339" name="Google Shape;339;p20"/>
          <p:cNvSpPr txBox="1"/>
          <p:nvPr/>
        </p:nvSpPr>
        <p:spPr>
          <a:xfrm>
            <a:off x="704850" y="4705350"/>
            <a:ext cx="108204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33333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表格结论：</a:t>
            </a:r>
            <a:r>
              <a:rPr lang="en-US" sz="1200" b="0" i="0" u="none" strike="noStrike" cap="none">
                <a:solidFill>
                  <a:srgbClr val="33333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经过轻量化蒸馏处理后的优化模型（Light-T），在保持极高预测精度（AUC=0.91）的同时，推理耗时相较于标准大模型下降了近88%，完美契合基层医疗设备算力受限的应用场景。</a:t>
            </a:r>
            <a:endParaRPr lang="en-US" sz="1200" b="0" i="0" u="none" strike="noStrike" cap="none">
              <a:solidFill>
                <a:srgbClr val="333333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pic>
        <p:nvPicPr>
          <p:cNvPr id="295" name="Google Shape;295;p19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6889551" y="381000"/>
            <a:ext cx="1508075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19"/>
          <p:cNvSpPr txBox="1"/>
          <p:nvPr/>
        </p:nvSpPr>
        <p:spPr>
          <a:xfrm>
            <a:off x="6918126" y="471487"/>
            <a:ext cx="1450925" cy="215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已开展工作</a:t>
            </a:r>
            <a:endParaRPr lang="en-US" b="1" i="0" u="none" strike="noStrike" cap="non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307" name="Google Shape;307;p19"/>
          <p:cNvSpPr txBox="1"/>
          <p:nvPr/>
        </p:nvSpPr>
        <p:spPr>
          <a:xfrm>
            <a:off x="6918126" y="671512"/>
            <a:ext cx="1450925" cy="135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0" b="0" i="0" u="none" strike="noStrike" cap="none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Work Carried Out</a:t>
            </a:r>
            <a:endParaRPr lang="en-US" sz="880" b="0" i="0" u="none" strike="noStrike" cap="none">
              <a:solidFill>
                <a:srgbClr val="FFFFF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8493760" y="372110"/>
            <a:ext cx="1424940" cy="523240"/>
          </a:xfrm>
          <a:prstGeom prst="rect">
            <a:avLst/>
          </a:prstGeom>
          <a:solidFill>
            <a:srgbClr val="E5F2EB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80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22" name="Google Shape;354;p21"/>
          <p:cNvSpPr txBox="1"/>
          <p:nvPr/>
        </p:nvSpPr>
        <p:spPr>
          <a:xfrm>
            <a:off x="8521451" y="471487"/>
            <a:ext cx="1450925" cy="215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>
                <a:solidFill>
                  <a:srgbClr val="358960"/>
                </a:solidFill>
                <a:latin typeface="Times New Roman" panose="02020603050405020304" charset="0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预期成果</a:t>
            </a:r>
            <a:endParaRPr lang="en-US" b="1" i="0" u="none" strike="noStrike" cap="none">
              <a:solidFill>
                <a:srgbClr val="358960"/>
              </a:solidFill>
              <a:latin typeface="Times New Roman" panose="02020603050405020304" charset="0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23" name="Google Shape;355;p21"/>
          <p:cNvSpPr txBox="1"/>
          <p:nvPr/>
        </p:nvSpPr>
        <p:spPr>
          <a:xfrm>
            <a:off x="8521451" y="671512"/>
            <a:ext cx="1450925" cy="135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0" b="0" i="0" u="none" strike="noStrike" cap="none">
                <a:solidFill>
                  <a:srgbClr val="35896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Times New Roman" panose="02020603050405020304"/>
              </a:rPr>
              <a:t>Outcomes</a:t>
            </a:r>
            <a:endParaRPr lang="en-US" sz="880" b="0" i="0" u="none" strike="noStrike" cap="none">
              <a:solidFill>
                <a:srgbClr val="358960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Times New Roman" panose="02020603050405020304"/>
            </a:endParaRPr>
          </a:p>
        </p:txBody>
      </p:sp>
      <p:sp>
        <p:nvSpPr>
          <p:cNvPr id="1" name="矩形 0"/>
          <p:cNvSpPr/>
          <p:nvPr/>
        </p:nvSpPr>
        <p:spPr>
          <a:xfrm>
            <a:off x="2190750" y="372110"/>
            <a:ext cx="1285875" cy="523240"/>
          </a:xfrm>
          <a:prstGeom prst="rect">
            <a:avLst/>
          </a:prstGeom>
          <a:solidFill>
            <a:srgbClr val="E5F2EB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80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10" name="Google Shape;166;p16"/>
          <p:cNvSpPr txBox="1"/>
          <p:nvPr/>
        </p:nvSpPr>
        <p:spPr>
          <a:xfrm>
            <a:off x="2079575" y="484187"/>
            <a:ext cx="1450925" cy="215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>
                <a:solidFill>
                  <a:srgbClr val="358960"/>
                </a:solidFill>
                <a:latin typeface="Times New Roman" panose="02020603050405020304" charset="0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研究目标和内容</a:t>
            </a:r>
            <a:endParaRPr lang="en-US" b="1" i="0" u="none" strike="noStrike" cap="none">
              <a:solidFill>
                <a:srgbClr val="358960"/>
              </a:solidFill>
              <a:latin typeface="Times New Roman" panose="02020603050405020304" charset="0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1" name="Google Shape;167;p16"/>
          <p:cNvSpPr txBox="1"/>
          <p:nvPr/>
        </p:nvSpPr>
        <p:spPr>
          <a:xfrm>
            <a:off x="2108150" y="682942"/>
            <a:ext cx="1450925" cy="135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0" b="0" i="0" u="none" strike="noStrike" cap="none">
                <a:solidFill>
                  <a:srgbClr val="35896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Times New Roman" panose="02020603050405020304"/>
              </a:rPr>
              <a:t>Objectives</a:t>
            </a:r>
            <a:endParaRPr lang="en-US" sz="880" b="0" i="0" u="none" strike="noStrike" cap="none">
              <a:solidFill>
                <a:srgbClr val="358960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Times New Roman" panose="02020603050405020304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3711575" y="372110"/>
            <a:ext cx="1285875" cy="523240"/>
          </a:xfrm>
          <a:prstGeom prst="rect">
            <a:avLst/>
          </a:prstGeom>
          <a:solidFill>
            <a:srgbClr val="E5F2EB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80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5255260" y="372110"/>
            <a:ext cx="1430020" cy="523240"/>
          </a:xfrm>
          <a:prstGeom prst="rect">
            <a:avLst/>
          </a:prstGeom>
          <a:solidFill>
            <a:srgbClr val="E5F2EB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80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16" name="Google Shape;224;p17"/>
          <p:cNvSpPr txBox="1"/>
          <p:nvPr/>
        </p:nvSpPr>
        <p:spPr>
          <a:xfrm>
            <a:off x="5284321" y="501967"/>
            <a:ext cx="1450925" cy="215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>
                <a:solidFill>
                  <a:srgbClr val="358960"/>
                </a:solidFill>
                <a:latin typeface="Times New Roman" panose="02020603050405020304" charset="0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关键技术与创新</a:t>
            </a:r>
            <a:endParaRPr lang="en-US" b="1" i="0" u="none" strike="noStrike" cap="none">
              <a:solidFill>
                <a:srgbClr val="358960"/>
              </a:solidFill>
              <a:latin typeface="Times New Roman" panose="02020603050405020304" charset="0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7" name="Google Shape;225;p17"/>
          <p:cNvSpPr txBox="1"/>
          <p:nvPr/>
        </p:nvSpPr>
        <p:spPr>
          <a:xfrm>
            <a:off x="5304641" y="701992"/>
            <a:ext cx="1450925" cy="135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0" b="0" i="0" u="none" strike="noStrike" cap="none">
                <a:solidFill>
                  <a:srgbClr val="35896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Times New Roman" panose="02020603050405020304"/>
              </a:rPr>
              <a:t>Technologies</a:t>
            </a:r>
            <a:endParaRPr lang="en-US" sz="880" b="0" i="0" u="none" strike="noStrike" cap="none">
              <a:solidFill>
                <a:srgbClr val="358960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Times New Roman" panose="02020603050405020304"/>
            </a:endParaRPr>
          </a:p>
        </p:txBody>
      </p:sp>
      <p:sp>
        <p:nvSpPr>
          <p:cNvPr id="18" name="Google Shape;264;p18"/>
          <p:cNvSpPr txBox="1"/>
          <p:nvPr/>
        </p:nvSpPr>
        <p:spPr>
          <a:xfrm>
            <a:off x="3625750" y="471487"/>
            <a:ext cx="1450925" cy="215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>
                <a:solidFill>
                  <a:srgbClr val="358960"/>
                </a:solidFill>
                <a:latin typeface="Times New Roman" panose="02020603050405020304" charset="0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研究方法与思路</a:t>
            </a:r>
            <a:endParaRPr lang="en-US" b="1" i="0" u="none" strike="noStrike" cap="none">
              <a:solidFill>
                <a:srgbClr val="358960"/>
              </a:solidFill>
              <a:latin typeface="Times New Roman" panose="02020603050405020304" charset="0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9" name="Google Shape;265;p18"/>
          <p:cNvSpPr txBox="1"/>
          <p:nvPr/>
        </p:nvSpPr>
        <p:spPr>
          <a:xfrm>
            <a:off x="3625750" y="681672"/>
            <a:ext cx="1450925" cy="135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0" b="0" i="0" u="none" strike="noStrike" cap="none">
                <a:solidFill>
                  <a:srgbClr val="35896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Times New Roman" panose="02020603050405020304"/>
              </a:rPr>
              <a:t>Methods</a:t>
            </a:r>
            <a:endParaRPr lang="en-US" sz="880" b="0" i="0" u="none" strike="noStrike" cap="none">
              <a:solidFill>
                <a:srgbClr val="358960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Times New Roman" panose="02020603050405020304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517525" y="404495"/>
            <a:ext cx="1450975" cy="523240"/>
          </a:xfrm>
          <a:prstGeom prst="rect">
            <a:avLst/>
          </a:prstGeom>
          <a:solidFill>
            <a:srgbClr val="E5F2EB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80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3" name="Google Shape;166;p16"/>
          <p:cNvSpPr txBox="1"/>
          <p:nvPr/>
        </p:nvSpPr>
        <p:spPr>
          <a:xfrm>
            <a:off x="517475" y="471487"/>
            <a:ext cx="1450925" cy="430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b="1" i="0" u="none" strike="noStrike" cap="none">
                <a:solidFill>
                  <a:srgbClr val="358960"/>
                </a:solidFill>
                <a:latin typeface="Times New Roman" panose="02020603050405020304" charset="0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研究背景及现状</a:t>
            </a:r>
            <a:endParaRPr lang="zh-CN" altLang="en-US" b="1" i="0" u="none" strike="noStrike" cap="none">
              <a:solidFill>
                <a:srgbClr val="358960"/>
              </a:solidFill>
              <a:latin typeface="Times New Roman" panose="02020603050405020304" charset="0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zh-CN" altLang="en-US" b="1" i="0" u="none" strike="noStrike" cap="none">
              <a:solidFill>
                <a:srgbClr val="358960"/>
              </a:solidFill>
              <a:latin typeface="Times New Roman" panose="02020603050405020304" charset="0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4" name="Google Shape;167;p16"/>
          <p:cNvSpPr txBox="1"/>
          <p:nvPr/>
        </p:nvSpPr>
        <p:spPr>
          <a:xfrm>
            <a:off x="517475" y="671512"/>
            <a:ext cx="1450925" cy="2705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880" b="0" i="0" u="none" strike="noStrike" cap="none">
                <a:solidFill>
                  <a:srgbClr val="35896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Times New Roman" panose="02020603050405020304"/>
              </a:rPr>
              <a:t>Research Background</a:t>
            </a:r>
            <a:endParaRPr lang="en-US" altLang="zh-CN" sz="880" b="0" i="0" u="none" strike="noStrike" cap="none">
              <a:solidFill>
                <a:srgbClr val="358960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Times New Roman" panose="02020603050405020304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880" b="0" i="0" u="none" strike="noStrike" cap="none">
              <a:solidFill>
                <a:srgbClr val="358960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Times New Roman" panose="020206030504050203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4" name="Google Shape;344;p21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476250" y="1590675"/>
            <a:ext cx="11239500" cy="4886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5" name="Google Shape;345;p21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476250" y="381000"/>
            <a:ext cx="1508075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6" name="Google Shape;346;p21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2079575" y="381000"/>
            <a:ext cx="1508075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7" name="Google Shape;347;p21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3682900" y="381000"/>
            <a:ext cx="1508075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8" name="Google Shape;348;p21" descr="image.png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5286226" y="381000"/>
            <a:ext cx="1508075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9" name="Google Shape;349;p21" descr="image.png"/>
          <p:cNvPicPr preferRelativeResize="0"/>
          <p:nvPr/>
        </p:nvPicPr>
        <p:blipFill rotWithShape="1">
          <a:blip r:embed="rId6"/>
          <a:srcRect/>
          <a:stretch>
            <a:fillRect/>
          </a:stretch>
        </p:blipFill>
        <p:spPr>
          <a:xfrm>
            <a:off x="6889551" y="381000"/>
            <a:ext cx="1508075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0" name="Google Shape;350;p21" descr="image.png"/>
          <p:cNvPicPr preferRelativeResize="0"/>
          <p:nvPr/>
        </p:nvPicPr>
        <p:blipFill rotWithShape="1">
          <a:blip r:embed="rId7"/>
          <a:srcRect/>
          <a:stretch>
            <a:fillRect/>
          </a:stretch>
        </p:blipFill>
        <p:spPr>
          <a:xfrm>
            <a:off x="8492876" y="381000"/>
            <a:ext cx="1508075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1" name="Google Shape;351;p21" descr="image.png"/>
          <p:cNvPicPr preferRelativeResize="0"/>
          <p:nvPr/>
        </p:nvPicPr>
        <p:blipFill rotWithShape="1">
          <a:blip r:embed="rId8"/>
          <a:srcRect/>
          <a:stretch>
            <a:fillRect/>
          </a:stretch>
        </p:blipFill>
        <p:spPr>
          <a:xfrm>
            <a:off x="10287000" y="404812"/>
            <a:ext cx="1428750" cy="428625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21"/>
          <p:cNvSpPr txBox="1"/>
          <p:nvPr/>
        </p:nvSpPr>
        <p:spPr>
          <a:xfrm>
            <a:off x="723900" y="1095375"/>
            <a:ext cx="109918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短期目标：完成数据分析与论文撰写规划</a:t>
            </a:r>
            <a:endParaRPr lang="en-US" sz="1800" b="1" i="0" u="none" strike="noStrike" cap="none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pic>
        <p:nvPicPr>
          <p:cNvPr id="353" name="Google Shape;353;p21" descr="image.png"/>
          <p:cNvPicPr preferRelativeResize="0"/>
          <p:nvPr/>
        </p:nvPicPr>
        <p:blipFill rotWithShape="1">
          <a:blip r:embed="rId9"/>
          <a:srcRect/>
          <a:stretch>
            <a:fillRect/>
          </a:stretch>
        </p:blipFill>
        <p:spPr>
          <a:xfrm>
            <a:off x="476250" y="1162050"/>
            <a:ext cx="1333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354" name="Google Shape;354;p21"/>
          <p:cNvSpPr txBox="1"/>
          <p:nvPr/>
        </p:nvSpPr>
        <p:spPr>
          <a:xfrm>
            <a:off x="8521451" y="471487"/>
            <a:ext cx="1450925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预期成果</a:t>
            </a:r>
            <a:endParaRPr lang="en-US" sz="1125" b="1" i="0" u="none" strike="noStrike" cap="non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355" name="Google Shape;355;p21"/>
          <p:cNvSpPr txBox="1"/>
          <p:nvPr/>
        </p:nvSpPr>
        <p:spPr>
          <a:xfrm>
            <a:off x="8521451" y="671512"/>
            <a:ext cx="1450925" cy="95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75" b="0" i="0" u="none" strike="noStrike" cap="none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Outcomes</a:t>
            </a:r>
            <a:endParaRPr lang="en-US" sz="675" b="0" i="0" u="none" strike="noStrike" cap="none">
              <a:solidFill>
                <a:srgbClr val="FFFFF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0" name="Google Shape;360;p22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1" name="Google Shape;361;p22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9810750" y="381000"/>
            <a:ext cx="19050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p22"/>
          <p:cNvSpPr txBox="1"/>
          <p:nvPr/>
        </p:nvSpPr>
        <p:spPr>
          <a:xfrm>
            <a:off x="4115752" y="2586037"/>
            <a:ext cx="3960495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1B7A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感谢聆听</a:t>
            </a:r>
            <a:endParaRPr lang="en-US" sz="6000" b="1" i="0" u="none" strike="noStrike" cap="none">
              <a:solidFill>
                <a:srgbClr val="1B7A4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363" name="Google Shape;363;p22"/>
          <p:cNvSpPr txBox="1"/>
          <p:nvPr/>
        </p:nvSpPr>
        <p:spPr>
          <a:xfrm>
            <a:off x="4210050" y="3805237"/>
            <a:ext cx="3771900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>
                <a:solidFill>
                  <a:srgbClr val="33333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恳请各位老师批评指正！</a:t>
            </a:r>
            <a:endParaRPr lang="en-US" sz="2700" b="0" i="0" u="none" strike="noStrike" cap="none">
              <a:solidFill>
                <a:srgbClr val="333333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8.695275590551134,&quot;left&quot;:63.75,&quot;top&quot;:455.70937007874016,&quot;width&quot;:843}"/>
</p:tagLst>
</file>

<file path=ppt/tags/tag2.xml><?xml version="1.0" encoding="utf-8"?>
<p:tagLst xmlns:p="http://schemas.openxmlformats.org/presentationml/2006/main">
  <p:tag name="KSO_WM_DIAGRAM_VIRTUALLY_FRAME" val="{&quot;height&quot;:38.695275590551134,&quot;left&quot;:63.75,&quot;top&quot;:455.70937007874016,&quot;width&quot;:843}"/>
</p:tagLst>
</file>

<file path=ppt/tags/tag3.xml><?xml version="1.0" encoding="utf-8"?>
<p:tagLst xmlns:p="http://schemas.openxmlformats.org/presentationml/2006/main">
  <p:tag name="KSO_WM_DIAGRAM_VIRTUALLY_FRAME" val="{&quot;height&quot;:38.695275590551134,&quot;left&quot;:63.75,&quot;top&quot;:455.70937007874016,&quot;width&quot;:843}"/>
</p:tagLst>
</file>

<file path=ppt/tags/tag4.xml><?xml version="1.0" encoding="utf-8"?>
<p:tagLst xmlns:p="http://schemas.openxmlformats.org/presentationml/2006/main">
  <p:tag name="KSO_WM_DIAGRAM_VIRTUALLY_FRAME" val="{&quot;height&quot;:38.695275590551134,&quot;left&quot;:63.75,&quot;top&quot;:455.70937007874016,&quot;width&quot;:843}"/>
</p:tagLst>
</file>

<file path=ppt/tags/tag5.xml><?xml version="1.0" encoding="utf-8"?>
<p:tagLst xmlns:p="http://schemas.openxmlformats.org/presentationml/2006/main">
  <p:tag name="KSO_WM_DIAGRAM_VIRTUALLY_FRAME" val="{&quot;height&quot;:38.695275590551134,&quot;left&quot;:63.75,&quot;top&quot;:455.70937007874016,&quot;width&quot;:843}"/>
</p:tagLst>
</file>

<file path=ppt/tags/tag6.xml><?xml version="1.0" encoding="utf-8"?>
<p:tagLst xmlns:p="http://schemas.openxmlformats.org/presentationml/2006/main">
  <p:tag name="KSO_WM_DIAGRAM_VIRTUALLY_FRAME" val="{&quot;height&quot;:38.695275590551134,&quot;left&quot;:63.75,&quot;top&quot;:455.70937007874016,&quot;width&quot;:843}"/>
</p:tagLst>
</file>

<file path=ppt/tags/tag7.xml><?xml version="1.0" encoding="utf-8"?>
<p:tagLst xmlns:p="http://schemas.openxmlformats.org/presentationml/2006/main">
  <p:tag name="KSO_WM_DIAGRAM_VIRTUALLY_FRAME" val="{&quot;height&quot;:38.695275590551134,&quot;left&quot;:63.75,&quot;top&quot;:455.70937007874016,&quot;width&quot;:843}"/>
</p:tagLst>
</file>

<file path=ppt/tags/tag8.xml><?xml version="1.0" encoding="utf-8"?>
<p:tagLst xmlns:p="http://schemas.openxmlformats.org/presentationml/2006/main">
  <p:tag name="KSO_WM_DIAGRAM_VIRTUALLY_FRAME" val="{&quot;height&quot;:38.695275590551134,&quot;left&quot;:63.75,&quot;top&quot;:455.70937007874016,&quot;width&quot;:843}"/>
</p:tagLst>
</file>

<file path=ppt/tags/tag9.xml><?xml version="1.0" encoding="utf-8"?>
<p:tagLst xmlns:p="http://schemas.openxmlformats.org/presentationml/2006/main">
  <p:tag name="KSO_WM_DIAGRAM_VIRTUALLY_FRAME" val="{&quot;height&quot;:119.99999999999996,&quot;left&quot;:37.5,&quot;top&quot;:366.37496062992125,&quot;width&quot;:884.988188976378}"/>
</p:tagLst>
</file>

<file path=ppt/tags/tag10.xml><?xml version="1.0" encoding="utf-8"?>
<p:tagLst xmlns:p="http://schemas.openxmlformats.org/presentationml/2006/main">
  <p:tag name="KSO_WM_DIAGRAM_VIRTUALLY_FRAME" val="{&quot;height&quot;:119.99999999999996,&quot;left&quot;:37.5,&quot;top&quot;:366.37496062992125,&quot;width&quot;:884.988188976378}"/>
</p:tagLst>
</file>

<file path=ppt/tags/tag11.xml><?xml version="1.0" encoding="utf-8"?>
<p:tagLst xmlns:p="http://schemas.openxmlformats.org/presentationml/2006/main">
  <p:tag name="KSO_WM_DIAGRAM_VIRTUALLY_FRAME" val="{&quot;height&quot;:119.99999999999996,&quot;left&quot;:37.5,&quot;top&quot;:366.37496062992125,&quot;width&quot;:884.988188976378}"/>
</p:tagLst>
</file>

<file path=ppt/tags/tag12.xml><?xml version="1.0" encoding="utf-8"?>
<p:tagLst xmlns:p="http://schemas.openxmlformats.org/presentationml/2006/main">
  <p:tag name="KSO_WM_DIAGRAM_VIRTUALLY_FRAME" val="{&quot;height&quot;:119.99999999999996,&quot;left&quot;:37.5,&quot;top&quot;:366.37496062992125,&quot;width&quot;:884.988188976378}"/>
</p:tagLst>
</file>

<file path=ppt/tags/tag13.xml><?xml version="1.0" encoding="utf-8"?>
<p:tagLst xmlns:p="http://schemas.openxmlformats.org/presentationml/2006/main">
  <p:tag name="KSO_WM_DIAGRAM_VIRTUALLY_FRAME" val="{&quot;height&quot;:119.99999999999996,&quot;left&quot;:37.5,&quot;top&quot;:366.37496062992125,&quot;width&quot;:884.988188976378}"/>
</p:tagLst>
</file>

<file path=ppt/tags/tag14.xml><?xml version="1.0" encoding="utf-8"?>
<p:tagLst xmlns:p="http://schemas.openxmlformats.org/presentationml/2006/main">
  <p:tag name="KSO_WM_DIAGRAM_VIRTUALLY_FRAME" val="{&quot;height&quot;:119.99999999999996,&quot;left&quot;:37.5,&quot;top&quot;:366.37496062992125,&quot;width&quot;:884.988188976378}"/>
</p:tagLst>
</file>

<file path=ppt/tags/tag15.xml><?xml version="1.0" encoding="utf-8"?>
<p:tagLst xmlns:p="http://schemas.openxmlformats.org/presentationml/2006/main">
  <p:tag name="KSO_WM_DIAGRAM_VIRTUALLY_FRAME" val="{&quot;height&quot;:119.99999999999996,&quot;left&quot;:37.5,&quot;top&quot;:366.37496062992125,&quot;width&quot;:884.988188976378}"/>
</p:tagLst>
</file>

<file path=ppt/tags/tag16.xml><?xml version="1.0" encoding="utf-8"?>
<p:tagLst xmlns:p="http://schemas.openxmlformats.org/presentationml/2006/main">
  <p:tag name="KSO_WM_DIAGRAM_VIRTUALLY_FRAME" val="{&quot;height&quot;:119.99999999999996,&quot;left&quot;:37.5,&quot;top&quot;:366.37496062992125,&quot;width&quot;:884.988188976378}"/>
</p:tagLst>
</file>

<file path=ppt/tags/tag17.xml><?xml version="1.0" encoding="utf-8"?>
<p:tagLst xmlns:p="http://schemas.openxmlformats.org/presentationml/2006/main">
  <p:tag name="KSO_WM_DIAGRAM_VIRTUALLY_FRAME" val="{&quot;height&quot;:119.99999999999996,&quot;left&quot;:37.5,&quot;top&quot;:366.37496062992125,&quot;width&quot;:884.988188976378}"/>
</p:tagLst>
</file>

<file path=ppt/tags/tag18.xml><?xml version="1.0" encoding="utf-8"?>
<p:tagLst xmlns:p="http://schemas.openxmlformats.org/presentationml/2006/main">
  <p:tag name="KSO_WM_DIAGRAM_VIRTUALLY_FRAME" val="{&quot;height&quot;:119.99999999999996,&quot;left&quot;:37.5,&quot;top&quot;:366.37496062992125,&quot;width&quot;:884.988188976378}"/>
</p:tagLst>
</file>

<file path=ppt/tags/tag19.xml><?xml version="1.0" encoding="utf-8"?>
<p:tagLst xmlns:p="http://schemas.openxmlformats.org/presentationml/2006/main">
  <p:tag name="KSO_WM_DIAGRAM_VIRTUALLY_FRAME" val="{&quot;height&quot;:119.99999999999996,&quot;left&quot;:37.5,&quot;top&quot;:366.37496062992125,&quot;width&quot;:884.988188976378}"/>
</p:tagLst>
</file>

<file path=ppt/tags/tag20.xml><?xml version="1.0" encoding="utf-8"?>
<p:tagLst xmlns:p="http://schemas.openxmlformats.org/presentationml/2006/main">
  <p:tag name="KSO_WM_DIAGRAM_VIRTUALLY_FRAME" val="{&quot;height&quot;:119.99999999999996,&quot;left&quot;:37.5,&quot;top&quot;:366.37496062992125,&quot;width&quot;:884.988188976378}"/>
</p:tagLst>
</file>

<file path=ppt/tags/tag21.xml><?xml version="1.0" encoding="utf-8"?>
<p:tagLst xmlns:p="http://schemas.openxmlformats.org/presentationml/2006/main">
  <p:tag name="KSO_WM_DIAGRAM_VIRTUALLY_FRAME" val="{&quot;height&quot;:119.99999999999996,&quot;left&quot;:37.5,&quot;top&quot;:366.37496062992125,&quot;width&quot;:884.988188976378}"/>
</p:tagLst>
</file>

<file path=ppt/tags/tag22.xml><?xml version="1.0" encoding="utf-8"?>
<p:tagLst xmlns:p="http://schemas.openxmlformats.org/presentationml/2006/main">
  <p:tag name="KSO_WM_DIAGRAM_VIRTUALLY_FRAME" val="{&quot;height&quot;:119.99999999999996,&quot;left&quot;:37.5,&quot;top&quot;:366.37496062992125,&quot;width&quot;:884.988188976378}"/>
</p:tagLst>
</file>

<file path=ppt/tags/tag23.xml><?xml version="1.0" encoding="utf-8"?>
<p:tagLst xmlns:p="http://schemas.openxmlformats.org/presentationml/2006/main">
  <p:tag name="KSO_WM_DIAGRAM_VIRTUALLY_FRAME" val="{&quot;height&quot;:119.99999999999996,&quot;left&quot;:37.5,&quot;top&quot;:366.37496062992125,&quot;width&quot;:884.988188976378}"/>
</p:tagLst>
</file>

<file path=ppt/tags/tag24.xml><?xml version="1.0" encoding="utf-8"?>
<p:tagLst xmlns:p="http://schemas.openxmlformats.org/presentationml/2006/main">
  <p:tag name="KSO_WM_DIAGRAM_VIRTUALLY_FRAME" val="{&quot;height&quot;:119.99999999999996,&quot;left&quot;:37.5,&quot;top&quot;:366.37496062992125,&quot;width&quot;:884.988188976378}"/>
</p:tagLst>
</file>

<file path=ppt/tags/tag25.xml><?xml version="1.0" encoding="utf-8"?>
<p:tagLst xmlns:p="http://schemas.openxmlformats.org/presentationml/2006/main">
  <p:tag name="KSO_WM_DIAGRAM_VIRTUALLY_FRAME" val="{&quot;height&quot;:119.99999999999996,&quot;left&quot;:37.5,&quot;top&quot;:366.37496062992125,&quot;width&quot;:884.988188976378}"/>
</p:tagLst>
</file>

<file path=ppt/tags/tag26.xml><?xml version="1.0" encoding="utf-8"?>
<p:tagLst xmlns:p="http://schemas.openxmlformats.org/presentationml/2006/main">
  <p:tag name="KSO_WM_DIAGRAM_VIRTUALLY_FRAME" val="{&quot;height&quot;:119.99999999999996,&quot;left&quot;:37.5,&quot;top&quot;:366.37496062992125,&quot;width&quot;:884.988188976378}"/>
</p:tagLst>
</file>

<file path=ppt/tags/tag27.xml><?xml version="1.0" encoding="utf-8"?>
<p:tagLst xmlns:p="http://schemas.openxmlformats.org/presentationml/2006/main">
  <p:tag name="KSO_WM_DIAGRAM_VIRTUALLY_FRAME" val="{&quot;height&quot;:119.99999999999996,&quot;left&quot;:37.5,&quot;top&quot;:366.37496062992125,&quot;width&quot;:884.988188976378}"/>
</p:tagLst>
</file>

<file path=ppt/tags/tag28.xml><?xml version="1.0" encoding="utf-8"?>
<p:tagLst xmlns:p="http://schemas.openxmlformats.org/presentationml/2006/main">
  <p:tag name="KSO_WM_DIAGRAM_VIRTUALLY_FRAME" val="{&quot;height&quot;:119.99999999999996,&quot;left&quot;:37.5,&quot;top&quot;:366.37496062992125,&quot;width&quot;:884.988188976378}"/>
</p:tagLst>
</file>

<file path=ppt/tags/tag29.xml><?xml version="1.0" encoding="utf-8"?>
<p:tagLst xmlns:p="http://schemas.openxmlformats.org/presentationml/2006/main">
  <p:tag name="KSO_WM_DIAGRAM_VIRTUALLY_FRAME" val="{&quot;height&quot;:119.99999999999996,&quot;left&quot;:37.5,&quot;top&quot;:366.37496062992125,&quot;width&quot;:884.988188976378}"/>
</p:tagLst>
</file>

<file path=ppt/tags/tag30.xml><?xml version="1.0" encoding="utf-8"?>
<p:tagLst xmlns:p="http://schemas.openxmlformats.org/presentationml/2006/main">
  <p:tag name="KSO_WM_DIAGRAM_VIRTUALLY_FRAME" val="{&quot;height&quot;:119.99999999999996,&quot;left&quot;:37.5,&quot;top&quot;:366.37496062992125,&quot;width&quot;:884.988188976378}"/>
</p:tagLst>
</file>

<file path=ppt/tags/tag31.xml><?xml version="1.0" encoding="utf-8"?>
<p:tagLst xmlns:p="http://schemas.openxmlformats.org/presentationml/2006/main">
  <p:tag name="KSO_WM_DIAGRAM_VIRTUALLY_FRAME" val="{&quot;height&quot;:119.99999999999996,&quot;left&quot;:37.5,&quot;top&quot;:366.37496062992125,&quot;width&quot;:884.988188976378}"/>
</p:tagLst>
</file>

<file path=ppt/tags/tag32.xml><?xml version="1.0" encoding="utf-8"?>
<p:tagLst xmlns:p="http://schemas.openxmlformats.org/presentationml/2006/main">
  <p:tag name="KSO_WM_DIAGRAM_VIRTUALLY_FRAME" val="{&quot;height&quot;:119.99999999999996,&quot;left&quot;:37.5,&quot;top&quot;:366.37496062992125,&quot;width&quot;:884.988188976378}"/>
</p:tagLst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2310</Words>
  <Application>WPS 演示</Application>
  <PresentationFormat/>
  <Paragraphs>454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0" baseType="lpstr">
      <vt:lpstr>Arial</vt:lpstr>
      <vt:lpstr>宋体</vt:lpstr>
      <vt:lpstr>Wingdings</vt:lpstr>
      <vt:lpstr>Arial</vt:lpstr>
      <vt:lpstr>Calibri</vt:lpstr>
      <vt:lpstr>微软雅黑</vt:lpstr>
      <vt:lpstr>Times New Roman</vt:lpstr>
      <vt:lpstr>Arial Unicode MS</vt:lpstr>
      <vt:lpstr>Times New Roman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张梦雯</cp:lastModifiedBy>
  <cp:revision>10</cp:revision>
  <dcterms:created xsi:type="dcterms:W3CDTF">2026-07-11T08:13:28Z</dcterms:created>
  <dcterms:modified xsi:type="dcterms:W3CDTF">2026-07-11T08:29:01Z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32F68A9B3D144E8E8B24B1548FED7B8A_12</vt:lpwstr>
  </property>
  <property fmtid="{D5CDD505-2E9C-101B-9397-08002B2CF9AE}" pid="3" name="KSOProductBuildVer">
    <vt:lpwstr>2052-12.1.0.26375</vt:lpwstr>
  </property>
</Properties>
</file>