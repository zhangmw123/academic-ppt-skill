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CD8219F-B82B-42E4-9DBC-B150E7C639B3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0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0" name="Google Shape;270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tags" Target="../tags/tag5.xml"/><Relationship Id="rId4" Type="http://schemas.openxmlformats.org/officeDocument/2006/relationships/image" Target="../media/image6.png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11.png"/><Relationship Id="rId6" Type="http://schemas.openxmlformats.org/officeDocument/2006/relationships/tags" Target="../tags/tag14.xml"/><Relationship Id="rId5" Type="http://schemas.openxmlformats.org/officeDocument/2006/relationships/image" Target="../media/image10.png"/><Relationship Id="rId4" Type="http://schemas.openxmlformats.org/officeDocument/2006/relationships/tags" Target="../tags/tag13.xml"/><Relationship Id="rId3" Type="http://schemas.openxmlformats.org/officeDocument/2006/relationships/image" Target="../media/image9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27.xml"/><Relationship Id="rId2" Type="http://schemas.openxmlformats.org/officeDocument/2006/relationships/tags" Target="../tags/tag12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31.xml"/><Relationship Id="rId7" Type="http://schemas.openxmlformats.org/officeDocument/2006/relationships/image" Target="../media/image20.png"/><Relationship Id="rId6" Type="http://schemas.openxmlformats.org/officeDocument/2006/relationships/tags" Target="../tags/tag30.xml"/><Relationship Id="rId5" Type="http://schemas.openxmlformats.org/officeDocument/2006/relationships/image" Target="../media/image19.png"/><Relationship Id="rId4" Type="http://schemas.openxmlformats.org/officeDocument/2006/relationships/tags" Target="../tags/tag29.xml"/><Relationship Id="rId3" Type="http://schemas.openxmlformats.org/officeDocument/2006/relationships/image" Target="../media/image18.png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8.xml"/><Relationship Id="rId19" Type="http://schemas.openxmlformats.org/officeDocument/2006/relationships/image" Target="../media/image25.png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image" Target="../media/image24.png"/><Relationship Id="rId14" Type="http://schemas.openxmlformats.org/officeDocument/2006/relationships/tags" Target="../tags/tag34.xml"/><Relationship Id="rId13" Type="http://schemas.openxmlformats.org/officeDocument/2006/relationships/image" Target="../media/image23.png"/><Relationship Id="rId12" Type="http://schemas.openxmlformats.org/officeDocument/2006/relationships/tags" Target="../tags/tag33.xml"/><Relationship Id="rId11" Type="http://schemas.openxmlformats.org/officeDocument/2006/relationships/image" Target="../media/image22.png"/><Relationship Id="rId10" Type="http://schemas.openxmlformats.org/officeDocument/2006/relationships/tags" Target="../tags/tag32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46.xml"/><Relationship Id="rId7" Type="http://schemas.openxmlformats.org/officeDocument/2006/relationships/image" Target="../media/image29.png"/><Relationship Id="rId6" Type="http://schemas.openxmlformats.org/officeDocument/2006/relationships/tags" Target="../tags/tag45.xml"/><Relationship Id="rId5" Type="http://schemas.openxmlformats.org/officeDocument/2006/relationships/image" Target="../media/image28.png"/><Relationship Id="rId4" Type="http://schemas.openxmlformats.org/officeDocument/2006/relationships/tags" Target="../tags/tag44.xml"/><Relationship Id="rId33" Type="http://schemas.openxmlformats.org/officeDocument/2006/relationships/notesSlide" Target="../notesSlides/notesSlide7.xml"/><Relationship Id="rId32" Type="http://schemas.openxmlformats.org/officeDocument/2006/relationships/slideLayout" Target="../slideLayouts/slideLayout1.xml"/><Relationship Id="rId31" Type="http://schemas.openxmlformats.org/officeDocument/2006/relationships/image" Target="../media/image38.png"/><Relationship Id="rId30" Type="http://schemas.openxmlformats.org/officeDocument/2006/relationships/tags" Target="../tags/tag60.xml"/><Relationship Id="rId3" Type="http://schemas.openxmlformats.org/officeDocument/2006/relationships/image" Target="../media/image27.png"/><Relationship Id="rId29" Type="http://schemas.openxmlformats.org/officeDocument/2006/relationships/image" Target="../media/image37.png"/><Relationship Id="rId28" Type="http://schemas.openxmlformats.org/officeDocument/2006/relationships/tags" Target="../tags/tag59.xml"/><Relationship Id="rId27" Type="http://schemas.openxmlformats.org/officeDocument/2006/relationships/image" Target="../media/image36.png"/><Relationship Id="rId26" Type="http://schemas.openxmlformats.org/officeDocument/2006/relationships/tags" Target="../tags/tag58.xml"/><Relationship Id="rId25" Type="http://schemas.openxmlformats.org/officeDocument/2006/relationships/image" Target="../media/image35.png"/><Relationship Id="rId24" Type="http://schemas.openxmlformats.org/officeDocument/2006/relationships/tags" Target="../tags/tag57.xml"/><Relationship Id="rId23" Type="http://schemas.openxmlformats.org/officeDocument/2006/relationships/image" Target="../media/image34.png"/><Relationship Id="rId22" Type="http://schemas.openxmlformats.org/officeDocument/2006/relationships/tags" Target="../tags/tag56.xml"/><Relationship Id="rId21" Type="http://schemas.openxmlformats.org/officeDocument/2006/relationships/image" Target="../media/image33.png"/><Relationship Id="rId20" Type="http://schemas.openxmlformats.org/officeDocument/2006/relationships/tags" Target="../tags/tag55.xml"/><Relationship Id="rId2" Type="http://schemas.openxmlformats.org/officeDocument/2006/relationships/tags" Target="../tags/tag43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image" Target="../media/image32.png"/><Relationship Id="rId12" Type="http://schemas.openxmlformats.org/officeDocument/2006/relationships/tags" Target="../tags/tag48.xml"/><Relationship Id="rId11" Type="http://schemas.openxmlformats.org/officeDocument/2006/relationships/image" Target="../media/image31.png"/><Relationship Id="rId10" Type="http://schemas.openxmlformats.org/officeDocument/2006/relationships/tags" Target="../tags/tag47.xml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942308" y="3476625"/>
            <a:ext cx="4307234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75510" y="1666875"/>
            <a:ext cx="7840980" cy="62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8B0015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电化学合成与分子催化研究进展</a:t>
            </a:r>
            <a:endParaRPr lang="en-US" sz="4050" b="1" i="0" u="none" strike="noStrike" cap="none">
              <a:solidFill>
                <a:srgbClr val="8B0015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051904" y="2552700"/>
            <a:ext cx="808804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Progress in Electrochemical Synthesis and Molecular Catalysis</a:t>
            </a:r>
            <a:endParaRPr lang="en-US" sz="2400" b="0" i="0" u="none" strike="noStrike" cap="none">
              <a:solidFill>
                <a:srgbClr val="333333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23333" y="3771900"/>
            <a:ext cx="314518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汇报人：输入姓名 (Your Name)</a:t>
            </a:r>
            <a:endParaRPr lang="en-US" sz="18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523333" y="4210050"/>
            <a:ext cx="314518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5555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导师：输入姓名 教授 (Prof. Name)</a:t>
            </a:r>
            <a:endParaRPr lang="en-US" sz="1500" b="0" i="0" u="none" strike="noStrike" cap="none">
              <a:solidFill>
                <a:srgbClr val="55555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523333" y="4638675"/>
            <a:ext cx="314518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7777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化学院系名称 | 2026年7月</a:t>
            </a:r>
            <a:endParaRPr lang="en-US" sz="1350" b="0" i="0" u="none" strike="noStrike" cap="none">
              <a:solidFill>
                <a:srgbClr val="777777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1451610" y="3249930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250" y="1152525"/>
            <a:ext cx="11239500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47700" y="415290"/>
            <a:ext cx="804672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1. 研究背景 (Research Background)</a:t>
            </a:r>
            <a:endParaRPr lang="en-US" sz="255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6250" y="415379"/>
            <a:ext cx="76200" cy="356145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76275" y="1752600"/>
            <a:ext cx="10839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随着全球能源危机和环境问题的日益严峻，发展绿色、可持续的合成方法已成为现代化学研究的核心目标。传统的有机合成往往依赖于有毒试剂和苛刻的反应条件，产生大量废弃物。相比之下，有机电化学合成利用清洁的电子作为氧化剂或还原剂，在温和的条件下实现化学键的精准构建，具有高度的原子经济性和环境友好性。</a:t>
            </a:r>
            <a:endParaRPr lang="en-US" sz="135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472237" y="3405187"/>
            <a:ext cx="47625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custDataLst>
              <p:tags r:id="rId4"/>
            </p:custDataLst>
          </p:nvPr>
        </p:nvSpPr>
        <p:spPr>
          <a:xfrm>
            <a:off x="914400" y="3676650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传统挑战：</a:t>
            </a:r>
            <a:r>
              <a:rPr lang="en-US" sz="135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依赖高温高压、重金属催化剂难以回收、副产物多。</a:t>
            </a:r>
            <a:endParaRPr lang="en-US" sz="135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05" name="Google Shape;105;p14"/>
          <p:cNvSpPr txBox="1"/>
          <p:nvPr>
            <p:custDataLst>
              <p:tags r:id="rId5"/>
            </p:custDataLst>
          </p:nvPr>
        </p:nvSpPr>
        <p:spPr>
          <a:xfrm>
            <a:off x="914400" y="4010025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电催化优势：</a:t>
            </a:r>
            <a:r>
              <a:rPr lang="en-US" sz="135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条件温和（常温常压）、通过调节电位控制选择性、无须额外氧化还原剂。</a:t>
            </a:r>
            <a:endParaRPr lang="en-US" sz="135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07" name="Google Shape;107;p14"/>
          <p:cNvSpPr txBox="1"/>
          <p:nvPr>
            <p:custDataLst>
              <p:tags r:id="rId6"/>
            </p:custDataLst>
          </p:nvPr>
        </p:nvSpPr>
        <p:spPr>
          <a:xfrm>
            <a:off x="914400" y="4600575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发展瓶颈：</a:t>
            </a:r>
            <a:r>
              <a:rPr lang="en-US" sz="135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 反应机制复杂，中间体寿命短，宏观反应动力学和微观电子转移过程的耦合机制尚不明晰。</a:t>
            </a:r>
            <a:endParaRPr lang="en-US" sz="135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" name="圆角矩形 0"/>
          <p:cNvSpPr/>
          <p:nvPr/>
        </p:nvSpPr>
        <p:spPr>
          <a:xfrm>
            <a:off x="407670" y="1106805"/>
            <a:ext cx="11396980" cy="508000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800" b="1">
                <a:latin typeface="微软雅黑" panose="020B0503020204020204" charset="-122"/>
                <a:ea typeface="微软雅黑" panose="020B0503020204020204" charset="-122"/>
              </a:rPr>
              <a:t>当前有机合成面临的挑战以及电催化的机遇</a:t>
            </a:r>
            <a:endParaRPr lang="zh-CN" altLang="en-US" sz="1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473710" y="97726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286500" y="1152525"/>
            <a:ext cx="5429250" cy="532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476250" y="1152525"/>
            <a:ext cx="54292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>
            <p:custDataLst>
              <p:tags r:id="rId5"/>
            </p:custDataLst>
          </p:nvPr>
        </p:nvPicPr>
        <p:blipFill rotWithShape="1">
          <a:blip r:embed="rId6"/>
          <a:srcRect/>
          <a:stretch>
            <a:fillRect/>
          </a:stretch>
        </p:blipFill>
        <p:spPr>
          <a:xfrm>
            <a:off x="476250" y="3686175"/>
            <a:ext cx="5429250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47700" y="415290"/>
            <a:ext cx="781812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2. 研究意义 (Research Significance)</a:t>
            </a:r>
            <a:endParaRPr lang="en-US" sz="255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76250" y="415379"/>
            <a:ext cx="76200" cy="356145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6619875" y="2714625"/>
            <a:ext cx="4762500" cy="220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>
            <p:custDataLst>
              <p:tags r:id="rId8"/>
            </p:custDataLst>
          </p:nvPr>
        </p:nvSpPr>
        <p:spPr>
          <a:xfrm>
            <a:off x="771525" y="1352550"/>
            <a:ext cx="51806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B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理论意义 (Theoretical Significance)</a:t>
            </a:r>
            <a:endParaRPr lang="en-US" sz="1800" b="1" i="0" u="none" strike="noStrike" cap="none">
              <a:solidFill>
                <a:srgbClr val="8B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21" name="Google Shape;121;p15"/>
          <p:cNvSpPr/>
          <p:nvPr>
            <p:custDataLst>
              <p:tags r:id="rId9"/>
            </p:custDataLst>
          </p:nvPr>
        </p:nvSpPr>
        <p:spPr>
          <a:xfrm>
            <a:off x="676275" y="1352550"/>
            <a:ext cx="47625" cy="30480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15"/>
          <p:cNvSpPr txBox="1"/>
          <p:nvPr>
            <p:custDataLst>
              <p:tags r:id="rId10"/>
            </p:custDataLst>
          </p:nvPr>
        </p:nvSpPr>
        <p:spPr>
          <a:xfrm>
            <a:off x="676275" y="1771650"/>
            <a:ext cx="5029200" cy="1325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通过深入研究电化学合成中的多电子转移耦合过程，揭示电极-电解液界面的动态演变规律。研究结果将丰富现有的电催化理论体系，为新型催化材料的理性设计提供理论指导，填补某些复杂反应途径中的机理空白。</a:t>
            </a:r>
            <a:endParaRPr lang="en-US" sz="135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23" name="Google Shape;123;p15"/>
          <p:cNvSpPr txBox="1"/>
          <p:nvPr>
            <p:custDataLst>
              <p:tags r:id="rId11"/>
            </p:custDataLst>
          </p:nvPr>
        </p:nvSpPr>
        <p:spPr>
          <a:xfrm>
            <a:off x="771525" y="3886200"/>
            <a:ext cx="5180647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B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实践意义 (Practical Significance)</a:t>
            </a:r>
            <a:endParaRPr lang="en-US" sz="1800" b="1" i="0" u="none" strike="noStrike" cap="none">
              <a:solidFill>
                <a:srgbClr val="8B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24" name="Google Shape;124;p15"/>
          <p:cNvSpPr/>
          <p:nvPr>
            <p:custDataLst>
              <p:tags r:id="rId12"/>
            </p:custDataLst>
          </p:nvPr>
        </p:nvSpPr>
        <p:spPr>
          <a:xfrm>
            <a:off x="676275" y="3886200"/>
            <a:ext cx="47625" cy="30480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15"/>
          <p:cNvSpPr txBox="1"/>
          <p:nvPr>
            <p:custDataLst>
              <p:tags r:id="rId13"/>
            </p:custDataLst>
          </p:nvPr>
        </p:nvSpPr>
        <p:spPr>
          <a:xfrm>
            <a:off x="676275" y="4305300"/>
            <a:ext cx="5029200" cy="1056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契合国家“双碳”战略目标，开发的高效电催化体系可直接应用于精细化学品的绿色合成、生物质资源的高值化转化以及废弃塑料的降解循环，推动传统化工产业向低碳、清洁、智能制造转型升级。</a:t>
            </a:r>
            <a:endParaRPr lang="en-US" sz="135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" name="圆角矩形 0"/>
          <p:cNvSpPr/>
          <p:nvPr/>
        </p:nvSpPr>
        <p:spPr>
          <a:xfrm>
            <a:off x="495300" y="5923280"/>
            <a:ext cx="5429250" cy="648335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结论：本项目在夯实理论基础的同时，具有工程应用前景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473710" y="97726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438275"/>
            <a:ext cx="2631281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3345656" y="1438275"/>
            <a:ext cx="2631281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6215062" y="1438275"/>
            <a:ext cx="2631281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9084468" y="1438275"/>
            <a:ext cx="2631281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647700" y="415290"/>
            <a:ext cx="8437245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3. 研究思路与方法 (Research Ideas and Methods)</a:t>
            </a:r>
            <a:endParaRPr lang="en-US" sz="255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76250" y="415379"/>
            <a:ext cx="76200" cy="356145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1" name="Google Shape;141;p16"/>
          <p:cNvSpPr txBox="1"/>
          <p:nvPr>
            <p:custDataLst>
              <p:tags r:id="rId9"/>
            </p:custDataLst>
          </p:nvPr>
        </p:nvSpPr>
        <p:spPr>
          <a:xfrm>
            <a:off x="676275" y="1685925"/>
            <a:ext cx="23427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文献调研与体系设计</a:t>
            </a:r>
            <a:endParaRPr lang="en-US" sz="15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2" name="Google Shape;142;p16"/>
          <p:cNvSpPr/>
          <p:nvPr>
            <p:custDataLst>
              <p:tags r:id="rId10"/>
            </p:custDataLst>
          </p:nvPr>
        </p:nvSpPr>
        <p:spPr>
          <a:xfrm>
            <a:off x="676275" y="2038350"/>
            <a:ext cx="2231231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3" name="Google Shape;143;p16"/>
          <p:cNvSpPr txBox="1"/>
          <p:nvPr>
            <p:custDataLst>
              <p:tags r:id="rId11"/>
            </p:custDataLst>
          </p:nvPr>
        </p:nvSpPr>
        <p:spPr>
          <a:xfrm>
            <a:off x="676275" y="2200275"/>
            <a:ext cx="22312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全面梳理领域内前沿文献，基于过渡金属催化与电化学的交叉优势，设计新型双效催化体系。预估热力学可行性，确立初始反应模型与目标产物。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16"/>
          <p:cNvSpPr txBox="1"/>
          <p:nvPr>
            <p:custDataLst>
              <p:tags r:id="rId12"/>
            </p:custDataLst>
          </p:nvPr>
        </p:nvSpPr>
        <p:spPr>
          <a:xfrm>
            <a:off x="3545681" y="1685925"/>
            <a:ext cx="23427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电解槽构建与参数优化</a:t>
            </a:r>
            <a:endParaRPr lang="en-US" sz="15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5" name="Google Shape;145;p16"/>
          <p:cNvSpPr/>
          <p:nvPr>
            <p:custDataLst>
              <p:tags r:id="rId13"/>
            </p:custDataLst>
          </p:nvPr>
        </p:nvSpPr>
        <p:spPr>
          <a:xfrm>
            <a:off x="3545681" y="2038350"/>
            <a:ext cx="2231231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p16"/>
          <p:cNvSpPr txBox="1"/>
          <p:nvPr>
            <p:custDataLst>
              <p:tags r:id="rId14"/>
            </p:custDataLst>
          </p:nvPr>
        </p:nvSpPr>
        <p:spPr>
          <a:xfrm>
            <a:off x="3545681" y="2200275"/>
            <a:ext cx="22312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搭建H型与流动型电解槽测试平台，通过控制变量法系统筛选电极材料、溶剂、支持电解质，使用循环伏安法（CV）确定最佳工作电位与电流密度。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47" name="Google Shape;147;p16"/>
          <p:cNvSpPr txBox="1"/>
          <p:nvPr>
            <p:custDataLst>
              <p:tags r:id="rId15"/>
            </p:custDataLst>
          </p:nvPr>
        </p:nvSpPr>
        <p:spPr>
          <a:xfrm>
            <a:off x="6415087" y="1685925"/>
            <a:ext cx="23427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原位表征与中间体捕获</a:t>
            </a:r>
            <a:endParaRPr lang="en-US" sz="15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16"/>
          <p:cNvSpPr/>
          <p:nvPr>
            <p:custDataLst>
              <p:tags r:id="rId16"/>
            </p:custDataLst>
          </p:nvPr>
        </p:nvSpPr>
        <p:spPr>
          <a:xfrm>
            <a:off x="6415087" y="2038350"/>
            <a:ext cx="2231231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p16"/>
          <p:cNvSpPr txBox="1"/>
          <p:nvPr>
            <p:custDataLst>
              <p:tags r:id="rId17"/>
            </p:custDataLst>
          </p:nvPr>
        </p:nvSpPr>
        <p:spPr>
          <a:xfrm>
            <a:off x="6415087" y="2200275"/>
            <a:ext cx="22312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结合原位红外光谱 (in-situ FTIR)、电子自旋共振 (EPR) 技术，实时监测反应过程，捕获瞬态自由基中间体，为反应机理推导提供直接实验证据。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150" name="Google Shape;150;p16"/>
          <p:cNvSpPr txBox="1"/>
          <p:nvPr>
            <p:custDataLst>
              <p:tags r:id="rId18"/>
            </p:custDataLst>
          </p:nvPr>
        </p:nvSpPr>
        <p:spPr>
          <a:xfrm>
            <a:off x="9284493" y="1685925"/>
            <a:ext cx="23427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理论计算与动力学模拟</a:t>
            </a:r>
            <a:endParaRPr lang="en-US" sz="1500" b="1" i="0" u="none" strike="noStrike" cap="non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16"/>
          <p:cNvSpPr/>
          <p:nvPr>
            <p:custDataLst>
              <p:tags r:id="rId19"/>
            </p:custDataLst>
          </p:nvPr>
        </p:nvSpPr>
        <p:spPr>
          <a:xfrm>
            <a:off x="9284493" y="2038350"/>
            <a:ext cx="2231231" cy="1905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2" name="Google Shape;152;p16"/>
          <p:cNvSpPr txBox="1"/>
          <p:nvPr>
            <p:custDataLst>
              <p:tags r:id="rId20"/>
            </p:custDataLst>
          </p:nvPr>
        </p:nvSpPr>
        <p:spPr>
          <a:xfrm>
            <a:off x="9284493" y="2200275"/>
            <a:ext cx="2231231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运用密度泛函理论 (DFT) 计算关键反应步骤的活化能垒和吉布斯自由能变化，结合动力学同位素效应 (KIE) 实验，相互印证，绘制完整势能面。</a:t>
            </a:r>
            <a:endParaRPr lang="en-US" sz="1200" b="0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473710" y="97726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" name="椭圆 0"/>
          <p:cNvSpPr/>
          <p:nvPr/>
        </p:nvSpPr>
        <p:spPr>
          <a:xfrm>
            <a:off x="647700" y="1183005"/>
            <a:ext cx="468000" cy="468000"/>
          </a:xfrm>
          <a:prstGeom prst="ellipse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/>
              <a:t>1</a:t>
            </a:r>
            <a:endParaRPr lang="en-US" altLang="zh-CN" sz="1600" b="1"/>
          </a:p>
        </p:txBody>
      </p:sp>
      <p:sp>
        <p:nvSpPr>
          <p:cNvPr id="3" name="椭圆 2"/>
          <p:cNvSpPr/>
          <p:nvPr/>
        </p:nvSpPr>
        <p:spPr>
          <a:xfrm>
            <a:off x="3545840" y="1183005"/>
            <a:ext cx="468000" cy="468000"/>
          </a:xfrm>
          <a:prstGeom prst="ellipse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/>
              <a:t>2</a:t>
            </a:r>
            <a:endParaRPr lang="en-US" altLang="zh-CN" sz="1600" b="1"/>
          </a:p>
        </p:txBody>
      </p:sp>
      <p:sp>
        <p:nvSpPr>
          <p:cNvPr id="4" name="椭圆 3"/>
          <p:cNvSpPr/>
          <p:nvPr/>
        </p:nvSpPr>
        <p:spPr>
          <a:xfrm>
            <a:off x="6558915" y="1208405"/>
            <a:ext cx="468000" cy="468000"/>
          </a:xfrm>
          <a:prstGeom prst="ellipse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/>
              <a:t>3</a:t>
            </a:r>
            <a:endParaRPr lang="en-US" altLang="zh-CN" sz="1600" b="1"/>
          </a:p>
        </p:txBody>
      </p:sp>
      <p:sp>
        <p:nvSpPr>
          <p:cNvPr id="5" name="椭圆 4"/>
          <p:cNvSpPr/>
          <p:nvPr/>
        </p:nvSpPr>
        <p:spPr>
          <a:xfrm>
            <a:off x="9364345" y="1141730"/>
            <a:ext cx="468000" cy="468000"/>
          </a:xfrm>
          <a:prstGeom prst="ellipse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/>
              <a:t>4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647700" y="415290"/>
            <a:ext cx="620522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4. 研究过程 (Research Process)</a:t>
            </a:r>
            <a:endParaRPr lang="en-US" sz="255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76250" y="415379"/>
            <a:ext cx="76200" cy="356145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76250" y="5172075"/>
            <a:ext cx="11239500" cy="3810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038225" y="5353050"/>
            <a:ext cx="10115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B001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Month 1-2 Month 3-5 Month 6-8 Month 9-10 Month 11-12</a:t>
            </a:r>
            <a:endParaRPr lang="en-US" sz="1200" b="1" i="0" u="none" strike="noStrike" cap="none">
              <a:solidFill>
                <a:srgbClr val="8B001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172" name="Google Shape;172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457325" y="28098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724275" y="28098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76937" y="28098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277225" y="28098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0529887" y="2809875"/>
            <a:ext cx="238125" cy="190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直接连接符 1"/>
          <p:cNvCxnSpPr/>
          <p:nvPr/>
        </p:nvCxnSpPr>
        <p:spPr>
          <a:xfrm>
            <a:off x="473710" y="97726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" name="圆角矩形 0"/>
          <p:cNvSpPr/>
          <p:nvPr/>
        </p:nvSpPr>
        <p:spPr>
          <a:xfrm>
            <a:off x="612140" y="2089785"/>
            <a:ext cx="1997710" cy="393065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第一阶段：条件探索</a:t>
            </a: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888615" y="2089785"/>
            <a:ext cx="1997710" cy="393065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第二阶段：产率提升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165090" y="2089785"/>
            <a:ext cx="1997710" cy="393065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第三阶段：底物拓展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441565" y="2089785"/>
            <a:ext cx="1997710" cy="393065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第四阶段：机理验证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9718040" y="2089785"/>
            <a:ext cx="1997710" cy="393065"/>
          </a:xfrm>
          <a:prstGeom prst="roundRect">
            <a:avLst/>
          </a:prstGeom>
          <a:solidFill>
            <a:srgbClr val="8B001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第五阶段：数据分析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551815" y="3134360"/>
            <a:ext cx="1998000" cy="1762760"/>
          </a:xfrm>
          <a:prstGeom prst="roundRect">
            <a:avLst/>
          </a:prstGeom>
          <a:solidFill>
            <a:schemeClr val="bg1"/>
          </a:solidFill>
          <a:ln>
            <a:solidFill>
              <a:srgbClr val="8B00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完成设备搭建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887345" y="3134360"/>
            <a:ext cx="1998000" cy="1762760"/>
          </a:xfrm>
          <a:prstGeom prst="roundRect">
            <a:avLst/>
          </a:prstGeom>
          <a:solidFill>
            <a:schemeClr val="bg1"/>
          </a:solidFill>
          <a:ln>
            <a:solidFill>
              <a:srgbClr val="8B00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完成设备搭建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155565" y="3134360"/>
            <a:ext cx="1998000" cy="1762760"/>
          </a:xfrm>
          <a:prstGeom prst="roundRect">
            <a:avLst/>
          </a:prstGeom>
          <a:solidFill>
            <a:schemeClr val="bg1"/>
          </a:solidFill>
          <a:ln>
            <a:solidFill>
              <a:srgbClr val="8B00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完成设备搭建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435215" y="3134360"/>
            <a:ext cx="1998000" cy="1762760"/>
          </a:xfrm>
          <a:prstGeom prst="roundRect">
            <a:avLst/>
          </a:prstGeom>
          <a:solidFill>
            <a:schemeClr val="bg1"/>
          </a:solidFill>
          <a:ln>
            <a:solidFill>
              <a:srgbClr val="8B00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完成设备搭建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9702165" y="3134360"/>
            <a:ext cx="1998000" cy="1762760"/>
          </a:xfrm>
          <a:prstGeom prst="roundRect">
            <a:avLst/>
          </a:prstGeom>
          <a:solidFill>
            <a:schemeClr val="bg1"/>
          </a:solidFill>
          <a:ln>
            <a:solidFill>
              <a:srgbClr val="8B001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完成设备搭建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331866" y="330021"/>
            <a:ext cx="1649313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474291"/>
            <a:ext cx="3555950" cy="2925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76250" y="4542978"/>
            <a:ext cx="3555950" cy="193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4317950" y="1474291"/>
            <a:ext cx="3555950" cy="2925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4317950" y="4542978"/>
            <a:ext cx="3555950" cy="193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8159650" y="1474291"/>
            <a:ext cx="3556099" cy="2925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8159650" y="4542978"/>
            <a:ext cx="3556099" cy="19341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647700" y="381000"/>
            <a:ext cx="10374630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5. 已完成的研究结果 - 性能评价 </a:t>
            </a:r>
            <a:r>
              <a:rPr lang="en-US" sz="200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(Completed Results - Performance)</a:t>
            </a:r>
            <a:endParaRPr lang="en-US" sz="200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76250" y="381000"/>
            <a:ext cx="76200" cy="36000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pic>
        <p:nvPicPr>
          <p:cNvPr id="190" name="Google Shape;190;p18" descr="image.png"/>
          <p:cNvPicPr preferRelativeResize="0"/>
          <p:nvPr>
            <p:custDataLst>
              <p:tags r:id="rId1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561975" y="1814512"/>
            <a:ext cx="3384500" cy="224536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>
            <p:custDataLst>
              <p:tags r:id="rId16"/>
            </p:custDataLst>
          </p:nvPr>
        </p:nvSpPr>
        <p:spPr>
          <a:xfrm>
            <a:off x="676275" y="4743003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001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(A) 电化学氧化还原行为</a:t>
            </a:r>
            <a:endParaRPr lang="en-US" sz="1500" b="1" i="0" u="none" strike="noStrike" cap="none">
              <a:solidFill>
                <a:srgbClr val="8B001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92" name="Google Shape;192;p18"/>
          <p:cNvSpPr txBox="1"/>
          <p:nvPr>
            <p:custDataLst>
              <p:tags r:id="rId17"/>
            </p:custDataLst>
          </p:nvPr>
        </p:nvSpPr>
        <p:spPr>
          <a:xfrm>
            <a:off x="676275" y="5095428"/>
            <a:ext cx="31559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4444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上图展示了催化剂在不同扫描速率下的CV曲线。结果表明，该氧化过程为扩散控制的可逆单电子转移过程。点击此处修改您的具体数据结论。</a:t>
            </a:r>
            <a:endParaRPr lang="en-US" sz="1125" b="0" i="0" u="none" strike="noStrike" cap="none">
              <a:solidFill>
                <a:srgbClr val="444444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pic>
        <p:nvPicPr>
          <p:cNvPr id="193" name="Google Shape;193;p18" descr="image.png"/>
          <p:cNvPicPr preferRelativeResize="0"/>
          <p:nvPr>
            <p:custDataLst>
              <p:tags r:id="rId18"/>
            </p:custDataLst>
          </p:nvPr>
        </p:nvPicPr>
        <p:blipFill rotWithShape="1">
          <a:blip r:embed="rId19"/>
          <a:srcRect/>
          <a:stretch>
            <a:fillRect/>
          </a:stretch>
        </p:blipFill>
        <p:spPr>
          <a:xfrm>
            <a:off x="4403675" y="1949201"/>
            <a:ext cx="3384500" cy="1975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>
            <p:custDataLst>
              <p:tags r:id="rId20"/>
            </p:custDataLst>
          </p:nvPr>
        </p:nvSpPr>
        <p:spPr>
          <a:xfrm>
            <a:off x="4517975" y="4743003"/>
            <a:ext cx="331369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001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(B) 反应条件筛选与优化</a:t>
            </a:r>
            <a:endParaRPr lang="en-US" sz="1500" b="1" i="0" u="none" strike="noStrike" cap="none">
              <a:solidFill>
                <a:srgbClr val="8B001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95" name="Google Shape;195;p18"/>
          <p:cNvSpPr txBox="1"/>
          <p:nvPr>
            <p:custDataLst>
              <p:tags r:id="rId21"/>
            </p:custDataLst>
          </p:nvPr>
        </p:nvSpPr>
        <p:spPr>
          <a:xfrm>
            <a:off x="4517975" y="5095428"/>
            <a:ext cx="31559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4444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上图直观展示了溶剂效应、电极材料对产物收率的影响。在最佳条件（石墨极，MeCN体系）下，实现了最高的分离收率，抑制了副反应。</a:t>
            </a:r>
            <a:endParaRPr lang="en-US" sz="1125" b="0" i="0" u="none" strike="noStrike" cap="none">
              <a:solidFill>
                <a:srgbClr val="444444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97" name="Google Shape;197;p18"/>
          <p:cNvSpPr txBox="1"/>
          <p:nvPr>
            <p:custDataLst>
              <p:tags r:id="rId22"/>
            </p:custDataLst>
          </p:nvPr>
        </p:nvSpPr>
        <p:spPr>
          <a:xfrm>
            <a:off x="8359675" y="4743003"/>
            <a:ext cx="331385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001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(C) 反应动力学测试</a:t>
            </a:r>
            <a:endParaRPr lang="en-US" sz="1500" b="1" i="0" u="none" strike="noStrike" cap="none">
              <a:solidFill>
                <a:srgbClr val="8B001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198" name="Google Shape;198;p18"/>
          <p:cNvSpPr txBox="1"/>
          <p:nvPr>
            <p:custDataLst>
              <p:tags r:id="rId23"/>
            </p:custDataLst>
          </p:nvPr>
        </p:nvSpPr>
        <p:spPr>
          <a:xfrm>
            <a:off x="8359675" y="5095428"/>
            <a:ext cx="3156049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4444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上图动力学拟合结果（KIE实验数据）揭示了速率常数的变化。计算得出KIE值为3.5，表明C-H键的断裂是该反应过程的决速步骤。</a:t>
            </a:r>
            <a:endParaRPr lang="en-US" sz="1125" b="0" i="0" u="none" strike="noStrike" cap="none">
              <a:solidFill>
                <a:srgbClr val="444444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473710" y="97726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" name="Google Shape;190;p18" descr="image.png"/>
          <p:cNvPicPr preferRelativeResize="0"/>
          <p:nvPr>
            <p:custDataLst>
              <p:tags r:id="rId24"/>
            </p:custDataLst>
          </p:nvPr>
        </p:nvPicPr>
        <p:blipFill rotWithShape="1">
          <a:blip r:embed="rId15"/>
          <a:srcRect/>
          <a:stretch>
            <a:fillRect/>
          </a:stretch>
        </p:blipFill>
        <p:spPr>
          <a:xfrm>
            <a:off x="8331200" y="1885632"/>
            <a:ext cx="3384500" cy="224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397053" y="387171"/>
            <a:ext cx="1584126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476250" y="1474291"/>
            <a:ext cx="3651200" cy="213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>
            <a:off x="4270325" y="1474291"/>
            <a:ext cx="3651200" cy="213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8064400" y="1474291"/>
            <a:ext cx="3651349" cy="213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476250" y="4047083"/>
            <a:ext cx="3651200" cy="213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>
            <p:custDataLst>
              <p:tags r:id="rId10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>
            <a:off x="4270325" y="4047083"/>
            <a:ext cx="3651200" cy="2139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>
            <p:custDataLst>
              <p:tags r:id="rId12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8064400" y="4047083"/>
            <a:ext cx="3651349" cy="213940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647700" y="381000"/>
            <a:ext cx="9958119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5. 已完成的研究结果 - 结构表征 </a:t>
            </a:r>
            <a:r>
              <a:rPr lang="en-US" sz="2000" b="1" i="0" u="none" strike="noStrike" cap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(Completed Results - Characterization)</a:t>
            </a:r>
            <a:endParaRPr lang="en-US" sz="2000" b="1" i="0" u="none" strike="noStrike" cap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476250" y="381000"/>
            <a:ext cx="76200" cy="36000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2" name="Google Shape;212;p19"/>
          <p:cNvSpPr txBox="1"/>
          <p:nvPr>
            <p:custDataLst>
              <p:tags r:id="rId14"/>
            </p:custDataLst>
          </p:nvPr>
        </p:nvSpPr>
        <p:spPr>
          <a:xfrm>
            <a:off x="1700530" y="3689985"/>
            <a:ext cx="1838960" cy="28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图1. SEM 形貌分析</a:t>
            </a:r>
            <a:endParaRPr lang="en-US" sz="1125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213" name="Google Shape;213;p19"/>
          <p:cNvSpPr txBox="1"/>
          <p:nvPr>
            <p:custDataLst>
              <p:tags r:id="rId15"/>
            </p:custDataLst>
          </p:nvPr>
        </p:nvSpPr>
        <p:spPr>
          <a:xfrm>
            <a:off x="5355590" y="3689985"/>
            <a:ext cx="1710690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图2. HR-TEM 晶格条纹</a:t>
            </a:r>
            <a:endParaRPr lang="en-US" sz="1125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214" name="Google Shape;214;p19"/>
          <p:cNvSpPr txBox="1"/>
          <p:nvPr>
            <p:custDataLst>
              <p:tags r:id="rId16"/>
            </p:custDataLst>
          </p:nvPr>
        </p:nvSpPr>
        <p:spPr>
          <a:xfrm>
            <a:off x="9288780" y="3689985"/>
            <a:ext cx="149161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图3. XRD 衍射图谱</a:t>
            </a:r>
            <a:endParaRPr lang="en-US" sz="1125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215" name="Google Shape;215;p19"/>
          <p:cNvSpPr txBox="1"/>
          <p:nvPr>
            <p:custDataLst>
              <p:tags r:id="rId17"/>
            </p:custDataLst>
          </p:nvPr>
        </p:nvSpPr>
        <p:spPr>
          <a:xfrm>
            <a:off x="1649095" y="6262370"/>
            <a:ext cx="155892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图4. XPS 元素价态谱</a:t>
            </a:r>
            <a:endParaRPr lang="en-US" sz="1125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216" name="Google Shape;216;p19"/>
          <p:cNvSpPr txBox="1"/>
          <p:nvPr>
            <p:custDataLst>
              <p:tags r:id="rId18"/>
            </p:custDataLst>
          </p:nvPr>
        </p:nvSpPr>
        <p:spPr>
          <a:xfrm>
            <a:off x="5514975" y="6262370"/>
            <a:ext cx="1458595" cy="213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图5. 原位 FT-IR 谱</a:t>
            </a:r>
            <a:endParaRPr lang="en-US" sz="1125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217" name="Google Shape;217;p19"/>
          <p:cNvSpPr txBox="1"/>
          <p:nvPr>
            <p:custDataLst>
              <p:tags r:id="rId19"/>
            </p:custDataLst>
          </p:nvPr>
        </p:nvSpPr>
        <p:spPr>
          <a:xfrm>
            <a:off x="9300845" y="6262370"/>
            <a:ext cx="1489710" cy="191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4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图6. 1H-NMR 波谱</a:t>
            </a:r>
            <a:endParaRPr lang="en-US" sz="1125" b="1" i="0" u="none" strike="noStrike" cap="none">
              <a:solidFill>
                <a:srgbClr val="44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pic>
        <p:nvPicPr>
          <p:cNvPr id="218" name="Google Shape;218;p19" descr="image.png"/>
          <p:cNvPicPr preferRelativeResize="0"/>
          <p:nvPr>
            <p:custDataLst>
              <p:tags r:id="rId20"/>
            </p:custDataLst>
          </p:nvPr>
        </p:nvPicPr>
        <p:blipFill rotWithShape="1">
          <a:blip r:embed="rId21"/>
          <a:srcRect/>
          <a:stretch>
            <a:fillRect/>
          </a:stretch>
        </p:blipFill>
        <p:spPr>
          <a:xfrm>
            <a:off x="1317873" y="1560016"/>
            <a:ext cx="1967954" cy="1967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>
            <p:custDataLst>
              <p:tags r:id="rId22"/>
            </p:custDataLst>
          </p:nvPr>
        </p:nvPicPr>
        <p:blipFill rotWithShape="1">
          <a:blip r:embed="rId23"/>
          <a:srcRect/>
          <a:stretch>
            <a:fillRect/>
          </a:stretch>
        </p:blipFill>
        <p:spPr>
          <a:xfrm>
            <a:off x="4643586" y="1560016"/>
            <a:ext cx="2904529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>
            <p:custDataLst>
              <p:tags r:id="rId24"/>
            </p:custDataLst>
          </p:nvPr>
        </p:nvPicPr>
        <p:blipFill rotWithShape="1">
          <a:blip r:embed="rId25"/>
          <a:srcRect/>
          <a:stretch>
            <a:fillRect/>
          </a:stretch>
        </p:blipFill>
        <p:spPr>
          <a:xfrm>
            <a:off x="8310711" y="1560016"/>
            <a:ext cx="3158579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>
            <p:custDataLst>
              <p:tags r:id="rId26"/>
            </p:custDataLst>
          </p:nvPr>
        </p:nvPicPr>
        <p:blipFill rotWithShape="1">
          <a:blip r:embed="rId27"/>
          <a:srcRect/>
          <a:stretch>
            <a:fillRect/>
          </a:stretch>
        </p:blipFill>
        <p:spPr>
          <a:xfrm>
            <a:off x="1064121" y="4132808"/>
            <a:ext cx="2475458" cy="1967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9" descr="image.png"/>
          <p:cNvPicPr preferRelativeResize="0"/>
          <p:nvPr>
            <p:custDataLst>
              <p:tags r:id="rId28"/>
            </p:custDataLst>
          </p:nvPr>
        </p:nvPicPr>
        <p:blipFill rotWithShape="1">
          <a:blip r:embed="rId29"/>
          <a:srcRect/>
          <a:stretch>
            <a:fillRect/>
          </a:stretch>
        </p:blipFill>
        <p:spPr>
          <a:xfrm>
            <a:off x="4356050" y="4138166"/>
            <a:ext cx="3479750" cy="19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9" descr="image.png"/>
          <p:cNvPicPr preferRelativeResize="0"/>
          <p:nvPr>
            <p:custDataLst>
              <p:tags r:id="rId30"/>
            </p:custDataLst>
          </p:nvPr>
        </p:nvPicPr>
        <p:blipFill rotWithShape="1">
          <a:blip r:embed="rId31"/>
          <a:srcRect/>
          <a:stretch>
            <a:fillRect/>
          </a:stretch>
        </p:blipFill>
        <p:spPr>
          <a:xfrm>
            <a:off x="8195369" y="4132808"/>
            <a:ext cx="3389262" cy="19678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直接连接符 1"/>
          <p:cNvCxnSpPr/>
          <p:nvPr/>
        </p:nvCxnSpPr>
        <p:spPr>
          <a:xfrm flipV="1">
            <a:off x="473710" y="969010"/>
            <a:ext cx="9760585" cy="8255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250" y="4438650"/>
            <a:ext cx="1123950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647700" y="415379"/>
            <a:ext cx="7693461" cy="431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222222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6. 进度安排与下一步计划 (Schedule and Next Steps)</a:t>
            </a:r>
            <a:endParaRPr lang="en-US" sz="2550" b="1" i="0" u="none" strike="noStrike" cap="none">
              <a:solidFill>
                <a:srgbClr val="222222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76250" y="415379"/>
            <a:ext cx="76200" cy="356145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476250" y="1152525"/>
            <a:ext cx="11715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001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6.1 已完成与剩余任务分解表</a:t>
            </a:r>
            <a:endParaRPr lang="en-US" sz="1500" b="1" i="0" u="none" strike="noStrike" cap="none">
              <a:solidFill>
                <a:srgbClr val="8B001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graphicFrame>
        <p:nvGraphicFramePr>
          <p:cNvPr id="233" name="Google Shape;233;p20"/>
          <p:cNvGraphicFramePr/>
          <p:nvPr/>
        </p:nvGraphicFramePr>
        <p:xfrm>
          <a:off x="476250" y="1552575"/>
          <a:ext cx="11229950" cy="3000000"/>
        </p:xfrm>
        <a:graphic>
          <a:graphicData uri="http://schemas.openxmlformats.org/drawingml/2006/table">
            <a:tbl>
              <a:tblPr firstRow="1" bandRow="1">
                <a:noFill/>
                <a:tableStyleId>{DCD8219F-B82B-42E4-9DBC-B150E7C639B3}</a:tableStyleId>
              </a:tblPr>
              <a:tblGrid>
                <a:gridCol w="1684425"/>
                <a:gridCol w="2807500"/>
                <a:gridCol w="5053450"/>
                <a:gridCol w="1684575"/>
              </a:tblGrid>
              <a:tr h="52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项目阶段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时间节点 (Time)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具体任务目标 (Tasks)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当前状态</a:t>
                      </a:r>
                      <a:endParaRPr lang="en-US" sz="1350" b="1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5F5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初期探索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2025.09 - 2025.11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文献调研，搭建实验平台，完成催化剂的初步筛选。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7AE6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已完成 100%</a:t>
                      </a:r>
                      <a:endParaRPr lang="en-US" sz="1350" b="1" i="0" u="none" strike="noStrike" cap="none">
                        <a:solidFill>
                          <a:srgbClr val="27AE6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中期实验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2025.12 - 2026.04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优化反应条件，进行底物普适性拓展（完成约30个底物）。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7AE6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已完成 100%</a:t>
                      </a:r>
                      <a:endParaRPr lang="en-US" sz="1350" b="1" i="0" u="none" strike="noStrike" cap="none">
                        <a:solidFill>
                          <a:srgbClr val="27AE6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8B0015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机制攻坚</a:t>
                      </a:r>
                      <a:endParaRPr lang="en-US" sz="1350" b="1" i="0" u="none" strike="noStrike" cap="none">
                        <a:solidFill>
                          <a:srgbClr val="8B001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8B0015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2026.05 - 2026.07</a:t>
                      </a:r>
                      <a:endParaRPr lang="en-US" sz="1350" b="1" i="0" u="none" strike="noStrike" cap="none">
                        <a:solidFill>
                          <a:srgbClr val="8B001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8B0015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补充关键的机理验证实验（如原位红外、EPR），结合理论计算。</a:t>
                      </a:r>
                      <a:endParaRPr lang="en-US" sz="1350" b="1" i="0" u="none" strike="noStrike" cap="none">
                        <a:solidFill>
                          <a:srgbClr val="8B0015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D354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进行中 75%</a:t>
                      </a:r>
                      <a:endParaRPr lang="en-US" sz="1350" b="1" i="0" u="none" strike="noStrike" cap="none">
                        <a:solidFill>
                          <a:srgbClr val="D35400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0F0"/>
                    </a:solidFill>
                  </a:tcPr>
                </a:tc>
              </a:tr>
              <a:tr h="52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收尾与撰写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  <a:sym typeface="Times New Roman" panose="02020603050405020304"/>
                        </a:rPr>
                        <a:t>2026.08 - 2026.12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 charset="0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3333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数据汇总，补充不足实验，撰写毕业论文及学术期刊文章。</a:t>
                      </a:r>
                      <a:endParaRPr lang="en-US" sz="1350" b="0" i="0" u="none" strike="noStrike" cap="none">
                        <a:solidFill>
                          <a:srgbClr val="333333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7F8C8D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rPr>
                        <a:t>未开始</a:t>
                      </a:r>
                      <a:endParaRPr lang="en-US" sz="1350" b="0" i="0" u="none" strike="noStrike" cap="none">
                        <a:solidFill>
                          <a:srgbClr val="7F8C8D"/>
                        </a:solidFill>
                        <a:latin typeface="Times New Roman" panose="02020603050405020304" charset="0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20"/>
          <p:cNvSpPr/>
          <p:nvPr/>
        </p:nvSpPr>
        <p:spPr>
          <a:xfrm>
            <a:off x="481012" y="2019300"/>
            <a:ext cx="1684436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81012" y="1562100"/>
            <a:ext cx="1684436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81012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155924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2165449" y="2019300"/>
            <a:ext cx="2807493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2165449" y="1562100"/>
            <a:ext cx="2807493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2165449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963417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972942" y="2019300"/>
            <a:ext cx="5053458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972942" y="1562100"/>
            <a:ext cx="5053458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4972942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0016876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0026401" y="2019300"/>
            <a:ext cx="1684585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0026401" y="1562100"/>
            <a:ext cx="1684585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10026401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1701462" y="1562100"/>
            <a:ext cx="9525" cy="4762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76275" y="4638675"/>
            <a:ext cx="1138142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B0015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6.2 下一步重点突破方向 (Next Steps)：</a:t>
            </a:r>
            <a:endParaRPr lang="en-US" sz="1500" b="1" i="0" u="none" strike="noStrike" cap="none">
              <a:solidFill>
                <a:srgbClr val="8B0015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76275" y="4991100"/>
            <a:ext cx="10839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针对目前实验中发现的部分大位阻底物产率偏低的问题，下一步计划引入</a:t>
            </a:r>
            <a:r>
              <a:rPr lang="en-US" sz="1200" b="1" i="0" u="none" strike="noStrike" cap="none">
                <a:solidFill>
                  <a:srgbClr val="44444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不对称手性配体</a:t>
            </a:r>
            <a:r>
              <a:rPr lang="en-US" sz="1200" b="0" i="0" u="none" strike="noStrike" cap="none">
                <a:solidFill>
                  <a:srgbClr val="444444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Times New Roman" panose="02020603050405020304"/>
              </a:rPr>
              <a:t>进行配位环境调控。同时，将继续完善DFT计算模型中关于溶剂化效应的校正参数，力求在接下来的两个月内彻底明确中间态物种的具体结构转化路径，为论文发表奠定基础。</a:t>
            </a:r>
            <a:endParaRPr lang="en-US" sz="1200" b="0" i="0" u="none" strike="noStrike" cap="none">
              <a:solidFill>
                <a:srgbClr val="444444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Times New Roman" panose="02020603050405020304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81012" y="4124325"/>
            <a:ext cx="1684436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81012" y="3671887"/>
            <a:ext cx="1684436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81012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2155924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2165449" y="4124325"/>
            <a:ext cx="2807493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2165449" y="3671887"/>
            <a:ext cx="2807493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2165449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4963417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4972942" y="4124325"/>
            <a:ext cx="5053458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4972942" y="3671887"/>
            <a:ext cx="5053458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4972942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10016876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10026401" y="4124325"/>
            <a:ext cx="1684585" cy="19050"/>
          </a:xfrm>
          <a:prstGeom prst="rect">
            <a:avLst/>
          </a:prstGeom>
          <a:solidFill>
            <a:srgbClr val="8B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0026401" y="3671887"/>
            <a:ext cx="1684585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10026401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1701462" y="3671887"/>
            <a:ext cx="9525" cy="471487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Calibri" panose="020F05020202040302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473710" y="97726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052000" y="381000"/>
            <a:ext cx="16637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24150" y="4252912"/>
            <a:ext cx="67437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5045868" y="1843087"/>
            <a:ext cx="210026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8B001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致 谢</a:t>
            </a:r>
            <a:endParaRPr lang="en-US" sz="6000" b="1" i="0" u="none" strike="noStrike" cap="none">
              <a:solidFill>
                <a:srgbClr val="8B001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2735580" y="3252787"/>
            <a:ext cx="672084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汇报完毕，敬请各位老师批评指正！</a:t>
            </a:r>
            <a:endParaRPr lang="en-US" sz="3000" b="0" i="0" u="none" strike="noStrike" cap="none">
              <a:solidFill>
                <a:srgbClr val="333333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2724150" y="4557712"/>
            <a:ext cx="6743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77777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Thanks for your attention and listening.</a:t>
            </a:r>
            <a:endParaRPr lang="en-US" sz="1800" b="0" i="1" u="none" strike="noStrike" cap="none">
              <a:solidFill>
                <a:srgbClr val="777777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1825625" y="4065905"/>
            <a:ext cx="9550400" cy="0"/>
          </a:xfrm>
          <a:prstGeom prst="line">
            <a:avLst/>
          </a:prstGeom>
          <a:ln>
            <a:solidFill>
              <a:srgbClr val="8B001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13.25,&quot;left&quot;:67.5,&quot;top&quot;:289.5,&quot;width&quot;:405}"/>
</p:tagLst>
</file>

<file path=ppt/tags/tag2.xml><?xml version="1.0" encoding="utf-8"?>
<p:tagLst xmlns:p="http://schemas.openxmlformats.org/presentationml/2006/main">
  <p:tag name="KSO_WM_DIAGRAM_VIRTUALLY_FRAME" val="{&quot;height&quot;:113.25,&quot;left&quot;:67.5,&quot;top&quot;:289.5,&quot;width&quot;:405}"/>
</p:tagLst>
</file>

<file path=ppt/tags/tag3.xml><?xml version="1.0" encoding="utf-8"?>
<p:tagLst xmlns:p="http://schemas.openxmlformats.org/presentationml/2006/main">
  <p:tag name="KSO_WM_DIAGRAM_VIRTUALLY_FRAME" val="{&quot;height&quot;:113.25,&quot;left&quot;:67.5,&quot;top&quot;:289.5,&quot;width&quot;:405}"/>
</p:tagLst>
</file>

<file path=ppt/tags/tag4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5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6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7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8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9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10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11.xml><?xml version="1.0" encoding="utf-8"?>
<p:tagLst xmlns:p="http://schemas.openxmlformats.org/presentationml/2006/main">
  <p:tag name="KSO_WM_DIAGRAM_VIRTUALLY_FRAME" val="{&quot;height&quot;:363.75,&quot;left&quot;:37.5,&quot;top&quot;:90.75,&quot;width&quot;:431.1749606299212}"/>
</p:tagLst>
</file>

<file path=ppt/tags/tag12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3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4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5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6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7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8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19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0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1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2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3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4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5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6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7.xml><?xml version="1.0" encoding="utf-8"?>
<p:tagLst xmlns:p="http://schemas.openxmlformats.org/presentationml/2006/main">
  <p:tag name="KSO_WM_DIAGRAM_VIRTUALLY_FRAME" val="{&quot;height&quot;:411,&quot;left&quot;:37.5,&quot;top&quot;:99,&quot;width&quot;:884.9999212598425}"/>
</p:tagLst>
</file>

<file path=ppt/tags/tag28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29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0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1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2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3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4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5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6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7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8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39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40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41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42.xml><?xml version="1.0" encoding="utf-8"?>
<p:tagLst xmlns:p="http://schemas.openxmlformats.org/presentationml/2006/main">
  <p:tag name="KSO_WM_DIAGRAM_VIRTUALLY_FRAME" val="{&quot;height&quot;:393.9257480314961,&quot;left&quot;:37.5,&quot;top&quot;:116.08590551181103,&quot;width&quot;:884.9999212598425}"/>
</p:tagLst>
</file>

<file path=ppt/tags/tag43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44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45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46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47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48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49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0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1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2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3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4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5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6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7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8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59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ags/tag60.xml><?xml version="1.0" encoding="utf-8"?>
<p:tagLst xmlns:p="http://schemas.openxmlformats.org/presentationml/2006/main">
  <p:tag name="KSO_WM_DIAGRAM_VIRTUALLY_FRAME" val="{&quot;height&quot;:393.9140157480314,&quot;left&quot;:37.5,&quot;top&quot;:116.08590551181103,&quot;width&quot;:884.9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2171</Words>
  <Application>WPS 演示</Application>
  <PresentationFormat/>
  <Paragraphs>166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Times New Roman</vt:lpstr>
      <vt:lpstr>微软雅黑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张梦雯</cp:lastModifiedBy>
  <cp:revision>9</cp:revision>
  <dcterms:created xsi:type="dcterms:W3CDTF">2026-07-11T04:57:13Z</dcterms:created>
  <dcterms:modified xsi:type="dcterms:W3CDTF">2026-07-11T05:15:13Z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6F06E0DAB6C841559B0CEE1CAC199704_12</vt:lpwstr>
  </property>
</Properties>
</file>